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e5e0967cd54fa1" /><Relationship Type="http://schemas.openxmlformats.org/officeDocument/2006/relationships/extended-properties" Target="/docProps/app.xml" Id="Red1253d459664aab" /><Relationship Type="http://schemas.openxmlformats.org/officeDocument/2006/relationships/officeDocument" Target="/ppt/presentation.xml" Id="Rd7c3e3a05d5b496a" /></Relationships>
</file>

<file path=ppt/presentation.xml><?xml version="1.0" encoding="utf-8"?>
<p:presentation xmlns:p="http://schemas.openxmlformats.org/presentationml/2006/main">
  <p:sldMasterIdLst>
    <p:sldMasterId xmlns:r="http://schemas.openxmlformats.org/officeDocument/2006/relationships" id="2147483648" r:id="R92e6a80d7c8f49bd"/>
  </p:sldMasterIdLst>
  <p:notesMasterIdLst>
    <p:notesMasterId xmlns:r="http://schemas.openxmlformats.org/officeDocument/2006/relationships" r:id="R15ab053bc2734e2d"/>
  </p:notesMasterIdLst>
  <p:sldIdLst>
    <p:sldId xmlns:r="http://schemas.openxmlformats.org/officeDocument/2006/relationships" id="256" r:id="R92ad0875302b4646"/>
    <p:sldId xmlns:r="http://schemas.openxmlformats.org/officeDocument/2006/relationships" id="257" r:id="R7310f13acfa74c15"/>
    <p:sldId xmlns:r="http://schemas.openxmlformats.org/officeDocument/2006/relationships" id="258" r:id="Raa69fa9e712848cf"/>
    <p:sldId xmlns:r="http://schemas.openxmlformats.org/officeDocument/2006/relationships" id="259" r:id="R9242414ac1244129"/>
    <p:sldId xmlns:r="http://schemas.openxmlformats.org/officeDocument/2006/relationships" id="260" r:id="Reeba4e9cdd2a4eb5"/>
    <p:sldId xmlns:r="http://schemas.openxmlformats.org/officeDocument/2006/relationships" id="261" r:id="R99cd40dc42514d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0a1e99903f49b9" /><Relationship Type="http://schemas.openxmlformats.org/officeDocument/2006/relationships/slideMaster" Target="/ppt/slideMasters/slideMaster1.xml" Id="R92e6a80d7c8f49bd" /><Relationship Type="http://schemas.openxmlformats.org/officeDocument/2006/relationships/notesMaster" Target="/ppt/notesMasters/notesMaster1.xml" Id="R15ab053bc2734e2d" /><Relationship Type="http://schemas.openxmlformats.org/officeDocument/2006/relationships/presProps" Target="/ppt/presProps.xml" Id="R106b5dd5a77f4fa6" /><Relationship Type="http://schemas.openxmlformats.org/officeDocument/2006/relationships/tableStyles" Target="/ppt/tableStyles.xml" Id="R7a9b5542d6c840a9" /><Relationship Type="http://schemas.openxmlformats.org/officeDocument/2006/relationships/slide" Target="/ppt/slides/slide1.xml" Id="R92ad0875302b4646" /><Relationship Type="http://schemas.openxmlformats.org/officeDocument/2006/relationships/slide" Target="/ppt/slides/slide2.xml" Id="R7310f13acfa74c15" /><Relationship Type="http://schemas.openxmlformats.org/officeDocument/2006/relationships/slide" Target="/ppt/slides/slide3.xml" Id="Raa69fa9e712848cf" /><Relationship Type="http://schemas.openxmlformats.org/officeDocument/2006/relationships/slide" Target="/ppt/slides/slide4.xml" Id="R9242414ac1244129" /><Relationship Type="http://schemas.openxmlformats.org/officeDocument/2006/relationships/slide" Target="/ppt/slides/slide5.xml" Id="Reeba4e9cdd2a4eb5" /><Relationship Type="http://schemas.openxmlformats.org/officeDocument/2006/relationships/slide" Target="/ppt/slides/slide6.xml" Id="R99cd40dc42514d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54fb88bd5934e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7a73f53cc1047e6" /><Relationship Type="http://schemas.openxmlformats.org/officeDocument/2006/relationships/notesMaster" Target="/ppt/notesMasters/notesMaster1.xml" Id="Rf363e3f96a7946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2cd00630704fa5" /><Relationship Type="http://schemas.openxmlformats.org/officeDocument/2006/relationships/notesMaster" Target="/ppt/notesMasters/notesMaster1.xml" Id="R679466c5a4e947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71ac6138fdb4c8a" /><Relationship Type="http://schemas.openxmlformats.org/officeDocument/2006/relationships/notesMaster" Target="/ppt/notesMasters/notesMaster1.xml" Id="Rb26eb5e3056b41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1f535980ff465c" /><Relationship Type="http://schemas.openxmlformats.org/officeDocument/2006/relationships/notesMaster" Target="/ppt/notesMasters/notesMaster1.xml" Id="Rb37d5d69946346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9633f6ed7142be" /><Relationship Type="http://schemas.openxmlformats.org/officeDocument/2006/relationships/notesMaster" Target="/ppt/notesMasters/notesMaster1.xml" Id="R853951230ba342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367ee1171c4f3f" /><Relationship Type="http://schemas.openxmlformats.org/officeDocument/2006/relationships/notesMaster" Target="/ppt/notesMasters/notesMaster1.xml" Id="Rfcc071c9875747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F:\hoc_tap\thuc_tap\du_an\docs\release\release.json</a:t>
            </a:r>
          </a:p>
          <a:p xmlns:a="http://schemas.openxmlformats.org/drawingml/2006/main">
            <a:r>
              <a:t>Manifest SHA256: 726faa8fab6264048683143ec3238f6f1482d47c99e0a773c1e4a90d61af255f</a:t>
            </a:r>
          </a:p>
          <a:p xmlns:a="http://schemas.openxmlformats.org/drawingml/2006/main">
            <a:r>
              <a:t>Giữ đề tài gốc gồm 39 user story, 165 point, 4 sprint, một cơ sở. PostgreSQL 15 là đích trong workbook gốc. Chỉ cải tiến độ tin cậy, đóng gói và bằng chứng phát hành. Không thêm đa chi nhánh, kho, AI đặt lịch hay thanh toán ngân hàng thật.</a:t>
            </a:r>
          </a:p>
          <a:p xmlns:a="http://schemas.openxmlformats.org/drawingml/2006/main">
            <a:r>
              <a:t>Status: CHƯA NGHIỆM THU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docs/requirements/3. Hệ thống đặt lịch Salon Spa.xlsx</a:t>
            </a:r>
          </a:p>
          <a:p xmlns:a="http://schemas.openxmlformats.org/drawingml/2006/main">
            <a:r>
              <a:t>Hệ thống đặt lịch Salon Spa</a:t>
            </a:r>
          </a:p>
          <a:p xmlns:a="http://schemas.openxmlformats.org/drawingml/2006/main">
            <a:r>
              <a:t>SHA256 e67dac4d4f2cc7508ee3e4e85d0735c56c14b483598210003eb5a1050d558757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OPS01 Sao lưu đúng đích và giữ TLS</a:t>
            </a:r>
          </a:p>
          <a:p xmlns:a="http://schemas.openxmlformats.org/drawingml/2006/main">
            <a:r>
              <a:t>Chặn fallback Docker nếu host/port không khớp endpoint cấu hình; không đưa mật khẩu vào argv; giữ verify-full với kết nối yêu cầu kiểm tra chứng chỉ.</a:t>
            </a:r>
          </a:p>
          <a:p xmlns:a="http://schemas.openxmlformats.org/drawingml/2006/main">
            <a:r>
              <a:t/>
            </a:r>
          </a:p>
          <a:p xmlns:a="http://schemas.openxmlformats.org/drawingml/2006/main">
            <a:r>
              <a:t>OPS02 Archive nguyên vẹn và giữ đúng 14 bản</a:t>
            </a:r>
          </a:p>
          <a:p xmlns:a="http://schemas.openxmlformats.org/drawingml/2006/main">
            <a:r>
              <a:t>Ghi tệp .partial độc quyền, xác minh magic PGDMP rồi đổi tên; UUID tránh đè cùng giây. Retention chỉ áp dụng cho hash host/port/database, giữ 14 bản theo workbook, bảo toàn archive khác và tệp cũ.</a:t>
            </a:r>
          </a:p>
          <a:p xmlns:a="http://schemas.openxmlformats.org/drawingml/2006/main">
            <a:r>
              <a:t/>
            </a:r>
          </a:p>
          <a:p xmlns:a="http://schemas.openxmlformats.org/drawingml/2006/main">
            <a:r>
              <a:t>OPS03 Khôi phục phụ thuộc khi cập nhật lỗi</a:t>
            </a:r>
          </a:p>
          <a:p xmlns:a="http://schemas.openxmlformats.org/drawingml/2006/main">
            <a:r>
              <a:t>Launcher luôn npm ci theo lockfile, dừng khi lock lệch, không tự npm install. Khi rollback source sau build lỗi, cài lại phụ thuộc bản cũ trước khi khởi động. Thiếu cache/mạng sẽ báo lỗi và giữ dừng để tránh chạy sai gói.</a:t>
            </a:r>
          </a:p>
          <a:p xmlns:a="http://schemas.openxmlformats.org/drawingml/2006/main">
            <a:r>
              <a:t/>
            </a:r>
          </a:p>
          <a:p xmlns:a="http://schemas.openxmlformats.org/drawingml/2006/main">
            <a:r>
              <a:t>OPS04 Profile máy chủ và CI đa nền tảng</a:t>
            </a:r>
          </a:p>
          <a:p xmlns:a="http://schemas.openxmlformats.org/drawingml/2006/main">
            <a:r>
              <a:t>Thêm Dockerfile production Node 22/PostgreSQL 15, user không root, volume dữ liệu/upload/backup, không public cổng database, app chỉ loopback. CI bổ sung Windows/macOS/Linux và PostgreSQL 15/16. Chưa chạy CI từ xa.</a:t>
            </a:r>
          </a:p>
          <a:p xmlns:a="http://schemas.openxmlformats.org/drawingml/2006/main">
            <a:r>
              <a:t/>
            </a:r>
          </a:p>
          <a:p xmlns:a="http://schemas.openxmlformats.org/drawingml/2006/main">
            <a:r>
              <a:t>DOC01 Đồng bộ bằng chứng phát hành</a:t>
            </a:r>
          </a:p>
          <a:p xmlns:a="http://schemas.openxmlformats.org/drawingml/2006/main">
            <a:r>
              <a:t>Thêm scripts/release_evidence.py và 9 ca kiểm thử cho mỗi kho. release.json làm dữ liệu gốc cho STATUS.md và slide phát hành. Checksum phát hiện đổi đề tài, đổi mã, thêm tệp nguồn hoặc sửa artifact khiến bằng chứng cũ không còn khớp. Đây là kiểm tra tính nhất quán, không tự chạy lại test hay chứng nhận sản phẩm an toàn.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PASS</a:t>
            </a:r>
          </a:p>
          <a:p xmlns:a="http://schemas.openxmlformats.org/drawingml/2006/main">
            <a:r>
              <a:t>npm run test --prefix backend -- --runInBand</a:t>
            </a:r>
          </a:p>
          <a:p xmlns:a="http://schemas.openxmlformats.org/drawingml/2006/main">
            <a:r>
              <a:t>177/177 unit test, 13 bộ.</a:t>
            </a:r>
          </a:p>
          <a:p xmlns:a="http://schemas.openxmlformats.org/drawingml/2006/main">
            <a:r>
              <a:t/>
            </a:r>
          </a:p>
          <a:p xmlns:a="http://schemas.openxmlformats.org/drawingml/2006/main">
            <a:r>
              <a:t>PASS</a:t>
            </a:r>
          </a:p>
          <a:p xmlns:a="http://schemas.openxmlformats.org/drawingml/2006/main">
            <a:r>
              <a:t>npm run test:e2e --prefix backend (TEST_DB_PORT=55432; tên riêng *_test)</a:t>
            </a:r>
          </a:p>
          <a:p xmlns:a="http://schemas.openxmlformats.org/drawingml/2006/main">
            <a:r>
              <a:t>105/105 E2E, 14 bộ, PostgreSQL 15 container cô lập. Có cảnh báo MaxListeners của HTTP server trong test, cần rà vòng đời listener.</a:t>
            </a:r>
          </a:p>
          <a:p xmlns:a="http://schemas.openxmlformats.org/drawingml/2006/main">
            <a:r>
              <a:t/>
            </a:r>
          </a:p>
          <a:p xmlns:a="http://schemas.openxmlformats.org/drawingml/2006/main">
            <a:r>
              <a:t>PASS</a:t>
            </a:r>
          </a:p>
          <a:p xmlns:a="http://schemas.openxmlformats.org/drawingml/2006/main">
            <a:r>
              <a:t>npm run build; npm run lint</a:t>
            </a:r>
          </a:p>
          <a:p xmlns:a="http://schemas.openxmlformats.org/drawingml/2006/main">
            <a:r>
              <a:t>Backend/frontend build và lint đạt.</a:t>
            </a:r>
          </a:p>
          <a:p xmlns:a="http://schemas.openxmlformats.org/drawingml/2006/main">
            <a:r>
              <a:t/>
            </a:r>
          </a:p>
          <a:p xmlns:a="http://schemas.openxmlformats.org/drawingml/2006/main">
            <a:r>
              <a:t>PASS</a:t>
            </a:r>
          </a:p>
          <a:p xmlns:a="http://schemas.openxmlformats.org/drawingml/2006/main">
            <a:r>
              <a:t>npm run test:frontend; npm run test:scripts; npm run check:scripts</a:t>
            </a:r>
          </a:p>
          <a:p xmlns:a="http://schemas.openxmlformats.org/drawingml/2006/main">
            <a:r>
              <a:t>4/4 frontend; script 21 pass/1 skip; syntax check đạt.</a:t>
            </a:r>
          </a:p>
          <a:p xmlns:a="http://schemas.openxmlformats.org/drawingml/2006/main">
            <a:r>
              <a:t/>
            </a:r>
          </a:p>
          <a:p xmlns:a="http://schemas.openxmlformats.org/drawingml/2006/main">
            <a:r>
              <a:t>PASS</a:t>
            </a:r>
          </a:p>
          <a:p xmlns:a="http://schemas.openxmlformats.org/drawingml/2006/main">
            <a:r>
              <a:t>docker build -f deploy/docker/Dockerfile.production</a:t>
            </a:r>
          </a:p>
          <a:p xmlns:a="http://schemas.openxmlformats.org/drawingml/2006/main">
            <a:r>
              <a:t>Image salon-spa:audit-final-20261008 build đạt.</a:t>
            </a:r>
          </a:p>
          <a:p xmlns:a="http://schemas.openxmlformats.org/drawingml/2006/main">
            <a:r>
              <a:t/>
            </a:r>
          </a:p>
          <a:p xmlns:a="http://schemas.openxmlformats.org/drawingml/2006/main">
            <a:r>
              <a:t>PASS</a:t>
            </a:r>
          </a:p>
          <a:p xmlns:a="http://schemas.openxmlformats.org/drawingml/2006/main">
            <a:r>
              <a:t>python scripts/test_release_evidence.py</a:t>
            </a:r>
          </a:p>
          <a:p xmlns:a="http://schemas.openxmlformats.org/drawingml/2006/main">
            <a:r>
              <a:t>9/9 test công cụ hồ sơ đạt.</a:t>
            </a:r>
          </a:p>
          <a:p xmlns:a="http://schemas.openxmlformats.org/drawingml/2006/main">
            <a:r>
              <a:t/>
            </a:r>
          </a:p>
          <a:p xmlns:a="http://schemas.openxmlformats.org/drawingml/2006/main">
            <a:r>
              <a:t>PASS</a:t>
            </a:r>
          </a:p>
          <a:p xmlns:a="http://schemas.openxmlformats.org/drawingml/2006/main">
            <a:r>
              <a:t>Docker isolated profile startup and HTTP probes</a:t>
            </a:r>
          </a:p>
          <a:p xmlns:a="http://schemas.openxmlformats.org/drawingml/2006/main">
            <a:r>
              <a:t>{'project': 'salon', 'status': 'PASS', 'scope': 'Fresh disposable Docker project only; no customer data', 'endpoints': {'/': 200, '/health': 200}, 'restore_drill': 'PASS: pg_dump custom archive restored into a separate fresh audit 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 AC bảo mật ở Product Overview B63 yêu cầu log truy cập dữ liệu cá nhân và xóa/ẩn danh theo yêu cầu. Rà soát chưa tìm thấy luồng đáp ứng đầy đủ. Cần thiết kế kiểm soát truy cập, lưu vết, bảo toàn hóa đơn/lịch sử và test trước nghiệm thu.</a:t>
            </a:r>
          </a:p>
          <a:p xmlns:a="http://schemas.openxmlformats.org/drawingml/2006/main">
            <a:r>
              <a:t/>
            </a:r>
          </a:p>
          <a:p xmlns:a="http://schemas.openxmlformats.org/drawingml/2006/main">
            <a:r>
              <a:t>P0: Cần SMTP thật, tên miền, TLS thật, thông tin cửa hàng và tài khoản khách hàng thử nghiệm. Cấu hình production mới là ứng viên, chưa public trên máy chủ khách.</a:t>
            </a:r>
          </a:p>
          <a:p xmlns:a="http://schemas.openxmlformats.org/drawingml/2006/main">
            <a:r>
              <a:t/>
            </a:r>
          </a:p>
          <a:p xmlns:a="http://schemas.openxmlformats.org/drawingml/2006/main">
            <a:r>
              <a:t>P1: Chạy CI trên Windows/Linux/macOS thật; kiểm tra cài mới đường dẫn tiếng Việt, mất mạng, update lỗi và khôi phục phụ thuộc. Chưa chứng minh macOS bằng máy thật.</a:t>
            </a:r>
          </a:p>
          <a:p xmlns:a="http://schemas.openxmlformats.org/drawingml/2006/main">
            <a:r>
              <a:t/>
            </a:r>
          </a:p>
          <a:p xmlns:a="http://schemas.openxmlformats.org/drawingml/2006/main">
            <a:r>
              <a:t>P1: Diễn tập nâng cấp từ dữ liệu phiên bản cũ, restore cả uploads/bí mật/cấu hình cùng DB và đo thời gian phục hồi. Không tự downgrade schema đang có dữ liệu.</a:t>
            </a:r>
          </a:p>
          <a:p xmlns:a="http://schemas.openxmlformats.org/drawingml/2006/main">
            <a:r>
              <a:t/>
            </a:r>
          </a:p>
          <a:p xmlns:a="http://schemas.openxmlformats.org/drawingml/2006/main">
            <a:r>
              <a:t>P1: Ghi pass/fail từng AC39 story, nhất là email đúng hạn, màn hình360px, phân quyền và thao tác tại quầy. Rà cảnh báo listener trong E2E.</a:t>
            </a:r>
          </a:p>
          <a:p xmlns:a="http://schemas.openxmlformats.org/drawingml/2006/main">
            <a:r>
              <a:t/>
            </a:r>
          </a:p>
          <a:p xmlns:a="http://schemas.openxmlformats.org/drawingml/2006/main">
            <a:r>
              <a:t>P1: Chưa hoàn tất kiểm toán phụ thuộc npm toàn bộ backend Salon; không suy từ lint/test sang kết luận không có lỗ hổng.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bản web cho một cơ sở</a:t>
            </a:r>
          </a:p>
          <a:p xmlns:a="http://schemas.openxmlformats.org/drawingml/2006/main">
            <a:r>
              <a:t>Giao một URL HTTPS cho khách và nhân viên. Giữ bộ chạy cục bộ cho demo hoặc cơ sở cần máy nội bộ. Dùng cùng lockfile/migration, cấu hình khác nhau theo môi trường. Không mở đa chi nhánh hoặc tự đồng bộ offline vì ngoài đề tài.</a:t>
            </a:r>
          </a:p>
          <a:p xmlns:a="http://schemas.openxmlformats.org/drawingml/2006/main">
            <a:r>
              <a:t/>
            </a:r>
          </a:p>
          <a:p xmlns:a="http://schemas.openxmlformats.org/drawingml/2006/main">
            <a:r>
              <a:t>Cập nhật theo bản phát hành có thể quay lại</a:t>
            </a:r>
          </a:p>
          <a:p xmlns:a="http://schemas.openxmlformats.org/drawingml/2006/main">
            <a:r>
              <a:t>Build image trước khi chạm dịch vụ, ghi digest và revision, backup xác minh và rehearsal restore, áp migration trên staging có dữ liệu mô phỏng cũ, rồi kiểm tra đặt lịch và thu tiền. Chỉ rollback app khi schema tương thích. Hiện launcher cải thiện rollback gói; quy trình image/digest đầy đủ là phần tiếp theo.</a:t>
            </a:r>
          </a:p>
          <a:p xmlns:a="http://schemas.openxmlformats.org/drawingml/2006/main">
            <a:r>
              <a:t/>
            </a:r>
          </a:p>
          <a:p xmlns:a="http://schemas.openxmlformats.org/drawingml/2006/main">
            <a:r>
              <a:t>Nghiệm thu theo vòng đời lịch thật</a:t>
            </a:r>
          </a:p>
          <a:p xmlns:a="http://schemas.openxmlformats.org/drawingml/2006/main">
            <a:r>
              <a:t>Chạy đúng chuỗi đặt, xác nhận, nhắc, check-in, hoàn tất, tính tiền, đánh giá. Thu thập lỗi và thời gian xử lý ở một cơ sở thử trước khi mở rộng. Giữ các giới hạn15phút/60phút/chống trùng/giới hạnIP và SĐT trong workbook.</a:t>
            </a:r>
          </a:p>
          <a:p xmlns:a="http://schemas.openxmlformats.org/drawingml/2006/main">
            <a:r>
              <a:t/>
            </a:r>
          </a:p>
          <a:p xmlns:a="http://schemas.openxmlformats.org/drawingml/2006/main">
            <a:r>
              <a:t>Docker Compose cho production</a:t>
            </a:r>
          </a:p>
          <a:p xmlns:a="http://schemas.openxmlformats.org/drawingml/2006/main">
            <a:r>
              <a:t>https://docs.docker.com/compose/how-tos/production/</a:t>
            </a:r>
          </a:p>
          <a:p xmlns:a="http://schemas.openxmlformats.org/drawingml/2006/main">
            <a:r>
              <a:t>Tách cấu hình production, giữ mã trong image, cấu hình restart và cổng theo môi trường.</a:t>
            </a:r>
          </a:p>
          <a:p xmlns:a="http://schemas.openxmlformats.org/drawingml/2006/main">
            <a:r>
              <a:t/>
            </a:r>
          </a:p>
          <a:p xmlns:a="http://schemas.openxmlformats.org/drawingml/2006/main">
            <a:r>
              <a:t>Docker Compose và readiness</a:t>
            </a:r>
          </a:p>
          <a:p xmlns:a="http://schemas.openxmlformats.org/drawingml/2006/main">
            <a:r>
              <a:t>https://docs.docker.com/compose/how-tos/startup-order/</a:t>
            </a:r>
          </a:p>
          <a:p xmlns:a="http://schemas.openxmlformats.org/drawingml/2006/main">
            <a:r>
              <a:t>Phân biệt container đã chạy với dịch vụ sẵn sàng; dùng healthcheck và dependency đúng trạng thái.</a:t>
            </a:r>
          </a:p>
          <a:p xmlns:a="http://schemas.openxmlformats.org/drawingml/2006/main">
            <a:r>
              <a:t/>
            </a:r>
          </a:p>
          <a:p xmlns:a="http://schemas.openxmlformats.org/drawingml/2006/main">
            <a:r>
              <a:t>PostgreSQL sao lưu và phục hồi</a:t>
            </a:r>
          </a:p>
          <a:p xmlns:a="http://schemas.openxmlformats.org/drawingml/2006/main">
            <a:r>
              <a:t>https://www.postgresql.org/docs/16/backup-dump.html</a:t>
            </a:r>
          </a:p>
          <a:p xmlns:a="http://schemas.openxmlformats.org/drawingml/2006/main">
            <a:r>
              <a:t>Dùng archive pg_dump và pg_restore; nghiệm thu bằng phục hồi vào database thử, lưu riêng cấu hình vai trò nếu cần.</a:t>
            </a:r>
          </a:p>
          <a:p xmlns:a="http://schemas.openxmlformats.org/drawingml/2006/main">
            <a:r>
              <a:t/>
            </a:r>
          </a:p>
          <a:p xmlns:a="http://schemas.openxmlformats.org/drawingml/2006/main">
            <a:r>
              <a:t>PostgreSQL xác minh TLS</a:t>
            </a:r>
          </a:p>
          <a:p xmlns:a="http://schemas.openxmlformats.org/drawingml/2006/main">
            <a:r>
              <a:t>https://www.postgresql.org/docs/16/libpq-ssl.html</a:t>
            </a:r>
          </a:p>
          <a:p xmlns:a="http://schemas.openxmlformats.org/drawingml/2006/main">
            <a:r>
              <a:t>Giữ chính sách xác minh chứng chỉ và hostname khi dùng database qua mạng.</a:t>
            </a:r>
          </a:p>
          <a:p xmlns:a="http://schemas.openxmlformats.org/drawingml/2006/main">
            <a:r>
              <a:t/>
            </a:r>
          </a:p>
          <a:p xmlns:a="http://schemas.openxmlformats.org/drawingml/2006/main">
            <a:r>
              <a:t>OWASP ASVS</a:t>
            </a:r>
          </a:p>
          <a:p xmlns:a="http://schemas.openxmlformats.org/drawingml/2006/main">
            <a:r>
              <a:t>https://owasp.org/projects/asvs</a:t>
            </a:r>
          </a:p>
          <a:p xmlns:a="http://schemas.openxmlformats.org/drawingml/2006/main">
            <a:r>
              <a:t>Chọn yêu cầu xác thực, phân quyền, bí mật và log phù hợp để kiểm tra. Chưa tuyên bố chứng nhận ASVS.</a:t>
            </a:r>
          </a:p>
          <a:p xmlns:a="http://schemas.openxmlformats.org/drawingml/2006/main">
            <a:r>
              <a:t/>
            </a:r>
          </a:p>
          <a:p xmlns:a="http://schemas.openxmlformats.org/drawingml/2006/main">
            <a:r>
              <a:t>SLSA provenance</a:t>
            </a:r>
          </a:p>
          <a:p xmlns:a="http://schemas.openxmlformats.org/drawingml/2006/main">
            <a:r>
              <a:t>https://slsa.dev/spec/v1.2/provenance</a:t>
            </a:r>
          </a:p>
          <a:p xmlns:a="http://schemas.openxmlformats.org/drawingml/2006/main">
            <a:r>
              <a:t>Hướng phát hành tiếp theo lưu nguồn build và digest image. Checksum tài liệu hiện tại chưa phải đạt cấp SLSA.</a:t>
            </a:r>
          </a:p>
          <a:p xmlns:a="http://schemas.openxmlformats.org/drawingml/2006/main">
            <a:r>
              <a:t/>
            </a:r>
          </a:p>
          <a:p xmlns:a="http://schemas.openxmlformats.org/drawingml/2006/main">
            <a:r>
              <a:t>Diataxis</a:t>
            </a:r>
          </a:p>
          <a:p xmlns:a="http://schemas.openxmlformats.org/drawingml/2006/main">
            <a:r>
              <a:t>https://diataxis.fr/</a:t>
            </a:r>
          </a:p>
          <a:p xmlns:a="http://schemas.openxmlformats.org/drawingml/2006/main">
            <a:r>
              <a:t>Phân loại tài liệu thành hướng dẫn bắt đầu, cách thao tác, tham chiếu và giải thích. Đây là quy ước đề xuất, không phải tiêu chuẩn bắt buộc về tên thư mục.</a:t>
            </a:r>
          </a:p>
          <a:p xmlns:a="http://schemas.openxmlformats.org/drawingml/2006/main">
            <a:r>
              <a:t/>
            </a:r>
          </a:p>
          <a:p xmlns:a="http://schemas.openxmlformats.org/drawingml/2006/main">
            <a:r>
              <a:t>Semantic Versioning</a:t>
            </a:r>
          </a:p>
          <a:p xmlns:a="http://schemas.openxmlformats.org/drawingml/2006/main">
            <a:r>
              <a:t>https://semver.org/</a:t>
            </a:r>
          </a:p>
          <a:p xmlns:a="http://schemas.openxmlformats.org/drawingml/2006/main">
            <a:r>
              <a:t>Gắn phiên bản theo hợp đồng API, ghi thay đổi và giữ bất biến nội dung bản đã phát hành.</a:t>
            </a:r>
          </a:p>
          <a:p xmlns:a="http://schemas.openxmlformats.org/drawingml/2006/main">
            <a:r>
              <a:t/>
            </a:r>
          </a:p>
          <a:p xmlns:a="http://schemas.openxmlformats.org/drawingml/2006/main">
            <a:r>
              <a:t>GitHub Actions OIDC</a:t>
            </a:r>
          </a:p>
          <a:p xmlns:a="http://schemas.openxmlformats.org/drawingml/2006/main">
            <a:r>
              <a:t>https://docs.github.com/en/actions/how-tos/secure-your-work/security-harden-deployments/oidc-in-cloud-providers</a:t>
            </a:r>
          </a:p>
          <a:p xmlns:a="http://schemas.openxmlformats.org/drawingml/2006/main">
            <a:r>
              <a:t>Khi có đích triển khai, dùng xác thực ngắn hạn và giới hạn môi trường thay vì lưu khóa máy chủ dài hạn.</a:t>
            </a:r>
          </a:p>
          <a:p xmlns:a="http://schemas.openxmlformats.org/drawingml/2006/main">
            <a:r>
              <a:t/>
            </a:r>
          </a:p>
          <a:p xmlns:a="http://schemas.openxmlformats.org/drawingml/2006/main">
            <a:r>
              <a:t>Manifest SHA256: 726faa8fab6264048683143ec3238f6f1482d47c99e0a773c1e4a90d61af255f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9774df8b44457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db7fec8aaa453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1e735e7e2c43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5f9a17faa6b40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c84db3c53a4a2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11687ccdb641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83A195D-28D0-4D01-BF9B-EE0965460FA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B7EAC14-399B-4D52-91AC-CF55B00997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92AF20-8814-4D21-B76F-75484056187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EF5974-74F7-4713-8EF8-9A471FADBA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E82CF80-ED2B-4547-A941-105E064C00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F18A06-2ED8-44F1-8A81-F377D3C9E9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DB259EB-72BE-486B-BD7A-D6044871E9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24CEA99-2188-427C-A348-C6616084ABD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5333CD-EAEB-4D75-B719-5896C32B55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32401FD-7038-4CF2-B27C-B682312542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52ec06c2f545c6" /><Relationship Type="http://schemas.openxmlformats.org/officeDocument/2006/relationships/slideLayout" Target="/ppt/slideLayouts/slideLayout1.xml" Id="Rde6085dfa7494614" /><Relationship Type="http://schemas.openxmlformats.org/officeDocument/2006/relationships/slideLayout" Target="/ppt/slideLayouts/slideLayout2.xml" Id="Rdd91b5b46636428c" /><Relationship Type="http://schemas.openxmlformats.org/officeDocument/2006/relationships/slideLayout" Target="/ppt/slideLayouts/slideLayout3.xml" Id="Rcc2ec28839bd43a3" /><Relationship Type="http://schemas.openxmlformats.org/officeDocument/2006/relationships/slideLayout" Target="/ppt/slideLayouts/slideLayout4.xml" Id="R8d6feb98532b42ed" /><Relationship Type="http://schemas.openxmlformats.org/officeDocument/2006/relationships/slideLayout" Target="/ppt/slideLayouts/slideLayout5.xml" Id="Rc0292696f1994dda" /><Relationship Type="http://schemas.openxmlformats.org/officeDocument/2006/relationships/slideLayout" Target="/ppt/slideLayouts/slideLayout6.xml" Id="Rdbc22c8bd3134e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6085dfa7494614"/>
    <p:sldLayoutId xmlns:r="http://schemas.openxmlformats.org/officeDocument/2006/relationships" id="2147483650" r:id="Rdd91b5b46636428c"/>
    <p:sldLayoutId xmlns:r="http://schemas.openxmlformats.org/officeDocument/2006/relationships" id="2147483651" r:id="Rcc2ec28839bd43a3"/>
    <p:sldLayoutId xmlns:r="http://schemas.openxmlformats.org/officeDocument/2006/relationships" id="2147483652" r:id="R8d6feb98532b42ed"/>
    <p:sldLayoutId xmlns:r="http://schemas.openxmlformats.org/officeDocument/2006/relationships" id="2147483653" r:id="Rc0292696f1994dda"/>
    <p:sldLayoutId xmlns:r="http://schemas.openxmlformats.org/officeDocument/2006/relationships" id="2147483654" r:id="Rdbc22c8bd3134e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495d3e6a904c12" /><Relationship Type="http://schemas.openxmlformats.org/officeDocument/2006/relationships/notesSlide" Target="/ppt/notesSlides/notesSlide1.xml" Id="Rfc5f0ba3b5bc46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2a56e317b184512" /><Relationship Type="http://schemas.openxmlformats.org/officeDocument/2006/relationships/notesSlide" Target="/ppt/notesSlides/notesSlide2.xml" Id="Rdf158eb8e1d64b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2cde08e0b124959" /><Relationship Type="http://schemas.openxmlformats.org/officeDocument/2006/relationships/notesSlide" Target="/ppt/notesSlides/notesSlide3.xml" Id="R0374f19ab6f842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efebed9731d46d1" /><Relationship Type="http://schemas.openxmlformats.org/officeDocument/2006/relationships/notesSlide" Target="/ppt/notesSlides/notesSlide4.xml" Id="Rd0f1be6fc19946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f8571a3472a49fe" /><Relationship Type="http://schemas.openxmlformats.org/officeDocument/2006/relationships/notesSlide" Target="/ppt/notesSlides/notesSlide5.xml" Id="R49d341d89d40458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ef3bdd252894a67" /><Relationship Type="http://schemas.openxmlformats.org/officeDocument/2006/relationships/notesSlide" Target="/ppt/notesSlides/notesSlide6.xml" Id="Rf442b86a06884be8" /></Relationships>
</file>

<file path=ppt/slides/slide1.xml><?xml version="1.0" encoding="utf-8"?>
<p:sld xmlns:p="http://schemas.openxmlformats.org/presentationml/2006/main">
  <p:cSld>
    <p:bg>
      <p:bgPr>
        <a:solidFill xmlns:a="http://schemas.openxmlformats.org/drawingml/2006/main">
          <a:srgbClr val="172A3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759614-6711-4199-9348-2AE2FE486C4C}"/>
              </a:ext>
            </a:extLst>
          </p:cNvPr>
          <p:cNvSpPr>
            <a:spLocks xmlns:a="http://schemas.openxmlformats.org/drawingml/2006/main" noGrp="1"/>
          </p:cNvSpPr>
          <p:nvPr/>
        </p:nvSpPr>
        <p:spPr>
          <a:xfrm xmlns:a="http://schemas.openxmlformats.org/drawingml/2006/main">
            <a:off x="762000" y="1095375"/>
            <a:ext cx="10477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FFFFFF"/>
                </a:solidFill>
                <a:latin typeface="Arial"/>
                <a:ea typeface="Arial"/>
                <a:cs typeface="Arial"/>
              </a:defRPr>
            </a:def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Salon Spa</a:t>
            </a:r>
          </a:p>
        </p:txBody>
      </p:sp>
      <p:sp>
        <p:nvSpPr>
          <p:cNvPr id="2" name="">
            <a:extLst xmlns:a="http://schemas.openxmlformats.org/drawingml/2006/main">
              <a:ext uri="{FF2B5EF4-FFF2-40B4-BE49-F238E27FC236}">
                <a16:creationId xmlns:a16="http://schemas.microsoft.com/office/drawing/2014/main" id="{CE5D1A38-9580-4391-8FA3-494702B71EB2}"/>
              </a:ext>
            </a:extLst>
          </p:cNvPr>
          <p:cNvSpPr>
            <a:spLocks xmlns:a="http://schemas.openxmlformats.org/drawingml/2006/main" noGrp="1"/>
          </p:cNvSpPr>
          <p:nvPr/>
        </p:nvSpPr>
        <p:spPr>
          <a:xfrm xmlns:a="http://schemas.openxmlformats.org/drawingml/2006/main">
            <a:off x="762000" y="3333750"/>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Hồ sơ cải tiến và phát hành</a:t>
            </a:r>
          </a:p>
        </p:txBody>
      </p:sp>
      <p:sp>
        <p:nvSpPr>
          <p:cNvPr id="3" name="">
            <a:extLst xmlns:a="http://schemas.openxmlformats.org/drawingml/2006/main">
              <a:ext uri="{FF2B5EF4-FFF2-40B4-BE49-F238E27FC236}">
                <a16:creationId xmlns:a16="http://schemas.microsoft.com/office/drawing/2014/main" id="{CC06F802-B527-4B41-ADB9-812A57425BB1}"/>
              </a:ext>
            </a:extLst>
          </p:cNvPr>
          <p:cNvSpPr>
            <a:spLocks xmlns:a="http://schemas.openxmlformats.org/drawingml/2006/main" noGrp="1"/>
          </p:cNvSpPr>
          <p:nvPr/>
        </p:nvSpPr>
        <p:spPr>
          <a:xfrm xmlns:a="http://schemas.openxmlformats.org/drawingml/2006/main">
            <a:off x="762000" y="4438650"/>
            <a:ext cx="10477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2026-10-08</a:t>
            </a:r>
          </a:p>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Ưu tiên web trên máy chủ, kèm bản chạy cục bộ</a:t>
            </a:r>
          </a:p>
        </p:txBody>
      </p:sp>
      <p:sp>
        <p:nvSpPr>
          <p:cNvPr id="4" name="">
            <a:extLst xmlns:a="http://schemas.openxmlformats.org/drawingml/2006/main">
              <a:ext uri="{FF2B5EF4-FFF2-40B4-BE49-F238E27FC236}">
                <a16:creationId xmlns:a16="http://schemas.microsoft.com/office/drawing/2014/main" id="{84282D5A-6933-4DEF-AF4C-C3444BE5362E}"/>
              </a:ext>
            </a:extLst>
          </p:cNvPr>
          <p:cNvSpPr>
            <a:spLocks xmlns:a="http://schemas.openxmlformats.org/drawingml/2006/main" noGrp="1"/>
          </p:cNvSpPr>
          <p:nvPr/>
        </p:nvSpPr>
        <p:spPr>
          <a:xfrm xmlns:a="http://schemas.openxmlformats.org/drawingml/2006/main">
            <a:off x="762000" y="5943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FFFFFF"/>
                </a:solidFill>
                <a:latin typeface="Arial"/>
                <a:ea typeface="Arial"/>
                <a:cs typeface="Arial"/>
              </a:defRPr>
            </a:def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Chưa nghiệm thu vận hành thực tế</a:t>
            </a:r>
          </a:p>
        </p:txBody>
      </p:sp>
    </p:spTree>
    <p:extLst>
      <p:ext uri="{BB962C8B-B14F-4D97-AF65-F5344CB8AC3E}">
        <p14:creationId xmlns:p14="http://schemas.microsoft.com/office/powerpoint/2010/main" val="1915837966"/>
      </p:ext>
    </p:extLst>
  </p:cSld>
</p:sld>
</file>

<file path=ppt/slides/slide2.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689919-1823-43BC-8851-9EAF34D85A63}"/>
              </a:ext>
            </a:extLst>
          </p:cNvPr>
          <p:cNvSpPr>
            <a:spLocks xmlns:a="http://schemas.openxmlformats.org/drawingml/2006/main" noGrp="1"/>
          </p:cNvSpPr>
          <p:nvPr/>
        </p:nvSpPr>
        <p:spPr>
          <a:xfrm xmlns:a="http://schemas.openxmlformats.org/drawingml/2006/main">
            <a:off x="704850" y="5524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A3A"/>
                </a:solidFill>
                <a:latin typeface="Arial"/>
                <a:ea typeface="Arial"/>
                <a:cs typeface="Arial"/>
              </a:defRPr>
            </a:def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Đề tài và giới hạn nghiệp vụ</a:t>
            </a:r>
          </a:p>
        </p:txBody>
      </p:sp>
      <p:sp>
        <p:nvSpPr>
          <p:cNvPr id="2" name="">
            <a:extLst xmlns:a="http://schemas.openxmlformats.org/drawingml/2006/main">
              <a:ext uri="{FF2B5EF4-FFF2-40B4-BE49-F238E27FC236}">
                <a16:creationId xmlns:a16="http://schemas.microsoft.com/office/drawing/2014/main" id="{80F8DF35-5F8D-42FD-9A85-932D5CA63CFF}"/>
              </a:ext>
            </a:extLst>
          </p:cNvPr>
          <p:cNvSpPr>
            <a:spLocks xmlns:a="http://schemas.openxmlformats.org/drawingml/2006/main" noGrp="1"/>
          </p:cNvSpPr>
          <p:nvPr/>
        </p:nvSpPr>
        <p:spPr>
          <a:xfrm xmlns:a="http://schemas.openxmlformats.org/drawingml/2006/main">
            <a:off x="704850" y="18669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Phạm vi</a:t>
            </a:r>
          </a:p>
        </p:txBody>
      </p:sp>
      <p:sp>
        <p:nvSpPr>
          <p:cNvPr id="3" name="">
            <a:extLst xmlns:a="http://schemas.openxmlformats.org/drawingml/2006/main">
              <a:ext uri="{FF2B5EF4-FFF2-40B4-BE49-F238E27FC236}">
                <a16:creationId xmlns:a16="http://schemas.microsoft.com/office/drawing/2014/main" id="{8F368E90-1182-4E40-A0D6-12078721D00A}"/>
              </a:ext>
            </a:extLst>
          </p:cNvPr>
          <p:cNvSpPr>
            <a:spLocks xmlns:a="http://schemas.openxmlformats.org/drawingml/2006/main" noGrp="1"/>
          </p:cNvSpPr>
          <p:nvPr/>
        </p:nvSpPr>
        <p:spPr>
          <a:xfrm xmlns:a="http://schemas.openxmlformats.org/drawingml/2006/main">
            <a:off x="3676650" y="18669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39 story, 165 point, 4 sprint. Một cơ sở salon spa.</a:t>
            </a:r>
          </a:p>
        </p:txBody>
      </p:sp>
      <p:sp>
        <p:nvSpPr>
          <p:cNvPr id="4" name="">
            <a:extLst xmlns:a="http://schemas.openxmlformats.org/drawingml/2006/main">
              <a:ext uri="{FF2B5EF4-FFF2-40B4-BE49-F238E27FC236}">
                <a16:creationId xmlns:a16="http://schemas.microsoft.com/office/drawing/2014/main" id="{F76CF457-4978-4AA1-9CF4-1C5538445948}"/>
              </a:ext>
            </a:extLst>
          </p:cNvPr>
          <p:cNvSpPr>
            <a:spLocks xmlns:a="http://schemas.openxmlformats.org/drawingml/2006/main" noGrp="1"/>
          </p:cNvSpPr>
          <p:nvPr/>
        </p:nvSpPr>
        <p:spPr>
          <a:xfrm xmlns:a="http://schemas.openxmlformats.org/drawingml/2006/main">
            <a:off x="704850" y="29337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Công nghệ</a:t>
            </a:r>
          </a:p>
        </p:txBody>
      </p:sp>
      <p:sp>
        <p:nvSpPr>
          <p:cNvPr id="5" name="">
            <a:extLst xmlns:a="http://schemas.openxmlformats.org/drawingml/2006/main">
              <a:ext uri="{FF2B5EF4-FFF2-40B4-BE49-F238E27FC236}">
                <a16:creationId xmlns:a16="http://schemas.microsoft.com/office/drawing/2014/main" id="{476C8272-BCC4-4DEB-B802-4C970617FE24}"/>
              </a:ext>
            </a:extLst>
          </p:cNvPr>
          <p:cNvSpPr>
            <a:spLocks xmlns:a="http://schemas.openxmlformats.org/drawingml/2006/main" noGrp="1"/>
          </p:cNvSpPr>
          <p:nvPr/>
        </p:nvSpPr>
        <p:spPr>
          <a:xfrm xmlns:a="http://schemas.openxmlformats.org/drawingml/2006/main">
            <a:off x="3676650" y="29337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NestJS, React/Vite và PostgreSQL 15 theo workbook.</a:t>
            </a:r>
          </a:p>
        </p:txBody>
      </p:sp>
      <p:sp>
        <p:nvSpPr>
          <p:cNvPr id="6" name="">
            <a:extLst xmlns:a="http://schemas.openxmlformats.org/drawingml/2006/main">
              <a:ext uri="{FF2B5EF4-FFF2-40B4-BE49-F238E27FC236}">
                <a16:creationId xmlns:a16="http://schemas.microsoft.com/office/drawing/2014/main" id="{9961B83A-AA8B-4D27-87D3-941B7EC8AD46}"/>
              </a:ext>
            </a:extLst>
          </p:cNvPr>
          <p:cNvSpPr>
            <a:spLocks xmlns:a="http://schemas.openxmlformats.org/drawingml/2006/main" noGrp="1"/>
          </p:cNvSpPr>
          <p:nvPr/>
        </p:nvSpPr>
        <p:spPr>
          <a:xfrm xmlns:a="http://schemas.openxmlformats.org/drawingml/2006/main">
            <a:off x="704850" y="40005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Nghiệp vụ</a:t>
            </a:r>
          </a:p>
        </p:txBody>
      </p:sp>
      <p:sp>
        <p:nvSpPr>
          <p:cNvPr id="7" name="">
            <a:extLst xmlns:a="http://schemas.openxmlformats.org/drawingml/2006/main">
              <a:ext uri="{FF2B5EF4-FFF2-40B4-BE49-F238E27FC236}">
                <a16:creationId xmlns:a16="http://schemas.microsoft.com/office/drawing/2014/main" id="{F8812297-FB7B-4674-808E-D118337E7C73}"/>
              </a:ext>
            </a:extLst>
          </p:cNvPr>
          <p:cNvSpPr>
            <a:spLocks xmlns:a="http://schemas.openxmlformats.org/drawingml/2006/main" noGrp="1"/>
          </p:cNvSpPr>
          <p:nvPr/>
        </p:nvSpPr>
        <p:spPr>
          <a:xfrm xmlns:a="http://schemas.openxmlformats.org/drawingml/2006/main">
            <a:off x="3676650" y="40005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Giữ chuỗi đặt lịch, phục vụ, thanh toán và đánh giá.</a:t>
            </a:r>
          </a:p>
        </p:txBody>
      </p:sp>
      <p:sp>
        <p:nvSpPr>
          <p:cNvPr id="8" name="">
            <a:extLst xmlns:a="http://schemas.openxmlformats.org/drawingml/2006/main">
              <a:ext uri="{FF2B5EF4-FFF2-40B4-BE49-F238E27FC236}">
                <a16:creationId xmlns:a16="http://schemas.microsoft.com/office/drawing/2014/main" id="{1412322F-DA8B-4081-B15D-5318AC2A6C26}"/>
              </a:ext>
            </a:extLst>
          </p:cNvPr>
          <p:cNvSpPr>
            <a:spLocks xmlns:a="http://schemas.openxmlformats.org/drawingml/2006/main" noGrp="1"/>
          </p:cNvSpPr>
          <p:nvPr/>
        </p:nvSpPr>
        <p:spPr>
          <a:xfrm xmlns:a="http://schemas.openxmlformats.org/drawingml/2006/main">
            <a:off x="10591800" y="63055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F5F6B"/>
                </a:solidFill>
                <a:latin typeface="Arial"/>
                <a:ea typeface="Arial"/>
                <a:cs typeface="Arial"/>
              </a:defRPr>
            </a:defPPr>
          </a:lstStyle>
          <a:p xmlns:a="http://schemas.openxmlformats.org/drawingml/2006/main">
            <a:pPr>
              <a:defRPr sz="1200" b="0">
                <a:solidFill>
                  <a:srgbClr val="4F5F6B"/>
                </a:solidFill>
                <a:latin typeface="Arial"/>
                <a:ea typeface="Arial"/>
                <a:cs typeface="Arial"/>
              </a:defRPr>
            </a:pPr>
            <a:r>
              <a:rPr sz="1200" b="0">
                <a:solidFill>
                  <a:srgbClr val="4F5F6B"/>
                </a:solidFill>
                <a:latin typeface="Arial"/>
                <a:ea typeface="Arial"/>
                <a:cs typeface="Arial"/>
              </a:rPr>
              <a:t>2 / 6</a:t>
            </a:r>
          </a:p>
        </p:txBody>
      </p:sp>
    </p:spTree>
    <p:extLst>
      <p:ext uri="{BB962C8B-B14F-4D97-AF65-F5344CB8AC3E}">
        <p14:creationId xmlns:p14="http://schemas.microsoft.com/office/powerpoint/2010/main" val="193547304"/>
      </p:ext>
    </p:extLst>
  </p:cSld>
</p:sld>
</file>

<file path=ppt/slides/slide3.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584A19-ABCF-4AE0-B48F-6BB7F2862BFC}"/>
              </a:ext>
            </a:extLst>
          </p:cNvPr>
          <p:cNvSpPr>
            <a:spLocks xmlns:a="http://schemas.openxmlformats.org/drawingml/2006/main" noGrp="1"/>
          </p:cNvSpPr>
          <p:nvPr/>
        </p:nvSpPr>
        <p:spPr>
          <a:xfrm xmlns:a="http://schemas.openxmlformats.org/drawingml/2006/main">
            <a:off x="704850" y="5524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A3A"/>
                </a:solidFill>
                <a:latin typeface="Arial"/>
                <a:ea typeface="Arial"/>
                <a:cs typeface="Arial"/>
              </a:defRPr>
            </a:def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Các lỗi đã sửa</a:t>
            </a:r>
          </a:p>
        </p:txBody>
      </p:sp>
      <p:sp>
        <p:nvSpPr>
          <p:cNvPr id="2" name="">
            <a:extLst xmlns:a="http://schemas.openxmlformats.org/drawingml/2006/main">
              <a:ext uri="{FF2B5EF4-FFF2-40B4-BE49-F238E27FC236}">
                <a16:creationId xmlns:a16="http://schemas.microsoft.com/office/drawing/2014/main" id="{F6784716-61AF-42FC-B8F2-F404C01BB7A2}"/>
              </a:ext>
            </a:extLst>
          </p:cNvPr>
          <p:cNvSpPr>
            <a:spLocks xmlns:a="http://schemas.openxmlformats.org/drawingml/2006/main" noGrp="1"/>
          </p:cNvSpPr>
          <p:nvPr/>
        </p:nvSpPr>
        <p:spPr>
          <a:xfrm xmlns:a="http://schemas.openxmlformats.org/drawingml/2006/main">
            <a:off x="704850" y="18669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Sao lưu</a:t>
            </a:r>
          </a:p>
        </p:txBody>
      </p:sp>
      <p:sp>
        <p:nvSpPr>
          <p:cNvPr id="3" name="">
            <a:extLst xmlns:a="http://schemas.openxmlformats.org/drawingml/2006/main">
              <a:ext uri="{FF2B5EF4-FFF2-40B4-BE49-F238E27FC236}">
                <a16:creationId xmlns:a16="http://schemas.microsoft.com/office/drawing/2014/main" id="{3E85333C-7F3C-44AC-96F6-CCFA9D7FA54C}"/>
              </a:ext>
            </a:extLst>
          </p:cNvPr>
          <p:cNvSpPr>
            <a:spLocks xmlns:a="http://schemas.openxmlformats.org/drawingml/2006/main" noGrp="1"/>
          </p:cNvSpPr>
          <p:nvPr/>
        </p:nvSpPr>
        <p:spPr>
          <a:xfrm xmlns:a="http://schemas.openxmlformats.org/drawingml/2006/main">
            <a:off x="3676650" y="18669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Đúng endpoint, giữ TLS, archive nguyên vẹn, retention 14 bản theo đích.</a:t>
            </a:r>
          </a:p>
        </p:txBody>
      </p:sp>
      <p:sp>
        <p:nvSpPr>
          <p:cNvPr id="4" name="">
            <a:extLst xmlns:a="http://schemas.openxmlformats.org/drawingml/2006/main">
              <a:ext uri="{FF2B5EF4-FFF2-40B4-BE49-F238E27FC236}">
                <a16:creationId xmlns:a16="http://schemas.microsoft.com/office/drawing/2014/main" id="{11BFBB50-98EC-4A39-8CB0-BFEC4611F6C8}"/>
              </a:ext>
            </a:extLst>
          </p:cNvPr>
          <p:cNvSpPr>
            <a:spLocks xmlns:a="http://schemas.openxmlformats.org/drawingml/2006/main" noGrp="1"/>
          </p:cNvSpPr>
          <p:nvPr/>
        </p:nvSpPr>
        <p:spPr>
          <a:xfrm xmlns:a="http://schemas.openxmlformats.org/drawingml/2006/main">
            <a:off x="704850" y="29337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Cập nhật</a:t>
            </a:r>
          </a:p>
        </p:txBody>
      </p:sp>
      <p:sp>
        <p:nvSpPr>
          <p:cNvPr id="5" name="">
            <a:extLst xmlns:a="http://schemas.openxmlformats.org/drawingml/2006/main">
              <a:ext uri="{FF2B5EF4-FFF2-40B4-BE49-F238E27FC236}">
                <a16:creationId xmlns:a16="http://schemas.microsoft.com/office/drawing/2014/main" id="{EF23556B-8CEE-46EE-B40B-E7A7CD5A9395}"/>
              </a:ext>
            </a:extLst>
          </p:cNvPr>
          <p:cNvSpPr>
            <a:spLocks xmlns:a="http://schemas.openxmlformats.org/drawingml/2006/main" noGrp="1"/>
          </p:cNvSpPr>
          <p:nvPr/>
        </p:nvSpPr>
        <p:spPr>
          <a:xfrm xmlns:a="http://schemas.openxmlformats.org/drawingml/2006/main">
            <a:off x="3676650" y="29337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Cài đúng lockfile, phục hồi gói bản cũ trước khi khởi động lại.</a:t>
            </a:r>
          </a:p>
        </p:txBody>
      </p:sp>
      <p:sp>
        <p:nvSpPr>
          <p:cNvPr id="6" name="">
            <a:extLst xmlns:a="http://schemas.openxmlformats.org/drawingml/2006/main">
              <a:ext uri="{FF2B5EF4-FFF2-40B4-BE49-F238E27FC236}">
                <a16:creationId xmlns:a16="http://schemas.microsoft.com/office/drawing/2014/main" id="{9E7758B1-D2D0-45FE-AD5C-063EC4E6C3D8}"/>
              </a:ext>
            </a:extLst>
          </p:cNvPr>
          <p:cNvSpPr>
            <a:spLocks xmlns:a="http://schemas.openxmlformats.org/drawingml/2006/main" noGrp="1"/>
          </p:cNvSpPr>
          <p:nvPr/>
        </p:nvSpPr>
        <p:spPr>
          <a:xfrm xmlns:a="http://schemas.openxmlformats.org/drawingml/2006/main">
            <a:off x="704850" y="40005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Máy chủ</a:t>
            </a:r>
          </a:p>
        </p:txBody>
      </p:sp>
      <p:sp>
        <p:nvSpPr>
          <p:cNvPr id="7" name="">
            <a:extLst xmlns:a="http://schemas.openxmlformats.org/drawingml/2006/main">
              <a:ext uri="{FF2B5EF4-FFF2-40B4-BE49-F238E27FC236}">
                <a16:creationId xmlns:a16="http://schemas.microsoft.com/office/drawing/2014/main" id="{93B9173B-4F86-4441-8A02-D2D1DD15CF83}"/>
              </a:ext>
            </a:extLst>
          </p:cNvPr>
          <p:cNvSpPr>
            <a:spLocks xmlns:a="http://schemas.openxmlformats.org/drawingml/2006/main" noGrp="1"/>
          </p:cNvSpPr>
          <p:nvPr/>
        </p:nvSpPr>
        <p:spPr>
          <a:xfrm xmlns:a="http://schemas.openxmlformats.org/drawingml/2006/main">
            <a:off x="3676650" y="40005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Image production, dữ liệu riêng, CI cho Windows/macOS/Linux.</a:t>
            </a:r>
          </a:p>
        </p:txBody>
      </p:sp>
      <p:sp>
        <p:nvSpPr>
          <p:cNvPr id="8" name="">
            <a:extLst xmlns:a="http://schemas.openxmlformats.org/drawingml/2006/main">
              <a:ext uri="{FF2B5EF4-FFF2-40B4-BE49-F238E27FC236}">
                <a16:creationId xmlns:a16="http://schemas.microsoft.com/office/drawing/2014/main" id="{3258522C-4F5A-49EC-9530-E79AFB5BDFF7}"/>
              </a:ext>
            </a:extLst>
          </p:cNvPr>
          <p:cNvSpPr>
            <a:spLocks xmlns:a="http://schemas.openxmlformats.org/drawingml/2006/main" noGrp="1"/>
          </p:cNvSpPr>
          <p:nvPr/>
        </p:nvSpPr>
        <p:spPr>
          <a:xfrm xmlns:a="http://schemas.openxmlformats.org/drawingml/2006/main">
            <a:off x="10591800" y="63055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F5F6B"/>
                </a:solidFill>
                <a:latin typeface="Arial"/>
                <a:ea typeface="Arial"/>
                <a:cs typeface="Arial"/>
              </a:defRPr>
            </a:defPPr>
          </a:lstStyle>
          <a:p xmlns:a="http://schemas.openxmlformats.org/drawingml/2006/main">
            <a:pPr>
              <a:defRPr sz="1200" b="0">
                <a:solidFill>
                  <a:srgbClr val="4F5F6B"/>
                </a:solidFill>
                <a:latin typeface="Arial"/>
                <a:ea typeface="Arial"/>
                <a:cs typeface="Arial"/>
              </a:defRPr>
            </a:pPr>
            <a:r>
              <a:rPr sz="1200" b="0">
                <a:solidFill>
                  <a:srgbClr val="4F5F6B"/>
                </a:solidFill>
                <a:latin typeface="Arial"/>
                <a:ea typeface="Arial"/>
                <a:cs typeface="Arial"/>
              </a:rPr>
              <a:t>3 / 6</a:t>
            </a:r>
          </a:p>
        </p:txBody>
      </p:sp>
    </p:spTree>
    <p:extLst>
      <p:ext uri="{BB962C8B-B14F-4D97-AF65-F5344CB8AC3E}">
        <p14:creationId xmlns:p14="http://schemas.microsoft.com/office/powerpoint/2010/main" val="1671836211"/>
      </p:ext>
    </p:extLst>
  </p:cSld>
</p:sld>
</file>

<file path=ppt/slides/slide4.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E01BD7D-986C-45DF-B189-8F239D71C520}"/>
              </a:ext>
            </a:extLst>
          </p:cNvPr>
          <p:cNvSpPr>
            <a:spLocks xmlns:a="http://schemas.openxmlformats.org/drawingml/2006/main" noGrp="1"/>
          </p:cNvSpPr>
          <p:nvPr/>
        </p:nvSpPr>
        <p:spPr>
          <a:xfrm xmlns:a="http://schemas.openxmlformats.org/drawingml/2006/main">
            <a:off x="704850" y="5524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A3A"/>
                </a:solidFill>
                <a:latin typeface="Arial"/>
                <a:ea typeface="Arial"/>
                <a:cs typeface="Arial"/>
              </a:defRPr>
            </a:def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Bằng chứng kiểm thử hiện tại</a:t>
            </a:r>
          </a:p>
        </p:txBody>
      </p:sp>
      <p:sp>
        <p:nvSpPr>
          <p:cNvPr id="2" name="">
            <a:extLst xmlns:a="http://schemas.openxmlformats.org/drawingml/2006/main">
              <a:ext uri="{FF2B5EF4-FFF2-40B4-BE49-F238E27FC236}">
                <a16:creationId xmlns:a16="http://schemas.microsoft.com/office/drawing/2014/main" id="{1FDFEF94-F7D2-4595-BFA3-AAD3712F665E}"/>
              </a:ext>
            </a:extLst>
          </p:cNvPr>
          <p:cNvSpPr>
            <a:spLocks xmlns:a="http://schemas.openxmlformats.org/drawingml/2006/main" noGrp="1"/>
          </p:cNvSpPr>
          <p:nvPr/>
        </p:nvSpPr>
        <p:spPr>
          <a:xfrm xmlns:a="http://schemas.openxmlformats.org/drawingml/2006/main">
            <a:off x="704850" y="18669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Backend</a:t>
            </a:r>
          </a:p>
        </p:txBody>
      </p:sp>
      <p:sp>
        <p:nvSpPr>
          <p:cNvPr id="3" name="">
            <a:extLst xmlns:a="http://schemas.openxmlformats.org/drawingml/2006/main">
              <a:ext uri="{FF2B5EF4-FFF2-40B4-BE49-F238E27FC236}">
                <a16:creationId xmlns:a16="http://schemas.microsoft.com/office/drawing/2014/main" id="{122D91FF-94D8-4CE8-B7E2-4E6D61D3AA4F}"/>
              </a:ext>
            </a:extLst>
          </p:cNvPr>
          <p:cNvSpPr>
            <a:spLocks xmlns:a="http://schemas.openxmlformats.org/drawingml/2006/main" noGrp="1"/>
          </p:cNvSpPr>
          <p:nvPr/>
        </p:nvSpPr>
        <p:spPr>
          <a:xfrm xmlns:a="http://schemas.openxmlformats.org/drawingml/2006/main">
            <a:off x="3676650" y="18669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177 unit test đạt. 105 E2E đạt với PostgreSQL 15.</a:t>
            </a:r>
          </a:p>
        </p:txBody>
      </p:sp>
      <p:sp>
        <p:nvSpPr>
          <p:cNvPr id="4" name="">
            <a:extLst xmlns:a="http://schemas.openxmlformats.org/drawingml/2006/main">
              <a:ext uri="{FF2B5EF4-FFF2-40B4-BE49-F238E27FC236}">
                <a16:creationId xmlns:a16="http://schemas.microsoft.com/office/drawing/2014/main" id="{8269693C-7D56-4AF8-A0FA-A59E5A366008}"/>
              </a:ext>
            </a:extLst>
          </p:cNvPr>
          <p:cNvSpPr>
            <a:spLocks xmlns:a="http://schemas.openxmlformats.org/drawingml/2006/main" noGrp="1"/>
          </p:cNvSpPr>
          <p:nvPr/>
        </p:nvSpPr>
        <p:spPr>
          <a:xfrm xmlns:a="http://schemas.openxmlformats.org/drawingml/2006/main">
            <a:off x="704850" y="29337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Frontend và script</a:t>
            </a:r>
          </a:p>
        </p:txBody>
      </p:sp>
      <p:sp>
        <p:nvSpPr>
          <p:cNvPr id="5" name="">
            <a:extLst xmlns:a="http://schemas.openxmlformats.org/drawingml/2006/main">
              <a:ext uri="{FF2B5EF4-FFF2-40B4-BE49-F238E27FC236}">
                <a16:creationId xmlns:a16="http://schemas.microsoft.com/office/drawing/2014/main" id="{E12077A7-3181-4990-BAF6-DB20EE02A795}"/>
              </a:ext>
            </a:extLst>
          </p:cNvPr>
          <p:cNvSpPr>
            <a:spLocks xmlns:a="http://schemas.openxmlformats.org/drawingml/2006/main" noGrp="1"/>
          </p:cNvSpPr>
          <p:nvPr/>
        </p:nvSpPr>
        <p:spPr>
          <a:xfrm xmlns:a="http://schemas.openxmlformats.org/drawingml/2006/main">
            <a:off x="3676650" y="29337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4 frontend đạt. Script 21 đạt, 1 bỏ qua. Build/lint đạt.</a:t>
            </a:r>
          </a:p>
        </p:txBody>
      </p:sp>
      <p:sp>
        <p:nvSpPr>
          <p:cNvPr id="6" name="">
            <a:extLst xmlns:a="http://schemas.openxmlformats.org/drawingml/2006/main">
              <a:ext uri="{FF2B5EF4-FFF2-40B4-BE49-F238E27FC236}">
                <a16:creationId xmlns:a16="http://schemas.microsoft.com/office/drawing/2014/main" id="{F0B33D19-DEFD-495F-815F-80618F69537D}"/>
              </a:ext>
            </a:extLst>
          </p:cNvPr>
          <p:cNvSpPr>
            <a:spLocks xmlns:a="http://schemas.openxmlformats.org/drawingml/2006/main" noGrp="1"/>
          </p:cNvSpPr>
          <p:nvPr/>
        </p:nvSpPr>
        <p:spPr>
          <a:xfrm xmlns:a="http://schemas.openxmlformats.org/drawingml/2006/main">
            <a:off x="704850" y="40005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Triển khai</a:t>
            </a:r>
          </a:p>
        </p:txBody>
      </p:sp>
      <p:sp>
        <p:nvSpPr>
          <p:cNvPr id="7" name="">
            <a:extLst xmlns:a="http://schemas.openxmlformats.org/drawingml/2006/main">
              <a:ext uri="{FF2B5EF4-FFF2-40B4-BE49-F238E27FC236}">
                <a16:creationId xmlns:a16="http://schemas.microsoft.com/office/drawing/2014/main" id="{C6542293-72C9-4376-BD81-28654F903F99}"/>
              </a:ext>
            </a:extLst>
          </p:cNvPr>
          <p:cNvSpPr>
            <a:spLocks xmlns:a="http://schemas.openxmlformats.org/drawingml/2006/main" noGrp="1"/>
          </p:cNvSpPr>
          <p:nvPr/>
        </p:nvSpPr>
        <p:spPr>
          <a:xfrm xmlns:a="http://schemas.openxmlformats.org/drawingml/2006/main">
            <a:off x="3676650" y="40005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Docker và restore DB mới đạt. CI đa OS chưa chạy.</a:t>
            </a:r>
          </a:p>
        </p:txBody>
      </p:sp>
      <p:sp>
        <p:nvSpPr>
          <p:cNvPr id="8" name="">
            <a:extLst xmlns:a="http://schemas.openxmlformats.org/drawingml/2006/main">
              <a:ext uri="{FF2B5EF4-FFF2-40B4-BE49-F238E27FC236}">
                <a16:creationId xmlns:a16="http://schemas.microsoft.com/office/drawing/2014/main" id="{31532D58-AB42-4177-98AB-2CFFEF248682}"/>
              </a:ext>
            </a:extLst>
          </p:cNvPr>
          <p:cNvSpPr>
            <a:spLocks xmlns:a="http://schemas.openxmlformats.org/drawingml/2006/main" noGrp="1"/>
          </p:cNvSpPr>
          <p:nvPr/>
        </p:nvSpPr>
        <p:spPr>
          <a:xfrm xmlns:a="http://schemas.openxmlformats.org/drawingml/2006/main">
            <a:off x="10591800" y="63055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F5F6B"/>
                </a:solidFill>
                <a:latin typeface="Arial"/>
                <a:ea typeface="Arial"/>
                <a:cs typeface="Arial"/>
              </a:defRPr>
            </a:defPPr>
          </a:lstStyle>
          <a:p xmlns:a="http://schemas.openxmlformats.org/drawingml/2006/main">
            <a:pPr>
              <a:defRPr sz="1200" b="0">
                <a:solidFill>
                  <a:srgbClr val="4F5F6B"/>
                </a:solidFill>
                <a:latin typeface="Arial"/>
                <a:ea typeface="Arial"/>
                <a:cs typeface="Arial"/>
              </a:defRPr>
            </a:pPr>
            <a:r>
              <a:rPr sz="1200" b="0">
                <a:solidFill>
                  <a:srgbClr val="4F5F6B"/>
                </a:solidFill>
                <a:latin typeface="Arial"/>
                <a:ea typeface="Arial"/>
                <a:cs typeface="Arial"/>
              </a:rPr>
              <a:t>4 / 6</a:t>
            </a:r>
          </a:p>
        </p:txBody>
      </p:sp>
    </p:spTree>
    <p:extLst>
      <p:ext uri="{BB962C8B-B14F-4D97-AF65-F5344CB8AC3E}">
        <p14:creationId xmlns:p14="http://schemas.microsoft.com/office/powerpoint/2010/main" val="1399436405"/>
      </p:ext>
    </p:extLst>
  </p:cSld>
</p:sld>
</file>

<file path=ppt/slides/slide5.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83251C-143E-435D-B133-53BEE70316EC}"/>
              </a:ext>
            </a:extLst>
          </p:cNvPr>
          <p:cNvSpPr>
            <a:spLocks xmlns:a="http://schemas.openxmlformats.org/drawingml/2006/main" noGrp="1"/>
          </p:cNvSpPr>
          <p:nvPr/>
        </p:nvSpPr>
        <p:spPr>
          <a:xfrm xmlns:a="http://schemas.openxmlformats.org/drawingml/2006/main">
            <a:off x="704850" y="5524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A3A"/>
                </a:solidFill>
                <a:latin typeface="Arial"/>
                <a:ea typeface="Arial"/>
                <a:cs typeface="Arial"/>
              </a:defRPr>
            </a:def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Điều kiện trước khi giao khách</a:t>
            </a:r>
          </a:p>
        </p:txBody>
      </p:sp>
      <p:sp>
        <p:nvSpPr>
          <p:cNvPr id="2" name="">
            <a:extLst xmlns:a="http://schemas.openxmlformats.org/drawingml/2006/main">
              <a:ext uri="{FF2B5EF4-FFF2-40B4-BE49-F238E27FC236}">
                <a16:creationId xmlns:a16="http://schemas.microsoft.com/office/drawing/2014/main" id="{DEBC7A60-AB69-47AF-8588-5218F8015D9A}"/>
              </a:ext>
            </a:extLst>
          </p:cNvPr>
          <p:cNvSpPr>
            <a:spLocks xmlns:a="http://schemas.openxmlformats.org/drawingml/2006/main" noGrp="1"/>
          </p:cNvSpPr>
          <p:nvPr/>
        </p:nvSpPr>
        <p:spPr>
          <a:xfrm xmlns:a="http://schemas.openxmlformats.org/drawingml/2006/main">
            <a:off x="704850" y="18669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Dữ liệu khách</a:t>
            </a:r>
          </a:p>
        </p:txBody>
      </p:sp>
      <p:sp>
        <p:nvSpPr>
          <p:cNvPr id="3" name="">
            <a:extLst xmlns:a="http://schemas.openxmlformats.org/drawingml/2006/main">
              <a:ext uri="{FF2B5EF4-FFF2-40B4-BE49-F238E27FC236}">
                <a16:creationId xmlns:a16="http://schemas.microsoft.com/office/drawing/2014/main" id="{410302F7-8ED9-4BFC-AC1F-B04D5847602F}"/>
              </a:ext>
            </a:extLst>
          </p:cNvPr>
          <p:cNvSpPr>
            <a:spLocks xmlns:a="http://schemas.openxmlformats.org/drawingml/2006/main" noGrp="1"/>
          </p:cNvSpPr>
          <p:nvPr/>
        </p:nvSpPr>
        <p:spPr>
          <a:xfrm xmlns:a="http://schemas.openxmlformats.org/drawingml/2006/main">
            <a:off x="3676650" y="18669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Hoàn thiện AC log truy cập và xóa/ẩn danh có kiểm soát.</a:t>
            </a:r>
          </a:p>
        </p:txBody>
      </p:sp>
      <p:sp>
        <p:nvSpPr>
          <p:cNvPr id="4" name="">
            <a:extLst xmlns:a="http://schemas.openxmlformats.org/drawingml/2006/main">
              <a:ext uri="{FF2B5EF4-FFF2-40B4-BE49-F238E27FC236}">
                <a16:creationId xmlns:a16="http://schemas.microsoft.com/office/drawing/2014/main" id="{5EA53DBA-1ED5-4FF5-97F7-99FD25C25C8A}"/>
              </a:ext>
            </a:extLst>
          </p:cNvPr>
          <p:cNvSpPr>
            <a:spLocks xmlns:a="http://schemas.openxmlformats.org/drawingml/2006/main" noGrp="1"/>
          </p:cNvSpPr>
          <p:nvPr/>
        </p:nvSpPr>
        <p:spPr>
          <a:xfrm xmlns:a="http://schemas.openxmlformats.org/drawingml/2006/main">
            <a:off x="704850" y="29337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Vận hành</a:t>
            </a:r>
          </a:p>
        </p:txBody>
      </p:sp>
      <p:sp>
        <p:nvSpPr>
          <p:cNvPr id="5" name="">
            <a:extLst xmlns:a="http://schemas.openxmlformats.org/drawingml/2006/main">
              <a:ext uri="{FF2B5EF4-FFF2-40B4-BE49-F238E27FC236}">
                <a16:creationId xmlns:a16="http://schemas.microsoft.com/office/drawing/2014/main" id="{D957FA4C-1EE9-4989-B586-59B45090E666}"/>
              </a:ext>
            </a:extLst>
          </p:cNvPr>
          <p:cNvSpPr>
            <a:spLocks xmlns:a="http://schemas.openxmlformats.org/drawingml/2006/main" noGrp="1"/>
          </p:cNvSpPr>
          <p:nvPr/>
        </p:nvSpPr>
        <p:spPr>
          <a:xfrm xmlns:a="http://schemas.openxmlformats.org/drawingml/2006/main">
            <a:off x="3676650" y="29337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SMTP, HTTPS thật, update dữ liệu cũ và restore đầy đủ.</a:t>
            </a:r>
          </a:p>
        </p:txBody>
      </p:sp>
      <p:sp>
        <p:nvSpPr>
          <p:cNvPr id="6" name="">
            <a:extLst xmlns:a="http://schemas.openxmlformats.org/drawingml/2006/main">
              <a:ext uri="{FF2B5EF4-FFF2-40B4-BE49-F238E27FC236}">
                <a16:creationId xmlns:a16="http://schemas.microsoft.com/office/drawing/2014/main" id="{61D56A88-BFD0-4C99-8D3D-995D76DA747F}"/>
              </a:ext>
            </a:extLst>
          </p:cNvPr>
          <p:cNvSpPr>
            <a:spLocks xmlns:a="http://schemas.openxmlformats.org/drawingml/2006/main" noGrp="1"/>
          </p:cNvSpPr>
          <p:nvPr/>
        </p:nvSpPr>
        <p:spPr>
          <a:xfrm xmlns:a="http://schemas.openxmlformats.org/drawingml/2006/main">
            <a:off x="704850" y="40005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Nghiệm thu</a:t>
            </a:r>
          </a:p>
        </p:txBody>
      </p:sp>
      <p:sp>
        <p:nvSpPr>
          <p:cNvPr id="7" name="">
            <a:extLst xmlns:a="http://schemas.openxmlformats.org/drawingml/2006/main">
              <a:ext uri="{FF2B5EF4-FFF2-40B4-BE49-F238E27FC236}">
                <a16:creationId xmlns:a16="http://schemas.microsoft.com/office/drawing/2014/main" id="{C479AC85-6957-40FD-826C-333657C0B09B}"/>
              </a:ext>
            </a:extLst>
          </p:cNvPr>
          <p:cNvSpPr>
            <a:spLocks xmlns:a="http://schemas.openxmlformats.org/drawingml/2006/main" noGrp="1"/>
          </p:cNvSpPr>
          <p:nvPr/>
        </p:nvSpPr>
        <p:spPr>
          <a:xfrm xmlns:a="http://schemas.openxmlformats.org/drawingml/2006/main">
            <a:off x="3676650" y="40005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Kiểm tra 39 story tại cơ sở, email đúng hạn và UI 360px.</a:t>
            </a:r>
          </a:p>
        </p:txBody>
      </p:sp>
      <p:sp>
        <p:nvSpPr>
          <p:cNvPr id="8" name="">
            <a:extLst xmlns:a="http://schemas.openxmlformats.org/drawingml/2006/main">
              <a:ext uri="{FF2B5EF4-FFF2-40B4-BE49-F238E27FC236}">
                <a16:creationId xmlns:a16="http://schemas.microsoft.com/office/drawing/2014/main" id="{CF68A3DA-E9B6-4402-AE7B-5A7129188545}"/>
              </a:ext>
            </a:extLst>
          </p:cNvPr>
          <p:cNvSpPr>
            <a:spLocks xmlns:a="http://schemas.openxmlformats.org/drawingml/2006/main" noGrp="1"/>
          </p:cNvSpPr>
          <p:nvPr/>
        </p:nvSpPr>
        <p:spPr>
          <a:xfrm xmlns:a="http://schemas.openxmlformats.org/drawingml/2006/main">
            <a:off x="10591800" y="63055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F5F6B"/>
                </a:solidFill>
                <a:latin typeface="Arial"/>
                <a:ea typeface="Arial"/>
                <a:cs typeface="Arial"/>
              </a:defRPr>
            </a:defPPr>
          </a:lstStyle>
          <a:p xmlns:a="http://schemas.openxmlformats.org/drawingml/2006/main">
            <a:pPr>
              <a:defRPr sz="1200" b="0">
                <a:solidFill>
                  <a:srgbClr val="4F5F6B"/>
                </a:solidFill>
                <a:latin typeface="Arial"/>
                <a:ea typeface="Arial"/>
                <a:cs typeface="Arial"/>
              </a:defRPr>
            </a:pPr>
            <a:r>
              <a:rPr sz="1200" b="0">
                <a:solidFill>
                  <a:srgbClr val="4F5F6B"/>
                </a:solidFill>
                <a:latin typeface="Arial"/>
                <a:ea typeface="Arial"/>
                <a:cs typeface="Arial"/>
              </a:rPr>
              <a:t>5 / 6</a:t>
            </a:r>
          </a:p>
        </p:txBody>
      </p:sp>
    </p:spTree>
    <p:extLst>
      <p:ext uri="{BB962C8B-B14F-4D97-AF65-F5344CB8AC3E}">
        <p14:creationId xmlns:p14="http://schemas.microsoft.com/office/powerpoint/2010/main" val="264046206"/>
      </p:ext>
    </p:extLst>
  </p:cSld>
</p:sld>
</file>

<file path=ppt/slides/slide6.xml><?xml version="1.0" encoding="utf-8"?>
<p:sld xmlns:p="http://schemas.openxmlformats.org/presentationml/2006/main">
  <p:cSld>
    <p:bg>
      <p:bgPr>
        <a:solidFill xmlns:a="http://schemas.openxmlformats.org/drawingml/2006/main">
          <a:srgbClr val="F5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F20497-AB54-4DCC-B1E4-99A5A9D43F54}"/>
              </a:ext>
            </a:extLst>
          </p:cNvPr>
          <p:cNvSpPr>
            <a:spLocks xmlns:a="http://schemas.openxmlformats.org/drawingml/2006/main" noGrp="1"/>
          </p:cNvSpPr>
          <p:nvPr/>
        </p:nvSpPr>
        <p:spPr>
          <a:xfrm xmlns:a="http://schemas.openxmlformats.org/drawingml/2006/main">
            <a:off x="704850" y="552450"/>
            <a:ext cx="10744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2A3A"/>
                </a:solidFill>
                <a:latin typeface="Arial"/>
                <a:ea typeface="Arial"/>
                <a:cs typeface="Arial"/>
              </a:defRPr>
            </a:defPPr>
          </a:lstStyle>
          <a:p xmlns:a="http://schemas.openxmlformats.org/drawingml/2006/main">
            <a:pPr>
              <a:defRPr sz="3300" b="1">
                <a:solidFill>
                  <a:srgbClr val="172A3A"/>
                </a:solidFill>
                <a:latin typeface="Arial"/>
                <a:ea typeface="Arial"/>
                <a:cs typeface="Arial"/>
              </a:defRPr>
            </a:pPr>
            <a:r>
              <a:rPr sz="3300" b="1">
                <a:solidFill>
                  <a:srgbClr val="172A3A"/>
                </a:solidFill>
                <a:latin typeface="Arial"/>
                <a:ea typeface="Arial"/>
                <a:cs typeface="Arial"/>
              </a:rPr>
              <a:t>Hướng triển khai tiếp theo</a:t>
            </a:r>
          </a:p>
        </p:txBody>
      </p:sp>
      <p:sp>
        <p:nvSpPr>
          <p:cNvPr id="2" name="">
            <a:extLst xmlns:a="http://schemas.openxmlformats.org/drawingml/2006/main">
              <a:ext uri="{FF2B5EF4-FFF2-40B4-BE49-F238E27FC236}">
                <a16:creationId xmlns:a16="http://schemas.microsoft.com/office/drawing/2014/main" id="{046663D8-242B-4BB5-9ABD-B63036A828C1}"/>
              </a:ext>
            </a:extLst>
          </p:cNvPr>
          <p:cNvSpPr>
            <a:spLocks xmlns:a="http://schemas.openxmlformats.org/drawingml/2006/main" noGrp="1"/>
          </p:cNvSpPr>
          <p:nvPr/>
        </p:nvSpPr>
        <p:spPr>
          <a:xfrm xmlns:a="http://schemas.openxmlformats.org/drawingml/2006/main">
            <a:off x="704850" y="18669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Máy chủ</a:t>
            </a:r>
          </a:p>
        </p:txBody>
      </p:sp>
      <p:sp>
        <p:nvSpPr>
          <p:cNvPr id="3" name="">
            <a:extLst xmlns:a="http://schemas.openxmlformats.org/drawingml/2006/main">
              <a:ext uri="{FF2B5EF4-FFF2-40B4-BE49-F238E27FC236}">
                <a16:creationId xmlns:a16="http://schemas.microsoft.com/office/drawing/2014/main" id="{8A463C0C-4023-48D8-BB05-FF6B93D6ADB3}"/>
              </a:ext>
            </a:extLst>
          </p:cNvPr>
          <p:cNvSpPr>
            <a:spLocks xmlns:a="http://schemas.openxmlformats.org/drawingml/2006/main" noGrp="1"/>
          </p:cNvSpPr>
          <p:nvPr/>
        </p:nvSpPr>
        <p:spPr>
          <a:xfrm xmlns:a="http://schemas.openxmlformats.org/drawingml/2006/main">
            <a:off x="3676650" y="18669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Một URL HTTPS, dữ liệu sạch và bí mật riêng từng môi trường.</a:t>
            </a:r>
          </a:p>
        </p:txBody>
      </p:sp>
      <p:sp>
        <p:nvSpPr>
          <p:cNvPr id="4" name="">
            <a:extLst xmlns:a="http://schemas.openxmlformats.org/drawingml/2006/main">
              <a:ext uri="{FF2B5EF4-FFF2-40B4-BE49-F238E27FC236}">
                <a16:creationId xmlns:a16="http://schemas.microsoft.com/office/drawing/2014/main" id="{80865A66-86DC-47F0-9059-93F6E06EB771}"/>
              </a:ext>
            </a:extLst>
          </p:cNvPr>
          <p:cNvSpPr>
            <a:spLocks xmlns:a="http://schemas.openxmlformats.org/drawingml/2006/main" noGrp="1"/>
          </p:cNvSpPr>
          <p:nvPr/>
        </p:nvSpPr>
        <p:spPr>
          <a:xfrm xmlns:a="http://schemas.openxmlformats.org/drawingml/2006/main">
            <a:off x="704850" y="29337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Phát hành</a:t>
            </a:r>
          </a:p>
        </p:txBody>
      </p:sp>
      <p:sp>
        <p:nvSpPr>
          <p:cNvPr id="5" name="">
            <a:extLst xmlns:a="http://schemas.openxmlformats.org/drawingml/2006/main">
              <a:ext uri="{FF2B5EF4-FFF2-40B4-BE49-F238E27FC236}">
                <a16:creationId xmlns:a16="http://schemas.microsoft.com/office/drawing/2014/main" id="{2C12E898-D3C2-4D25-9B93-30A172B11C97}"/>
              </a:ext>
            </a:extLst>
          </p:cNvPr>
          <p:cNvSpPr>
            <a:spLocks xmlns:a="http://schemas.openxmlformats.org/drawingml/2006/main" noGrp="1"/>
          </p:cNvSpPr>
          <p:nvPr/>
        </p:nvSpPr>
        <p:spPr>
          <a:xfrm xmlns:a="http://schemas.openxmlformats.org/drawingml/2006/main">
            <a:off x="3676650" y="29337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Version, image digest, staging, backup và nghiệm thu nghiệp vụ.</a:t>
            </a:r>
          </a:p>
        </p:txBody>
      </p:sp>
      <p:sp>
        <p:nvSpPr>
          <p:cNvPr id="6" name="">
            <a:extLst xmlns:a="http://schemas.openxmlformats.org/drawingml/2006/main">
              <a:ext uri="{FF2B5EF4-FFF2-40B4-BE49-F238E27FC236}">
                <a16:creationId xmlns:a16="http://schemas.microsoft.com/office/drawing/2014/main" id="{F536D15C-3D9F-44FA-970D-BDAE73A148E4}"/>
              </a:ext>
            </a:extLst>
          </p:cNvPr>
          <p:cNvSpPr>
            <a:spLocks xmlns:a="http://schemas.openxmlformats.org/drawingml/2006/main" noGrp="1"/>
          </p:cNvSpPr>
          <p:nvPr/>
        </p:nvSpPr>
        <p:spPr>
          <a:xfrm xmlns:a="http://schemas.openxmlformats.org/drawingml/2006/main">
            <a:off x="704850" y="4000500"/>
            <a:ext cx="266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172A3A"/>
                </a:solidFill>
                <a:latin typeface="Arial"/>
                <a:ea typeface="Arial"/>
                <a:cs typeface="Arial"/>
              </a:defRPr>
            </a:defPPr>
          </a:lstStyle>
          <a:p xmlns:a="http://schemas.openxmlformats.org/drawingml/2006/main">
            <a:pPr>
              <a:defRPr sz="2025" b="1">
                <a:solidFill>
                  <a:srgbClr val="172A3A"/>
                </a:solidFill>
                <a:latin typeface="Arial"/>
                <a:ea typeface="Arial"/>
                <a:cs typeface="Arial"/>
              </a:defRPr>
            </a:pPr>
            <a:r>
              <a:rPr sz="2025" b="1">
                <a:solidFill>
                  <a:srgbClr val="172A3A"/>
                </a:solidFill>
                <a:latin typeface="Arial"/>
                <a:ea typeface="Arial"/>
                <a:cs typeface="Arial"/>
              </a:rPr>
              <a:t>Tài liệu</a:t>
            </a:r>
          </a:p>
        </p:txBody>
      </p:sp>
      <p:sp>
        <p:nvSpPr>
          <p:cNvPr id="7" name="">
            <a:extLst xmlns:a="http://schemas.openxmlformats.org/drawingml/2006/main">
              <a:ext uri="{FF2B5EF4-FFF2-40B4-BE49-F238E27FC236}">
                <a16:creationId xmlns:a16="http://schemas.microsoft.com/office/drawing/2014/main" id="{916FF20B-1A74-4EF9-925B-3C6D439F5988}"/>
              </a:ext>
            </a:extLst>
          </p:cNvPr>
          <p:cNvSpPr>
            <a:spLocks xmlns:a="http://schemas.openxmlformats.org/drawingml/2006/main" noGrp="1"/>
          </p:cNvSpPr>
          <p:nvPr/>
        </p:nvSpPr>
        <p:spPr>
          <a:xfrm xmlns:a="http://schemas.openxmlformats.org/drawingml/2006/main">
            <a:off x="3676650" y="4000500"/>
            <a:ext cx="77724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2A3A"/>
                </a:solidFill>
                <a:latin typeface="Arial"/>
                <a:ea typeface="Arial"/>
                <a:cs typeface="Arial"/>
              </a:defRPr>
            </a:defPPr>
          </a:lstStyle>
          <a:p xmlns:a="http://schemas.openxmlformats.org/drawingml/2006/main">
            <a:pPr>
              <a:defRPr sz="2025" b="0">
                <a:solidFill>
                  <a:srgbClr val="172A3A"/>
                </a:solidFill>
                <a:latin typeface="Arial"/>
                <a:ea typeface="Arial"/>
                <a:cs typeface="Arial"/>
              </a:defRPr>
            </a:pPr>
            <a:r>
              <a:rPr sz="2025" b="0">
                <a:solidFill>
                  <a:srgbClr val="172A3A"/>
                </a:solidFill>
                <a:latin typeface="Arial"/>
                <a:ea typeface="Arial"/>
                <a:cs typeface="Arial"/>
              </a:rPr>
              <a:t>Báo cáo và slide lấy từ release.json. Phát hiện drift bằng checksum.</a:t>
            </a:r>
          </a:p>
        </p:txBody>
      </p:sp>
      <p:sp>
        <p:nvSpPr>
          <p:cNvPr id="8" name="">
            <a:extLst xmlns:a="http://schemas.openxmlformats.org/drawingml/2006/main">
              <a:ext uri="{FF2B5EF4-FFF2-40B4-BE49-F238E27FC236}">
                <a16:creationId xmlns:a16="http://schemas.microsoft.com/office/drawing/2014/main" id="{2F07B027-D550-4738-A851-92C002C7655A}"/>
              </a:ext>
            </a:extLst>
          </p:cNvPr>
          <p:cNvSpPr>
            <a:spLocks xmlns:a="http://schemas.openxmlformats.org/drawingml/2006/main" noGrp="1"/>
          </p:cNvSpPr>
          <p:nvPr/>
        </p:nvSpPr>
        <p:spPr>
          <a:xfrm xmlns:a="http://schemas.openxmlformats.org/drawingml/2006/main">
            <a:off x="10591800" y="630555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4F5F6B"/>
                </a:solidFill>
                <a:latin typeface="Arial"/>
                <a:ea typeface="Arial"/>
                <a:cs typeface="Arial"/>
              </a:defRPr>
            </a:defPPr>
          </a:lstStyle>
          <a:p xmlns:a="http://schemas.openxmlformats.org/drawingml/2006/main">
            <a:pPr>
              <a:defRPr sz="1200" b="0">
                <a:solidFill>
                  <a:srgbClr val="4F5F6B"/>
                </a:solidFill>
                <a:latin typeface="Arial"/>
                <a:ea typeface="Arial"/>
                <a:cs typeface="Arial"/>
              </a:defRPr>
            </a:pPr>
            <a:r>
              <a:rPr sz="1200" b="0">
                <a:solidFill>
                  <a:srgbClr val="4F5F6B"/>
                </a:solidFill>
                <a:latin typeface="Arial"/>
                <a:ea typeface="Arial"/>
                <a:cs typeface="Arial"/>
              </a:rPr>
              <a:t>6 / 6</a:t>
            </a:r>
          </a:p>
        </p:txBody>
      </p:sp>
    </p:spTree>
    <p:extLst>
      <p:ext uri="{BB962C8B-B14F-4D97-AF65-F5344CB8AC3E}">
        <p14:creationId xmlns:p14="http://schemas.microsoft.com/office/powerpoint/2010/main" val="6709255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2026-10-08T16:09:11.5150000Z</dcterms:created>
  <dcterms:modified xsi:type="dcterms:W3CDTF">2026-10-08T16:09:11.5150000Z</dcterms:modified>
</coreProperties>
</file>