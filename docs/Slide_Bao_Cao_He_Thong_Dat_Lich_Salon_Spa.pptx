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Story Point</c:v>
                </c:pt>
              </c:strCache>
            </c:strRef>
          </c:tx>
          <c:spPr>
            <a:solidFill>
              <a:srgbClr val="0D9488"/>
            </a:solidFill>
          </c:spPr>
          <c:cat>
            <c:strRef>
              <c:f>Sheet1!$A$2:$A$7</c:f>
              <c:strCache>
                <c:ptCount val="6"/>
                <c:pt idx="0">
                  <c:v>EP-06  Nhắc lịch, thông báo và báo cáo</c:v>
                </c:pt>
                <c:pt idx="1">
                  <c:v>EP-05  Thanh toán và hồ sơ khách hàng</c:v>
                </c:pt>
                <c:pt idx="2">
                  <c:v>EP-04  Vận hành lịch hẹn hằng ngày</c:v>
                </c:pt>
                <c:pt idx="3">
                  <c:v>EP-03  Đặt lịch công khai và tính khung giờ trống</c:v>
                </c:pt>
                <c:pt idx="4">
                  <c:v>EP-02  Dịch vụ, thợ và lịch làm việc</c:v>
                </c:pt>
                <c:pt idx="5">
                  <c:v>EP-01  Tài khoản và phân quyền</c:v>
                </c:pt>
              </c:strCache>
            </c:strRef>
          </c:cat>
          <c:val>
            <c:numRef>
              <c:f>Sheet1!$B$2:$B$7</c:f>
              <c:numCache>
                <c:formatCode>General</c:formatCode>
                <c:ptCount val="6"/>
                <c:pt idx="0">
                  <c:v>18</c:v>
                </c:pt>
                <c:pt idx="1">
                  <c:v>23</c:v>
                </c:pt>
                <c:pt idx="2">
                  <c:v>39</c:v>
                </c:pt>
                <c:pt idx="3">
                  <c:v>31</c:v>
                </c:pt>
                <c:pt idx="4">
                  <c:v>27</c:v>
                </c:pt>
                <c:pt idx="5">
                  <c:v>27</c:v>
                </c:pt>
              </c:numCache>
            </c:numRef>
          </c:val>
        </c:ser>
        <c:dLbls>
          <c:txPr>
            <a:bodyPr/>
            <a:lstStyle/>
            <a:p>
              <a:pPr>
                <a:defRPr sz="1200" b="1">
                  <a:solidFill>
                    <a:srgbClr val="0F17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solidFill>
              <a:srgbClr val="E2E8F0"/>
            </a:solidFill>
          </a:ln>
        </c:spPr>
        <c:txPr>
          <a:bodyPr/>
          <a:lstStyle/>
          <a:p>
            <a:pPr>
              <a:defRPr sz="1100">
                <a:solidFill>
                  <a:srgbClr val="475569"/>
                </a:solidFill>
              </a:defRPr>
            </a:pPr>
          </a:p>
        </c:txPr>
        <c:crossAx val="-2113994440"/>
        <c:crosses val="autoZero"/>
        <c:auto val="1"/>
        <c:lblAlgn val="ctr"/>
        <c:lblOffset val="100"/>
        <c:noMultiLvlLbl val="0"/>
      </c:catAx>
      <c:valAx>
        <c:axId val="-2113994440"/>
        <c:scaling>
          <c:max val="46.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thầy và các bạn. Nhóm 3 xin trình bày đề tài Xây dựng Hệ thống Đặt lịch và Quản lý Vận hành Salon - Spa, do thầy Cấn Tuấn Anh hướng dẫn, đồng thời là Product Owner. Nhóm gồm 10 thành viên, thực hiện theo Scrum qua 4 Sprint.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Đối tượng là salon quy mô vừa 6–8 thợ, 10–15 dịch vụ. Khảo sát cho thấy 6 vấn đề: chồng lịch, mất khách, no-show, gian lận doanh thu, thiếu dữ liệu khách và báo cáo chậm. Chồng lịch là vấn đề nặng nhất và cũng là thách thức kỹ thuật chính của đề tài.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monorepo: frontend React 18 + Vite + Tailwind, backend NestJS phân tầng Controller–Service–Repository, CSDL PostgreSQL 15. Điểm quan trọng: các quy tắc toàn vẹn cốt lõi được cài ngay trong CSDL, không chỉ ở tầng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Thầy Cấn Tuấn Anh là Product Owner. Backlog có 6 epic, 39 story, 165 point. Sprint 1: 10 story 40 point, nền tảng tài khoản và danh mục. Sprint 2: 9 story 42 point, ca làm và đặt lịch công khai. Sprint 3 và 4 gồm 20 story, 83 point: vận hành trong ngày, thanh toán, đánh giá và báo cáo. EP-04 Vận hành lịch hẹn là epic lớn nhất. Mỗi Sprint kết thúc bằng Review có demo và PO nghiệm thu.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Khách chọn tối đa 5 dịch vụ, hệ thống cộng dồn thời lượng và tiền. Bước khung giờ chỉ hiện những mốc mà thợ rảnh liên tục đủ tổng thời lượng. Bộ tính được viết thành hàm thuần, tính bằng phút từ 00:00, nên kiểm thử đơn vị dễ và nhanh: 35 ca, tất cả đạt. Giao diện tối ưu cho điện thoại 360 px.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Rủi ro lớn nhất: hai khách cùng bấm chốt một khung giờ. Nhóm dùng ba lớp độc lập: giao dịch SERIALIZABLE, khoá dòng thợ bằng SELECT FOR UPDATE để các yêu cầu xếp hàng, và ràng buộc EXCLUDE USING gist trên khoảng thời gian ở tầng CSDL. Kiểm thử bắn 20 yêu cầu đồng thời: luôn đúng 1 thành công, 19 nhận 409.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Lịch ngày là màn hình trung tâm của lễ tân: mỗi thợ một cột, trục 15 phút. Từ đây lễ tân xác nhận, check-in, đổi thợ hoặc dời giờ, đánh dấu không đến. Khi một thợ nghỉ đột xuất, chức năng chuyển lịch hàng loạt gợi ý thợ thay thế đủ kỹ năng cho từng lịch.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Thợ đăng nhập chỉ thấy lịch của chính mình. Số điện thoại khách được che ngay ở backend nên dữ liệu gốc không bao giờ gửi xuống máy của thợ. Hồ sơ khách gộp theo số điện thoại, có lịch sử 10 lượt và ghi chú kỹ thuật để phục vụ khách quen tốt hơn.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Chủ tiệm có tổng quan tự làm mới 60 giây, doanh thu theo thợ và dịch vụ, xuất CSV. Phiếu tính tiền lưu giá tại thời điểm hẹn, chỉ một mã giảm giá, phiếu đã đóng bị khoá – đây là cơ chế chống gian lận. Phân quyền theo ma trận 5 vai trò, cùng một nguồn dữ liệu cho cả giao diện và guard chặn API.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sao chép dự án sang bất kỳ máy nào, bật Docker Desktop, nhấp đúp run_project.bat. Launcher kiểm tra Node, dựng Docker, tạo .env, cài gói khi lockfile đổi, nạp dữ liệu an toàn, rồi bộ giám sát chạy API và giao diện. Bản v1.2.5 xử lý lỗi Windows 3221226505: dịch vụ sập được tự khởi động lại, Ctrl+C dừng sạch cả cây tiến trình.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Chất lượng: 35 unit test cho bộ tính khung giờ, 25 E2E test gồm phân quyền, đồng thời và vòng đời lịch hẹn, đều đạt. Build và lint 0 lỗi, 0 cảnh báo. 39/39 story được đối chiếu với mã nguồn trong BACKLOG-MAPPING, làm căn cứ cập nhật Jira. Mọi phản hồi của PO đều được xử lý và phát hành thành phiên bản có tag.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Chuẩn bị: chạy run_project.bat, mở sẵn giao diện 5173, Maildev 1080, Swagger và một cửa sổ ẩn danh. Bước 1 bạn đóng vai khách đặt lịch. Bước 2 chạy kiểm thử đồng thời. Bước 3 lễ tân xác nhận, vãng lai, check-in. Bước 4 thợ hoàn tất và ghi chú. Bước 5 lễ tân lập phiếu với mã giảm giá. Bước 6 chủ tiệm xem doanh thu, quản trị xem nhật ký. Chi tiết trong docs/DEMO-SCRIPT.md.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 nhóm đã hoàn thành 39/39 story, giải quyết trực tiếp các vấn đề của cách quản lý thủ công. Hướng phát triển: thanh toán và đặt cọc trực tuyến, nhắc lịch qua Zalo/SMS, đa chi nhánh và CI/CD. Nhóm xin cảm ơn và sẵn sàng trả lời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1.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image" Target="../media/image24.jp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1.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9.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0.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25.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34.png"/><Relationship Id="rId4"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502920"/>
            <a:ext cx="73152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TRƯỜNG ĐẠI HỌC CÔNG NGHỆ THÔNG TIN VÀ TRUYỀN THÔNG</a:t>
            </a:r>
          </a:p>
        </p:txBody>
      </p:sp>
      <p:sp>
        <p:nvSpPr>
          <p:cNvPr id="3" name="TextBox 2"/>
          <p:cNvSpPr txBox="1"/>
          <p:nvPr/>
        </p:nvSpPr>
        <p:spPr>
          <a:xfrm>
            <a:off x="548640" y="777240"/>
            <a:ext cx="7315200" cy="274320"/>
          </a:xfrm>
          <a:prstGeom prst="rect">
            <a:avLst/>
          </a:prstGeom>
          <a:noFill/>
        </p:spPr>
        <p:txBody>
          <a:bodyPr wrap="square" lIns="0" rIns="0" tIns="0" bIns="0" anchor="t">
            <a:spAutoFit/>
          </a:bodyPr>
          <a:lstStyle/>
          <a:p>
            <a:pPr algn="l">
              <a:lnSpc>
                <a:spcPct val="108000"/>
              </a:lnSpc>
              <a:spcAft>
                <a:spcPts val="400"/>
              </a:spcAft>
            </a:pPr>
            <a:r>
              <a:rPr sz="1200" b="0" i="0">
                <a:solidFill>
                  <a:srgbClr val="94A3B8"/>
                </a:solidFill>
                <a:latin typeface="Calibri"/>
              </a:rPr>
              <a:t>Báo cáo thực tập tốt nghiệp · Lớp TTCS_T926_K2S3_N3</a:t>
            </a:r>
          </a:p>
        </p:txBody>
      </p:sp>
      <p:sp>
        <p:nvSpPr>
          <p:cNvPr id="4" name="TextBox 3"/>
          <p:cNvSpPr txBox="1"/>
          <p:nvPr/>
        </p:nvSpPr>
        <p:spPr>
          <a:xfrm>
            <a:off x="548640" y="1417320"/>
            <a:ext cx="6583680" cy="2103120"/>
          </a:xfrm>
          <a:prstGeom prst="rect">
            <a:avLst/>
          </a:prstGeom>
          <a:noFill/>
        </p:spPr>
        <p:txBody>
          <a:bodyPr wrap="square" lIns="0" rIns="0" tIns="0" bIns="0" anchor="t">
            <a:spAutoFit/>
          </a:bodyPr>
          <a:lstStyle/>
          <a:p>
            <a:pPr algn="l">
              <a:lnSpc>
                <a:spcPct val="100000"/>
              </a:lnSpc>
              <a:spcAft>
                <a:spcPts val="0"/>
              </a:spcAft>
            </a:pPr>
            <a:r>
              <a:rPr sz="4200" b="1" i="0">
                <a:solidFill>
                  <a:srgbClr val="FFFFFF"/>
                </a:solidFill>
                <a:latin typeface="Calibri"/>
              </a:rPr>
              <a:t>Hệ thống Đặt lịch</a:t>
            </a:r>
          </a:p>
          <a:p>
            <a:pPr algn="l">
              <a:lnSpc>
                <a:spcPct val="100000"/>
              </a:lnSpc>
              <a:spcAft>
                <a:spcPts val="0"/>
              </a:spcAft>
            </a:pPr>
            <a:r>
              <a:rPr sz="4200" b="1" i="0">
                <a:solidFill>
                  <a:srgbClr val="FFFFFF"/>
                </a:solidFill>
                <a:latin typeface="Calibri"/>
              </a:rPr>
              <a:t>&amp; Quản lý Vận hành</a:t>
            </a:r>
          </a:p>
          <a:p>
            <a:pPr algn="l">
              <a:lnSpc>
                <a:spcPct val="100000"/>
              </a:lnSpc>
              <a:spcAft>
                <a:spcPts val="0"/>
              </a:spcAft>
            </a:pPr>
            <a:r>
              <a:rPr sz="4200" b="1" i="0">
                <a:solidFill>
                  <a:srgbClr val="5EEAD4"/>
                </a:solidFill>
                <a:latin typeface="Calibri"/>
              </a:rPr>
              <a:t>Salon - Spa</a:t>
            </a:r>
          </a:p>
        </p:txBody>
      </p:sp>
      <p:sp>
        <p:nvSpPr>
          <p:cNvPr id="5" name="TextBox 4"/>
          <p:cNvSpPr txBox="1"/>
          <p:nvPr/>
        </p:nvSpPr>
        <p:spPr>
          <a:xfrm>
            <a:off x="548640" y="3611880"/>
            <a:ext cx="6217920" cy="822960"/>
          </a:xfrm>
          <a:prstGeom prst="rect">
            <a:avLst/>
          </a:prstGeom>
          <a:noFill/>
        </p:spPr>
        <p:txBody>
          <a:bodyPr wrap="square" lIns="0" rIns="0" tIns="0" bIns="0" anchor="t">
            <a:spAutoFit/>
          </a:bodyPr>
          <a:lstStyle/>
          <a:p>
            <a:pPr algn="l">
              <a:lnSpc>
                <a:spcPct val="108000"/>
              </a:lnSpc>
              <a:spcAft>
                <a:spcPts val="400"/>
              </a:spcAft>
            </a:pPr>
            <a:r>
              <a:rPr sz="1600" b="0" i="0">
                <a:solidFill>
                  <a:srgbClr val="CBD5E1"/>
                </a:solidFill>
                <a:latin typeface="Calibri"/>
              </a:rPr>
              <a:t>Đặt lịch trực tuyến 24/7, không bao giờ chồng lịch, vận hành minh bạch từ quầy lễ tân đến báo cáo doanh thu.</a:t>
            </a:r>
          </a:p>
        </p:txBody>
      </p:sp>
      <p:sp>
        <p:nvSpPr>
          <p:cNvPr id="6" name="Rounded Rectangle 5"/>
          <p:cNvSpPr/>
          <p:nvPr/>
        </p:nvSpPr>
        <p:spPr>
          <a:xfrm>
            <a:off x="548640" y="4526280"/>
            <a:ext cx="6309360" cy="1691640"/>
          </a:xfrm>
          <a:prstGeom prst="roundRect">
            <a:avLst>
              <a:gd name="adj" fmla="val 8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645152"/>
            <a:ext cx="585216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NHÓM 3  ·  GVHD / PO: ThS. Cấn Tuấn Anh</a:t>
            </a:r>
          </a:p>
        </p:txBody>
      </p:sp>
      <p:sp>
        <p:nvSpPr>
          <p:cNvPr id="8" name="TextBox 7"/>
          <p:cNvSpPr txBox="1"/>
          <p:nvPr/>
        </p:nvSpPr>
        <p:spPr>
          <a:xfrm>
            <a:off x="822960" y="4956048"/>
            <a:ext cx="2926080" cy="1234440"/>
          </a:xfrm>
          <a:prstGeom prst="rect">
            <a:avLst/>
          </a:prstGeom>
          <a:noFill/>
        </p:spPr>
        <p:txBody>
          <a:bodyPr wrap="square" lIns="0" rIns="0" tIns="0" bIns="0" anchor="t">
            <a:spAutoFit/>
          </a:bodyPr>
          <a:lstStyle/>
          <a:p>
            <a:pPr algn="l">
              <a:lnSpc>
                <a:spcPct val="108000"/>
              </a:lnSpc>
              <a:spcAft>
                <a:spcPts val="100"/>
              </a:spcAft>
            </a:pPr>
            <a:r>
              <a:rPr sz="1250" b="0" i="0">
                <a:solidFill>
                  <a:srgbClr val="E2E8F0"/>
                </a:solidFill>
                <a:latin typeface="Calibri"/>
              </a:rPr>
              <a:t>Nguyễn Duy Linh</a:t>
            </a:r>
          </a:p>
          <a:p>
            <a:pPr algn="l">
              <a:lnSpc>
                <a:spcPct val="108000"/>
              </a:lnSpc>
              <a:spcAft>
                <a:spcPts val="100"/>
              </a:spcAft>
            </a:pPr>
            <a:r>
              <a:rPr sz="1250" b="0" i="0">
                <a:solidFill>
                  <a:srgbClr val="E2E8F0"/>
                </a:solidFill>
                <a:latin typeface="Calibri"/>
              </a:rPr>
              <a:t>Lê Thị Phương Linh</a:t>
            </a:r>
          </a:p>
          <a:p>
            <a:pPr algn="l">
              <a:lnSpc>
                <a:spcPct val="108000"/>
              </a:lnSpc>
              <a:spcAft>
                <a:spcPts val="100"/>
              </a:spcAft>
            </a:pPr>
            <a:r>
              <a:rPr sz="1250" b="0" i="0">
                <a:solidFill>
                  <a:srgbClr val="E2E8F0"/>
                </a:solidFill>
                <a:latin typeface="Calibri"/>
              </a:rPr>
              <a:t>Trương Quốc Khánh</a:t>
            </a:r>
          </a:p>
          <a:p>
            <a:pPr algn="l">
              <a:lnSpc>
                <a:spcPct val="108000"/>
              </a:lnSpc>
              <a:spcAft>
                <a:spcPts val="100"/>
              </a:spcAft>
            </a:pPr>
            <a:r>
              <a:rPr sz="1250" b="0" i="0">
                <a:solidFill>
                  <a:srgbClr val="E2E8F0"/>
                </a:solidFill>
                <a:latin typeface="Calibri"/>
              </a:rPr>
              <a:t>Nguyễn Nam Khánh</a:t>
            </a:r>
          </a:p>
          <a:p>
            <a:pPr algn="l">
              <a:lnSpc>
                <a:spcPct val="108000"/>
              </a:lnSpc>
              <a:spcAft>
                <a:spcPts val="100"/>
              </a:spcAft>
            </a:pPr>
            <a:r>
              <a:rPr sz="1250" b="0" i="0">
                <a:solidFill>
                  <a:srgbClr val="E2E8F0"/>
                </a:solidFill>
                <a:latin typeface="Calibri"/>
              </a:rPr>
              <a:t>Bùi Quang Minh</a:t>
            </a:r>
          </a:p>
        </p:txBody>
      </p:sp>
      <p:sp>
        <p:nvSpPr>
          <p:cNvPr id="9" name="TextBox 8"/>
          <p:cNvSpPr txBox="1"/>
          <p:nvPr/>
        </p:nvSpPr>
        <p:spPr>
          <a:xfrm>
            <a:off x="3794760" y="4956048"/>
            <a:ext cx="2926080" cy="1234440"/>
          </a:xfrm>
          <a:prstGeom prst="rect">
            <a:avLst/>
          </a:prstGeom>
          <a:noFill/>
        </p:spPr>
        <p:txBody>
          <a:bodyPr wrap="square" lIns="0" rIns="0" tIns="0" bIns="0" anchor="t">
            <a:spAutoFit/>
          </a:bodyPr>
          <a:lstStyle/>
          <a:p>
            <a:pPr algn="l">
              <a:lnSpc>
                <a:spcPct val="108000"/>
              </a:lnSpc>
              <a:spcAft>
                <a:spcPts val="100"/>
              </a:spcAft>
            </a:pPr>
            <a:r>
              <a:rPr sz="1250" b="0" i="0">
                <a:solidFill>
                  <a:srgbClr val="E2E8F0"/>
                </a:solidFill>
                <a:latin typeface="Calibri"/>
              </a:rPr>
              <a:t>Nguyễn Thị Hương</a:t>
            </a:r>
          </a:p>
          <a:p>
            <a:pPr algn="l">
              <a:lnSpc>
                <a:spcPct val="108000"/>
              </a:lnSpc>
              <a:spcAft>
                <a:spcPts val="100"/>
              </a:spcAft>
            </a:pPr>
            <a:r>
              <a:rPr sz="1250" b="0" i="0">
                <a:solidFill>
                  <a:srgbClr val="E2E8F0"/>
                </a:solidFill>
                <a:latin typeface="Calibri"/>
              </a:rPr>
              <a:t>Dương Đức Mạnh</a:t>
            </a:r>
          </a:p>
          <a:p>
            <a:pPr algn="l">
              <a:lnSpc>
                <a:spcPct val="108000"/>
              </a:lnSpc>
              <a:spcAft>
                <a:spcPts val="100"/>
              </a:spcAft>
            </a:pPr>
            <a:r>
              <a:rPr sz="1250" b="0" i="0">
                <a:solidFill>
                  <a:srgbClr val="E2E8F0"/>
                </a:solidFill>
                <a:latin typeface="Calibri"/>
              </a:rPr>
              <a:t>Phương Đình Khoa Nam</a:t>
            </a:r>
          </a:p>
          <a:p>
            <a:pPr algn="l">
              <a:lnSpc>
                <a:spcPct val="108000"/>
              </a:lnSpc>
              <a:spcAft>
                <a:spcPts val="100"/>
              </a:spcAft>
            </a:pPr>
            <a:r>
              <a:rPr sz="1250" b="0" i="0">
                <a:solidFill>
                  <a:srgbClr val="E2E8F0"/>
                </a:solidFill>
                <a:latin typeface="Calibri"/>
              </a:rPr>
              <a:t>Nguyễn Hoàng Long</a:t>
            </a:r>
          </a:p>
          <a:p>
            <a:pPr algn="l">
              <a:lnSpc>
                <a:spcPct val="108000"/>
              </a:lnSpc>
              <a:spcAft>
                <a:spcPts val="100"/>
              </a:spcAft>
            </a:pPr>
            <a:r>
              <a:rPr sz="1250" b="0" i="0">
                <a:solidFill>
                  <a:srgbClr val="E2E8F0"/>
                </a:solidFill>
                <a:latin typeface="Calibri"/>
              </a:rPr>
              <a:t>Phạm Mậu Lực</a:t>
            </a:r>
          </a:p>
        </p:txBody>
      </p:sp>
      <p:pic>
        <p:nvPicPr>
          <p:cNvPr id="10" name="Picture 9" descr="01_home.jpg"/>
          <p:cNvPicPr>
            <a:picLocks noChangeAspect="1"/>
          </p:cNvPicPr>
          <p:nvPr/>
        </p:nvPicPr>
        <p:blipFill>
          <a:blip r:embed="rId2"/>
          <a:srcRect/>
          <a:stretch>
            <a:fillRect/>
          </a:stretch>
        </p:blipFill>
        <p:spPr>
          <a:xfrm>
            <a:off x="7269480" y="1234440"/>
            <a:ext cx="4389120" cy="2743200"/>
          </a:xfrm>
          <a:prstGeom prst="roundRect">
            <a:avLst>
              <a:gd name="adj" fmla="val 3500"/>
            </a:avLst>
          </a:prstGeom>
          <a:ln w="12700">
            <a:solidFill>
              <a:srgbClr val="334155"/>
            </a:solidFill>
          </a:ln>
        </p:spPr>
      </p:pic>
      <p:pic>
        <p:nvPicPr>
          <p:cNvPr id="11" name="Picture 10" descr="05_timeline.jpg"/>
          <p:cNvPicPr>
            <a:picLocks noChangeAspect="1"/>
          </p:cNvPicPr>
          <p:nvPr/>
        </p:nvPicPr>
        <p:blipFill>
          <a:blip r:embed="rId3"/>
          <a:srcRect/>
          <a:stretch>
            <a:fillRect/>
          </a:stretch>
        </p:blipFill>
        <p:spPr>
          <a:xfrm>
            <a:off x="8001000" y="3566160"/>
            <a:ext cx="3657600" cy="2286000"/>
          </a:xfrm>
          <a:prstGeom prst="roundRect">
            <a:avLst>
              <a:gd name="adj" fmla="val 3500"/>
            </a:avLst>
          </a:prstGeom>
          <a:ln w="12700">
            <a:solidFill>
              <a:srgbClr val="334155"/>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02  ·  BỐI CẢNH</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Salon 6–8 thợ vẫn quản lý lịch bằng sổ tay và Zalo</a:t>
            </a:r>
          </a:p>
        </p:txBody>
      </p:sp>
      <p:sp>
        <p:nvSpPr>
          <p:cNvPr id="4" name="Rounded Rectangle 3"/>
          <p:cNvSpPr/>
          <p:nvPr/>
        </p:nvSpPr>
        <p:spPr>
          <a:xfrm>
            <a:off x="548640"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60" y="1874520"/>
            <a:ext cx="566928" cy="566928"/>
          </a:xfrm>
          <a:prstGeom prst="ellipse">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verlap_w.png"/>
          <p:cNvPicPr>
            <a:picLocks noChangeAspect="1"/>
          </p:cNvPicPr>
          <p:nvPr/>
        </p:nvPicPr>
        <p:blipFill>
          <a:blip r:embed="rId2"/>
          <a:stretch>
            <a:fillRect/>
          </a:stretch>
        </p:blipFill>
        <p:spPr>
          <a:xfrm>
            <a:off x="959022" y="2010582"/>
            <a:ext cx="294804" cy="294804"/>
          </a:xfrm>
          <a:prstGeom prst="rect">
            <a:avLst/>
          </a:prstGeom>
        </p:spPr>
      </p:pic>
      <p:sp>
        <p:nvSpPr>
          <p:cNvPr id="7" name="TextBox 6"/>
          <p:cNvSpPr txBox="1"/>
          <p:nvPr/>
        </p:nvSpPr>
        <p:spPr>
          <a:xfrm>
            <a:off x="822960"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Chồng lịch</a:t>
            </a:r>
          </a:p>
        </p:txBody>
      </p:sp>
      <p:sp>
        <p:nvSpPr>
          <p:cNvPr id="8" name="TextBox 7"/>
          <p:cNvSpPr txBox="1"/>
          <p:nvPr/>
        </p:nvSpPr>
        <p:spPr>
          <a:xfrm>
            <a:off x="822960"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Hai người cùng nhận lịch cho một thợ; dịch vụ 120 phút lấn sang lịch kế tiếp.</a:t>
            </a:r>
          </a:p>
        </p:txBody>
      </p:sp>
      <p:sp>
        <p:nvSpPr>
          <p:cNvPr id="9" name="Rounded Rectangle 8"/>
          <p:cNvSpPr/>
          <p:nvPr/>
        </p:nvSpPr>
        <p:spPr>
          <a:xfrm>
            <a:off x="4315968"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590288" y="1874520"/>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st_w.png"/>
          <p:cNvPicPr>
            <a:picLocks noChangeAspect="1"/>
          </p:cNvPicPr>
          <p:nvPr/>
        </p:nvPicPr>
        <p:blipFill>
          <a:blip r:embed="rId3"/>
          <a:stretch>
            <a:fillRect/>
          </a:stretch>
        </p:blipFill>
        <p:spPr>
          <a:xfrm>
            <a:off x="4726350" y="2010582"/>
            <a:ext cx="294804" cy="294804"/>
          </a:xfrm>
          <a:prstGeom prst="rect">
            <a:avLst/>
          </a:prstGeom>
        </p:spPr>
      </p:pic>
      <p:sp>
        <p:nvSpPr>
          <p:cNvPr id="12" name="TextBox 11"/>
          <p:cNvSpPr txBox="1"/>
          <p:nvPr/>
        </p:nvSpPr>
        <p:spPr>
          <a:xfrm>
            <a:off x="4590288"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Mất khách</a:t>
            </a:r>
          </a:p>
        </p:txBody>
      </p:sp>
      <p:sp>
        <p:nvSpPr>
          <p:cNvPr id="13" name="TextBox 12"/>
          <p:cNvSpPr txBox="1"/>
          <p:nvPr/>
        </p:nvSpPr>
        <p:spPr>
          <a:xfrm>
            <a:off x="4590288"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Tin nhắn ngoài giờ, giờ cao điểm không ai trả lời kịp — khách sang tiệm khác.</a:t>
            </a:r>
          </a:p>
        </p:txBody>
      </p:sp>
      <p:sp>
        <p:nvSpPr>
          <p:cNvPr id="14" name="Rounded Rectangle 13"/>
          <p:cNvSpPr/>
          <p:nvPr/>
        </p:nvSpPr>
        <p:spPr>
          <a:xfrm>
            <a:off x="8083296"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7616" y="1874520"/>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noshow_w.png"/>
          <p:cNvPicPr>
            <a:picLocks noChangeAspect="1"/>
          </p:cNvPicPr>
          <p:nvPr/>
        </p:nvPicPr>
        <p:blipFill>
          <a:blip r:embed="rId4"/>
          <a:stretch>
            <a:fillRect/>
          </a:stretch>
        </p:blipFill>
        <p:spPr>
          <a:xfrm>
            <a:off x="8493678" y="2010582"/>
            <a:ext cx="294804" cy="294804"/>
          </a:xfrm>
          <a:prstGeom prst="rect">
            <a:avLst/>
          </a:prstGeom>
        </p:spPr>
      </p:pic>
      <p:sp>
        <p:nvSpPr>
          <p:cNvPr id="17" name="TextBox 16"/>
          <p:cNvSpPr txBox="1"/>
          <p:nvPr/>
        </p:nvSpPr>
        <p:spPr>
          <a:xfrm>
            <a:off x="8357616"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Khách không đến</a:t>
            </a:r>
          </a:p>
        </p:txBody>
      </p:sp>
      <p:sp>
        <p:nvSpPr>
          <p:cNvPr id="18" name="TextBox 17"/>
          <p:cNvSpPr txBox="1"/>
          <p:nvPr/>
        </p:nvSpPr>
        <p:spPr>
          <a:xfrm>
            <a:off x="8357616"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Không nhắc lịch, không lưu lịch sử lỡ hẹn — thợ ngồi chờ, khung giờ bỏ phí.</a:t>
            </a:r>
          </a:p>
        </p:txBody>
      </p:sp>
      <p:sp>
        <p:nvSpPr>
          <p:cNvPr id="19" name="Rounded Rectangle 18"/>
          <p:cNvSpPr/>
          <p:nvPr/>
        </p:nvSpPr>
        <p:spPr>
          <a:xfrm>
            <a:off x="548640"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raud_w.png"/>
          <p:cNvPicPr>
            <a:picLocks noChangeAspect="1"/>
          </p:cNvPicPr>
          <p:nvPr/>
        </p:nvPicPr>
        <p:blipFill>
          <a:blip r:embed="rId5"/>
          <a:stretch>
            <a:fillRect/>
          </a:stretch>
        </p:blipFill>
        <p:spPr>
          <a:xfrm>
            <a:off x="959022" y="4369734"/>
            <a:ext cx="294804" cy="294804"/>
          </a:xfrm>
          <a:prstGeom prst="rect">
            <a:avLst/>
          </a:prstGeom>
        </p:spPr>
      </p:pic>
      <p:sp>
        <p:nvSpPr>
          <p:cNvPr id="22" name="TextBox 21"/>
          <p:cNvSpPr txBox="1"/>
          <p:nvPr/>
        </p:nvSpPr>
        <p:spPr>
          <a:xfrm>
            <a:off x="822960"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Thất thoát doanh thu</a:t>
            </a:r>
          </a:p>
        </p:txBody>
      </p:sp>
      <p:sp>
        <p:nvSpPr>
          <p:cNvPr id="23" name="TextBox 22"/>
          <p:cNvSpPr txBox="1"/>
          <p:nvPr/>
        </p:nvSpPr>
        <p:spPr>
          <a:xfrm>
            <a:off x="822960"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Thu tiền mặt không ghi phiếu, sửa sổ sau khi thu, áp ưu đãi tuỳ tiện.</a:t>
            </a:r>
          </a:p>
        </p:txBody>
      </p:sp>
      <p:sp>
        <p:nvSpPr>
          <p:cNvPr id="24" name="Rounded Rectangle 23"/>
          <p:cNvSpPr/>
          <p:nvPr/>
        </p:nvSpPr>
        <p:spPr>
          <a:xfrm>
            <a:off x="4315968"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590288"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data_w.png"/>
          <p:cNvPicPr>
            <a:picLocks noChangeAspect="1"/>
          </p:cNvPicPr>
          <p:nvPr/>
        </p:nvPicPr>
        <p:blipFill>
          <a:blip r:embed="rId6"/>
          <a:stretch>
            <a:fillRect/>
          </a:stretch>
        </p:blipFill>
        <p:spPr>
          <a:xfrm>
            <a:off x="4726350" y="4369734"/>
            <a:ext cx="294804" cy="294804"/>
          </a:xfrm>
          <a:prstGeom prst="rect">
            <a:avLst/>
          </a:prstGeom>
        </p:spPr>
      </p:pic>
      <p:sp>
        <p:nvSpPr>
          <p:cNvPr id="27" name="TextBox 26"/>
          <p:cNvSpPr txBox="1"/>
          <p:nvPr/>
        </p:nvSpPr>
        <p:spPr>
          <a:xfrm>
            <a:off x="4590288"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Không có dữ liệu khách</a:t>
            </a:r>
          </a:p>
        </p:txBody>
      </p:sp>
      <p:sp>
        <p:nvSpPr>
          <p:cNvPr id="28" name="TextBox 27"/>
          <p:cNvSpPr txBox="1"/>
          <p:nvPr/>
        </p:nvSpPr>
        <p:spPr>
          <a:xfrm>
            <a:off x="4590288"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Không biết khách từng làm gì, dùng sản phẩm nào, thích thợ nào.</a:t>
            </a:r>
          </a:p>
        </p:txBody>
      </p:sp>
      <p:sp>
        <p:nvSpPr>
          <p:cNvPr id="29" name="Rounded Rectangle 28"/>
          <p:cNvSpPr/>
          <p:nvPr/>
        </p:nvSpPr>
        <p:spPr>
          <a:xfrm>
            <a:off x="8083296"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357616"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eport_w.png"/>
          <p:cNvPicPr>
            <a:picLocks noChangeAspect="1"/>
          </p:cNvPicPr>
          <p:nvPr/>
        </p:nvPicPr>
        <p:blipFill>
          <a:blip r:embed="rId7"/>
          <a:stretch>
            <a:fillRect/>
          </a:stretch>
        </p:blipFill>
        <p:spPr>
          <a:xfrm>
            <a:off x="8493678" y="4369734"/>
            <a:ext cx="294804" cy="294804"/>
          </a:xfrm>
          <a:prstGeom prst="rect">
            <a:avLst/>
          </a:prstGeom>
        </p:spPr>
      </p:pic>
      <p:sp>
        <p:nvSpPr>
          <p:cNvPr id="32" name="TextBox 31"/>
          <p:cNvSpPr txBox="1"/>
          <p:nvPr/>
        </p:nvSpPr>
        <p:spPr>
          <a:xfrm>
            <a:off x="8357616"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Báo cáo chậm</a:t>
            </a:r>
          </a:p>
        </p:txBody>
      </p:sp>
      <p:sp>
        <p:nvSpPr>
          <p:cNvPr id="33" name="TextBox 32"/>
          <p:cNvSpPr txBox="1"/>
          <p:nvPr/>
        </p:nvSpPr>
        <p:spPr>
          <a:xfrm>
            <a:off x="8357616"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Cuối tháng mới cộng sổ; quyết định kinh doanh dựa trên cảm tính.</a:t>
            </a:r>
          </a:p>
        </p:txBody>
      </p:sp>
      <p:sp>
        <p:nvSpPr>
          <p:cNvPr id="34" name="TextBox 33"/>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5" name="TextBox 34"/>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03  ·  GIẢI PHÁP</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Monorepo phân tầng: React SPA ⇄ NestJS ⇄ PostgreSQL 15</a:t>
            </a:r>
          </a:p>
        </p:txBody>
      </p:sp>
      <p:sp>
        <p:nvSpPr>
          <p:cNvPr id="4" name="Rounded Rectangle 3"/>
          <p:cNvSpPr/>
          <p:nvPr/>
        </p:nvSpPr>
        <p:spPr>
          <a:xfrm>
            <a:off x="548640" y="1554480"/>
            <a:ext cx="7223760" cy="466344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arch.png"/>
          <p:cNvPicPr>
            <a:picLocks noChangeAspect="1"/>
          </p:cNvPicPr>
          <p:nvPr/>
        </p:nvPicPr>
        <p:blipFill>
          <a:blip r:embed="rId2"/>
          <a:stretch>
            <a:fillRect/>
          </a:stretch>
        </p:blipFill>
        <p:spPr>
          <a:xfrm>
            <a:off x="1023918" y="1691640"/>
            <a:ext cx="6273204" cy="4389120"/>
          </a:xfrm>
          <a:prstGeom prst="rect">
            <a:avLst/>
          </a:prstGeom>
        </p:spPr>
      </p:pic>
      <p:sp>
        <p:nvSpPr>
          <p:cNvPr id="6" name="Oval 5"/>
          <p:cNvSpPr/>
          <p:nvPr/>
        </p:nvSpPr>
        <p:spPr>
          <a:xfrm>
            <a:off x="8092440" y="1600200"/>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yers_w.png"/>
          <p:cNvPicPr>
            <a:picLocks noChangeAspect="1"/>
          </p:cNvPicPr>
          <p:nvPr/>
        </p:nvPicPr>
        <p:blipFill>
          <a:blip r:embed="rId3"/>
          <a:stretch>
            <a:fillRect/>
          </a:stretch>
        </p:blipFill>
        <p:spPr>
          <a:xfrm>
            <a:off x="8215335" y="1723095"/>
            <a:ext cx="266274" cy="266274"/>
          </a:xfrm>
          <a:prstGeom prst="rect">
            <a:avLst/>
          </a:prstGeom>
        </p:spPr>
      </p:pic>
      <p:sp>
        <p:nvSpPr>
          <p:cNvPr id="8" name="TextBox 7"/>
          <p:cNvSpPr txBox="1"/>
          <p:nvPr/>
        </p:nvSpPr>
        <p:spPr>
          <a:xfrm>
            <a:off x="8778240" y="1581912"/>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Controller – Service – Repository</a:t>
            </a:r>
          </a:p>
        </p:txBody>
      </p:sp>
      <p:sp>
        <p:nvSpPr>
          <p:cNvPr id="9" name="TextBox 8"/>
          <p:cNvSpPr txBox="1"/>
          <p:nvPr/>
        </p:nvSpPr>
        <p:spPr>
          <a:xfrm>
            <a:off x="8778240" y="1929384"/>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13 module nghiệp vụ, 59 endpoint REST, Swagger /api/docs</a:t>
            </a:r>
          </a:p>
        </p:txBody>
      </p:sp>
      <p:sp>
        <p:nvSpPr>
          <p:cNvPr id="10" name="Oval 9"/>
          <p:cNvSpPr/>
          <p:nvPr/>
        </p:nvSpPr>
        <p:spPr>
          <a:xfrm>
            <a:off x="8092440" y="2761488"/>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ield_w.png"/>
          <p:cNvPicPr>
            <a:picLocks noChangeAspect="1"/>
          </p:cNvPicPr>
          <p:nvPr/>
        </p:nvPicPr>
        <p:blipFill>
          <a:blip r:embed="rId4"/>
          <a:stretch>
            <a:fillRect/>
          </a:stretch>
        </p:blipFill>
        <p:spPr>
          <a:xfrm>
            <a:off x="8215335" y="2884383"/>
            <a:ext cx="266274" cy="266274"/>
          </a:xfrm>
          <a:prstGeom prst="rect">
            <a:avLst/>
          </a:prstGeom>
        </p:spPr>
      </p:pic>
      <p:sp>
        <p:nvSpPr>
          <p:cNvPr id="12" name="TextBox 11"/>
          <p:cNvSpPr txBox="1"/>
          <p:nvPr/>
        </p:nvSpPr>
        <p:spPr>
          <a:xfrm>
            <a:off x="8778240" y="2743200"/>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Guard toàn cục</a:t>
            </a:r>
          </a:p>
        </p:txBody>
      </p:sp>
      <p:sp>
        <p:nvSpPr>
          <p:cNvPr id="13" name="TextBox 12"/>
          <p:cNvSpPr txBox="1"/>
          <p:nvPr/>
        </p:nvSpPr>
        <p:spPr>
          <a:xfrm>
            <a:off x="8778240" y="3090672"/>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JWT + RBAC 5 vai trò; mọi endpoint mặc định phải đăng nhập</a:t>
            </a:r>
          </a:p>
        </p:txBody>
      </p:sp>
      <p:sp>
        <p:nvSpPr>
          <p:cNvPr id="14" name="Oval 13"/>
          <p:cNvSpPr/>
          <p:nvPr/>
        </p:nvSpPr>
        <p:spPr>
          <a:xfrm>
            <a:off x="8092440" y="3922776"/>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erver_w.png"/>
          <p:cNvPicPr>
            <a:picLocks noChangeAspect="1"/>
          </p:cNvPicPr>
          <p:nvPr/>
        </p:nvPicPr>
        <p:blipFill>
          <a:blip r:embed="rId5"/>
          <a:stretch>
            <a:fillRect/>
          </a:stretch>
        </p:blipFill>
        <p:spPr>
          <a:xfrm>
            <a:off x="8215335" y="4045671"/>
            <a:ext cx="266274" cy="266274"/>
          </a:xfrm>
          <a:prstGeom prst="rect">
            <a:avLst/>
          </a:prstGeom>
        </p:spPr>
      </p:pic>
      <p:sp>
        <p:nvSpPr>
          <p:cNvPr id="16" name="TextBox 15"/>
          <p:cNvSpPr txBox="1"/>
          <p:nvPr/>
        </p:nvSpPr>
        <p:spPr>
          <a:xfrm>
            <a:off x="8778240" y="3904488"/>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Ràng buộc ở tầng CSDL</a:t>
            </a:r>
          </a:p>
        </p:txBody>
      </p:sp>
      <p:sp>
        <p:nvSpPr>
          <p:cNvPr id="17" name="TextBox 16"/>
          <p:cNvSpPr txBox="1"/>
          <p:nvPr/>
        </p:nvSpPr>
        <p:spPr>
          <a:xfrm>
            <a:off x="8778240" y="4251960"/>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24 bảng, EXCLUDE, CHECK, trigger nhật ký chỉ đọc</a:t>
            </a:r>
          </a:p>
        </p:txBody>
      </p:sp>
      <p:sp>
        <p:nvSpPr>
          <p:cNvPr id="18" name="Oval 17"/>
          <p:cNvSpPr/>
          <p:nvPr/>
        </p:nvSpPr>
        <p:spPr>
          <a:xfrm>
            <a:off x="8092440" y="5084064"/>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alendar_w.png"/>
          <p:cNvPicPr>
            <a:picLocks noChangeAspect="1"/>
          </p:cNvPicPr>
          <p:nvPr/>
        </p:nvPicPr>
        <p:blipFill>
          <a:blip r:embed="rId6"/>
          <a:stretch>
            <a:fillRect/>
          </a:stretch>
        </p:blipFill>
        <p:spPr>
          <a:xfrm>
            <a:off x="8215335" y="5206959"/>
            <a:ext cx="266274" cy="266274"/>
          </a:xfrm>
          <a:prstGeom prst="rect">
            <a:avLst/>
          </a:prstGeom>
        </p:spPr>
      </p:pic>
      <p:sp>
        <p:nvSpPr>
          <p:cNvPr id="20" name="TextBox 19"/>
          <p:cNvSpPr txBox="1"/>
          <p:nvPr/>
        </p:nvSpPr>
        <p:spPr>
          <a:xfrm>
            <a:off x="8778240" y="5065776"/>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Giao diện Fresha</a:t>
            </a:r>
          </a:p>
        </p:txBody>
      </p:sp>
      <p:sp>
        <p:nvSpPr>
          <p:cNvPr id="21" name="TextBox 20"/>
          <p:cNvSpPr txBox="1"/>
          <p:nvPr/>
        </p:nvSpPr>
        <p:spPr>
          <a:xfrm>
            <a:off x="8778240" y="5413248"/>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36 màn hình, tối ưu 360 px, thông điệp tiếng Việt</a:t>
            </a:r>
          </a:p>
        </p:txBody>
      </p:sp>
      <p:sp>
        <p:nvSpPr>
          <p:cNvPr id="22" name="TextBox 21"/>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3" name="TextBox 22"/>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04  ·  QUY TRÌNH SCRUM</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4 Sprint · 39 User Story · 165 Story Point</a:t>
            </a:r>
          </a:p>
        </p:txBody>
      </p:sp>
      <p:sp>
        <p:nvSpPr>
          <p:cNvPr id="4" name="TextBox 3"/>
          <p:cNvSpPr txBox="1"/>
          <p:nvPr/>
        </p:nvSpPr>
        <p:spPr>
          <a:xfrm>
            <a:off x="54864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6</a:t>
            </a:r>
          </a:p>
        </p:txBody>
      </p:sp>
      <p:sp>
        <p:nvSpPr>
          <p:cNvPr id="5" name="TextBox 4"/>
          <p:cNvSpPr txBox="1"/>
          <p:nvPr/>
        </p:nvSpPr>
        <p:spPr>
          <a:xfrm>
            <a:off x="54864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Epic</a:t>
            </a:r>
          </a:p>
        </p:txBody>
      </p:sp>
      <p:sp>
        <p:nvSpPr>
          <p:cNvPr id="6" name="TextBox 5"/>
          <p:cNvSpPr txBox="1"/>
          <p:nvPr/>
        </p:nvSpPr>
        <p:spPr>
          <a:xfrm>
            <a:off x="196596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39</a:t>
            </a:r>
          </a:p>
        </p:txBody>
      </p:sp>
      <p:sp>
        <p:nvSpPr>
          <p:cNvPr id="7" name="TextBox 6"/>
          <p:cNvSpPr txBox="1"/>
          <p:nvPr/>
        </p:nvSpPr>
        <p:spPr>
          <a:xfrm>
            <a:off x="196596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User Story</a:t>
            </a:r>
          </a:p>
        </p:txBody>
      </p:sp>
      <p:sp>
        <p:nvSpPr>
          <p:cNvPr id="8" name="TextBox 7"/>
          <p:cNvSpPr txBox="1"/>
          <p:nvPr/>
        </p:nvSpPr>
        <p:spPr>
          <a:xfrm>
            <a:off x="338328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165</a:t>
            </a:r>
          </a:p>
        </p:txBody>
      </p:sp>
      <p:sp>
        <p:nvSpPr>
          <p:cNvPr id="9" name="TextBox 8"/>
          <p:cNvSpPr txBox="1"/>
          <p:nvPr/>
        </p:nvSpPr>
        <p:spPr>
          <a:xfrm>
            <a:off x="338328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Story Point</a:t>
            </a:r>
          </a:p>
        </p:txBody>
      </p:sp>
      <p:sp>
        <p:nvSpPr>
          <p:cNvPr id="10" name="TextBox 9"/>
          <p:cNvSpPr txBox="1"/>
          <p:nvPr/>
        </p:nvSpPr>
        <p:spPr>
          <a:xfrm>
            <a:off x="480060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100%</a:t>
            </a:r>
          </a:p>
        </p:txBody>
      </p:sp>
      <p:sp>
        <p:nvSpPr>
          <p:cNvPr id="11" name="TextBox 10"/>
          <p:cNvSpPr txBox="1"/>
          <p:nvPr/>
        </p:nvSpPr>
        <p:spPr>
          <a:xfrm>
            <a:off x="480060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Hoàn thành</a:t>
            </a:r>
          </a:p>
        </p:txBody>
      </p:sp>
      <p:sp>
        <p:nvSpPr>
          <p:cNvPr id="12" name="Rounded Rectangle 11"/>
          <p:cNvSpPr/>
          <p:nvPr/>
        </p:nvSpPr>
        <p:spPr>
          <a:xfrm>
            <a:off x="548640" y="2743200"/>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76656" y="2871216"/>
            <a:ext cx="1051560" cy="512064"/>
          </a:xfrm>
          <a:prstGeom prst="roundRect">
            <a:avLst>
              <a:gd name="adj" fmla="val 30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1</a:t>
            </a:r>
          </a:p>
        </p:txBody>
      </p:sp>
      <p:sp>
        <p:nvSpPr>
          <p:cNvPr id="14" name="TextBox 13"/>
          <p:cNvSpPr txBox="1"/>
          <p:nvPr/>
        </p:nvSpPr>
        <p:spPr>
          <a:xfrm>
            <a:off x="1874520" y="2834640"/>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Nền tảng tài khoản và danh mục gốc</a:t>
            </a:r>
          </a:p>
        </p:txBody>
      </p:sp>
      <p:sp>
        <p:nvSpPr>
          <p:cNvPr id="15" name="TextBox 14"/>
          <p:cNvSpPr txBox="1"/>
          <p:nvPr/>
        </p:nvSpPr>
        <p:spPr>
          <a:xfrm>
            <a:off x="1874520" y="3145536"/>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16" name="TextBox 15"/>
          <p:cNvSpPr txBox="1"/>
          <p:nvPr/>
        </p:nvSpPr>
        <p:spPr>
          <a:xfrm>
            <a:off x="4892040" y="2944368"/>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40 pt</a:t>
            </a:r>
          </a:p>
        </p:txBody>
      </p:sp>
      <p:sp>
        <p:nvSpPr>
          <p:cNvPr id="17" name="Rounded Rectangle 16"/>
          <p:cNvSpPr/>
          <p:nvPr/>
        </p:nvSpPr>
        <p:spPr>
          <a:xfrm>
            <a:off x="548640" y="3639312"/>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76656" y="3767328"/>
            <a:ext cx="1051560" cy="512064"/>
          </a:xfrm>
          <a:prstGeom prst="roundRect">
            <a:avLst>
              <a:gd name="adj" fmla="val 30000"/>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2</a:t>
            </a:r>
          </a:p>
        </p:txBody>
      </p:sp>
      <p:sp>
        <p:nvSpPr>
          <p:cNvPr id="19" name="TextBox 18"/>
          <p:cNvSpPr txBox="1"/>
          <p:nvPr/>
        </p:nvSpPr>
        <p:spPr>
          <a:xfrm>
            <a:off x="1874520" y="3730752"/>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Ca làm và đặt lịch công khai</a:t>
            </a:r>
          </a:p>
        </p:txBody>
      </p:sp>
      <p:sp>
        <p:nvSpPr>
          <p:cNvPr id="20" name="TextBox 19"/>
          <p:cNvSpPr txBox="1"/>
          <p:nvPr/>
        </p:nvSpPr>
        <p:spPr>
          <a:xfrm>
            <a:off x="1874520" y="4041648"/>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9 story</a:t>
            </a:r>
          </a:p>
        </p:txBody>
      </p:sp>
      <p:sp>
        <p:nvSpPr>
          <p:cNvPr id="21" name="TextBox 20"/>
          <p:cNvSpPr txBox="1"/>
          <p:nvPr/>
        </p:nvSpPr>
        <p:spPr>
          <a:xfrm>
            <a:off x="4892040" y="3840480"/>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42 pt</a:t>
            </a:r>
          </a:p>
        </p:txBody>
      </p:sp>
      <p:sp>
        <p:nvSpPr>
          <p:cNvPr id="22" name="Rounded Rectangle 21"/>
          <p:cNvSpPr/>
          <p:nvPr/>
        </p:nvSpPr>
        <p:spPr>
          <a:xfrm>
            <a:off x="548640" y="4535424"/>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76656" y="4663440"/>
            <a:ext cx="1051560" cy="512064"/>
          </a:xfrm>
          <a:prstGeom prst="roundRect">
            <a:avLst>
              <a:gd name="adj" fmla="val 30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3</a:t>
            </a:r>
          </a:p>
        </p:txBody>
      </p:sp>
      <p:sp>
        <p:nvSpPr>
          <p:cNvPr id="24" name="TextBox 23"/>
          <p:cNvSpPr txBox="1"/>
          <p:nvPr/>
        </p:nvSpPr>
        <p:spPr>
          <a:xfrm>
            <a:off x="1874520" y="4626864"/>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Vận hành lịch hẹn trong ngày</a:t>
            </a:r>
          </a:p>
        </p:txBody>
      </p:sp>
      <p:sp>
        <p:nvSpPr>
          <p:cNvPr id="25" name="TextBox 24"/>
          <p:cNvSpPr txBox="1"/>
          <p:nvPr/>
        </p:nvSpPr>
        <p:spPr>
          <a:xfrm>
            <a:off x="1874520" y="4937760"/>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26" name="TextBox 25"/>
          <p:cNvSpPr txBox="1"/>
          <p:nvPr/>
        </p:nvSpPr>
        <p:spPr>
          <a:xfrm>
            <a:off x="4892040" y="4736592"/>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83 pt</a:t>
            </a:r>
          </a:p>
        </p:txBody>
      </p:sp>
      <p:sp>
        <p:nvSpPr>
          <p:cNvPr id="27" name="Rounded Rectangle 26"/>
          <p:cNvSpPr/>
          <p:nvPr/>
        </p:nvSpPr>
        <p:spPr>
          <a:xfrm>
            <a:off x="548640" y="5431536"/>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76656" y="5559552"/>
            <a:ext cx="1051560" cy="512064"/>
          </a:xfrm>
          <a:prstGeom prst="roundRect">
            <a:avLst>
              <a:gd name="adj" fmla="val 30000"/>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4</a:t>
            </a:r>
          </a:p>
        </p:txBody>
      </p:sp>
      <p:sp>
        <p:nvSpPr>
          <p:cNvPr id="29" name="TextBox 28"/>
          <p:cNvSpPr txBox="1"/>
          <p:nvPr/>
        </p:nvSpPr>
        <p:spPr>
          <a:xfrm>
            <a:off x="1874520" y="5522976"/>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Thanh toán, đánh giá, báo cáo</a:t>
            </a:r>
          </a:p>
        </p:txBody>
      </p:sp>
      <p:sp>
        <p:nvSpPr>
          <p:cNvPr id="30" name="TextBox 29"/>
          <p:cNvSpPr txBox="1"/>
          <p:nvPr/>
        </p:nvSpPr>
        <p:spPr>
          <a:xfrm>
            <a:off x="1874520" y="5833872"/>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31" name="TextBox 30"/>
          <p:cNvSpPr txBox="1"/>
          <p:nvPr/>
        </p:nvSpPr>
        <p:spPr>
          <a:xfrm>
            <a:off x="4892040" y="5632704"/>
            <a:ext cx="1051560" cy="365760"/>
          </a:xfrm>
          <a:prstGeom prst="rect">
            <a:avLst/>
          </a:prstGeom>
          <a:noFill/>
        </p:spPr>
        <p:txBody>
          <a:bodyPr wrap="square" lIns="0" rIns="0" tIns="0" bIns="0" anchor="t">
            <a:spAutoFit/>
          </a:bodyPr>
          <a:lstStyle/>
          <a:p>
            <a:pPr algn="r">
              <a:lnSpc>
                <a:spcPct val="108000"/>
              </a:lnSpc>
              <a:spcAft>
                <a:spcPts val="400"/>
              </a:spcAft>
            </a:pPr>
            <a:r>
              <a:rPr sz="1200" b="0" i="0">
                <a:solidFill>
                  <a:srgbClr val="0F766E"/>
                </a:solidFill>
                <a:latin typeface="Calibri"/>
              </a:rPr>
              <a:t>(S3 + S4)</a:t>
            </a:r>
          </a:p>
        </p:txBody>
      </p:sp>
      <p:sp>
        <p:nvSpPr>
          <p:cNvPr id="32" name="Rounded Rectangle 31"/>
          <p:cNvSpPr/>
          <p:nvPr/>
        </p:nvSpPr>
        <p:spPr>
          <a:xfrm>
            <a:off x="6446520" y="1463040"/>
            <a:ext cx="5193792" cy="4754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33" name="Chart 32"/>
          <p:cNvGraphicFramePr>
            <a:graphicFrameLocks noGrp="1"/>
          </p:cNvGraphicFramePr>
          <p:nvPr/>
        </p:nvGraphicFramePr>
        <p:xfrm>
          <a:off x="6629400" y="1920240"/>
          <a:ext cx="4846320" cy="4160520"/>
        </p:xfrm>
        <a:graphic>
          <a:graphicData uri="http://schemas.openxmlformats.org/drawingml/2006/chart">
            <c:chart xmlns:c="http://schemas.openxmlformats.org/drawingml/2006/chart" r:id="rId2"/>
          </a:graphicData>
        </a:graphic>
      </p:graphicFrame>
      <p:sp>
        <p:nvSpPr>
          <p:cNvPr id="34" name="TextBox 33"/>
          <p:cNvSpPr txBox="1"/>
          <p:nvPr/>
        </p:nvSpPr>
        <p:spPr>
          <a:xfrm>
            <a:off x="6720840" y="1600200"/>
            <a:ext cx="4572000"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Story Point theo Epic</a:t>
            </a:r>
          </a:p>
        </p:txBody>
      </p:sp>
      <p:sp>
        <p:nvSpPr>
          <p:cNvPr id="35" name="TextBox 34"/>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6" name="TextBox 35"/>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05  ·  ĐIỂM SÁNG CÔNG NGHỆ 1</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Đặt lịch 4 bước &amp; bộ tính khung giờ trống 15 phút</a:t>
            </a:r>
          </a:p>
        </p:txBody>
      </p:sp>
      <p:pic>
        <p:nvPicPr>
          <p:cNvPr id="4" name="Picture 3" descr="02_booking_step1.jpg"/>
          <p:cNvPicPr>
            <a:picLocks noChangeAspect="1"/>
          </p:cNvPicPr>
          <p:nvPr/>
        </p:nvPicPr>
        <p:blipFill>
          <a:blip r:embed="rId2"/>
          <a:srcRect l="11186" r="28765"/>
          <a:stretch>
            <a:fillRect/>
          </a:stretch>
        </p:blipFill>
        <p:spPr>
          <a:xfrm>
            <a:off x="548640" y="1554480"/>
            <a:ext cx="4480560" cy="466344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pic>
        <p:nvPicPr>
          <p:cNvPr id="5" name="Picture 4" descr="03_booking_mobile.jpg"/>
          <p:cNvPicPr>
            <a:picLocks noChangeAspect="1"/>
          </p:cNvPicPr>
          <p:nvPr/>
        </p:nvPicPr>
        <p:blipFill>
          <a:blip r:embed="rId3"/>
          <a:srcRect l="2262" r="2262"/>
          <a:stretch>
            <a:fillRect/>
          </a:stretch>
        </p:blipFill>
        <p:spPr>
          <a:xfrm>
            <a:off x="5212080" y="1554480"/>
            <a:ext cx="2057400" cy="466344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6" name="TextBox 5"/>
          <p:cNvSpPr txBox="1"/>
          <p:nvPr/>
        </p:nvSpPr>
        <p:spPr>
          <a:xfrm>
            <a:off x="7589520" y="1554480"/>
            <a:ext cx="4023360" cy="36576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Giải thuật (hàm thuần, 35 ca kiểm thử)</a:t>
            </a:r>
          </a:p>
        </p:txBody>
      </p:sp>
      <p:sp>
        <p:nvSpPr>
          <p:cNvPr id="7" name="Oval 6"/>
          <p:cNvSpPr/>
          <p:nvPr/>
        </p:nvSpPr>
        <p:spPr>
          <a:xfrm>
            <a:off x="7589520" y="201168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8" name="TextBox 7"/>
          <p:cNvSpPr txBox="1"/>
          <p:nvPr/>
        </p:nvSpPr>
        <p:spPr>
          <a:xfrm>
            <a:off x="8183880" y="198424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Khoảng làm việc</a:t>
            </a:r>
          </a:p>
        </p:txBody>
      </p:sp>
      <p:sp>
        <p:nvSpPr>
          <p:cNvPr id="9" name="TextBox 8"/>
          <p:cNvSpPr txBox="1"/>
          <p:nvPr/>
        </p:nvSpPr>
        <p:spPr>
          <a:xfrm>
            <a:off x="8183880" y="228600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Giao ca làm của thợ với giờ mở cửa</a:t>
            </a:r>
          </a:p>
        </p:txBody>
      </p:sp>
      <p:sp>
        <p:nvSpPr>
          <p:cNvPr id="10" name="Oval 9"/>
          <p:cNvSpPr/>
          <p:nvPr/>
        </p:nvSpPr>
        <p:spPr>
          <a:xfrm>
            <a:off x="7589520" y="283464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1" name="TextBox 10"/>
          <p:cNvSpPr txBox="1"/>
          <p:nvPr/>
        </p:nvSpPr>
        <p:spPr>
          <a:xfrm>
            <a:off x="8183880" y="280720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Trừ khoảng bận</a:t>
            </a:r>
          </a:p>
        </p:txBody>
      </p:sp>
      <p:sp>
        <p:nvSpPr>
          <p:cNvPr id="12" name="TextBox 11"/>
          <p:cNvSpPr txBox="1"/>
          <p:nvPr/>
        </p:nvSpPr>
        <p:spPr>
          <a:xfrm>
            <a:off x="8183880" y="310896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Nghỉ giữa ca, lịch đã có, ngày nghỉ tiệm / thợ</a:t>
            </a:r>
          </a:p>
        </p:txBody>
      </p:sp>
      <p:sp>
        <p:nvSpPr>
          <p:cNvPr id="13" name="Oval 12"/>
          <p:cNvSpPr/>
          <p:nvPr/>
        </p:nvSpPr>
        <p:spPr>
          <a:xfrm>
            <a:off x="7589520" y="365760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4" name="TextBox 13"/>
          <p:cNvSpPr txBox="1"/>
          <p:nvPr/>
        </p:nvSpPr>
        <p:spPr>
          <a:xfrm>
            <a:off x="8183880" y="363016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Sinh mốc 15 phút</a:t>
            </a:r>
          </a:p>
        </p:txBody>
      </p:sp>
      <p:sp>
        <p:nvSpPr>
          <p:cNvPr id="15" name="TextBox 14"/>
          <p:cNvSpPr txBox="1"/>
          <p:nvPr/>
        </p:nvSpPr>
        <p:spPr>
          <a:xfrm>
            <a:off x="8183880" y="393192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Nhận t nếu [t, t + D) nằm trọn trong khoảng rảnh</a:t>
            </a:r>
          </a:p>
        </p:txBody>
      </p:sp>
      <p:sp>
        <p:nvSpPr>
          <p:cNvPr id="16" name="Oval 15"/>
          <p:cNvSpPr/>
          <p:nvPr/>
        </p:nvSpPr>
        <p:spPr>
          <a:xfrm>
            <a:off x="7589520" y="448056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7" name="TextBox 16"/>
          <p:cNvSpPr txBox="1"/>
          <p:nvPr/>
        </p:nvSpPr>
        <p:spPr>
          <a:xfrm>
            <a:off x="8183880" y="445312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Lọc thời điểm</a:t>
            </a:r>
          </a:p>
        </p:txBody>
      </p:sp>
      <p:sp>
        <p:nvSpPr>
          <p:cNvPr id="18" name="TextBox 17"/>
          <p:cNvSpPr txBox="1"/>
          <p:nvPr/>
        </p:nvSpPr>
        <p:spPr>
          <a:xfrm>
            <a:off x="8183880" y="475488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Bỏ quá khứ và mốc cách hiện tại &lt; 60 phút</a:t>
            </a:r>
          </a:p>
        </p:txBody>
      </p:sp>
      <p:sp>
        <p:nvSpPr>
          <p:cNvPr id="19" name="Oval 18"/>
          <p:cNvSpPr/>
          <p:nvPr/>
        </p:nvSpPr>
        <p:spPr>
          <a:xfrm>
            <a:off x="7589520" y="530352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0" name="TextBox 19"/>
          <p:cNvSpPr txBox="1"/>
          <p:nvPr/>
        </p:nvSpPr>
        <p:spPr>
          <a:xfrm>
            <a:off x="8183880" y="527608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Thợ bất kỳ</a:t>
            </a:r>
          </a:p>
        </p:txBody>
      </p:sp>
      <p:sp>
        <p:nvSpPr>
          <p:cNvPr id="21" name="TextBox 20"/>
          <p:cNvSpPr txBox="1"/>
          <p:nvPr/>
        </p:nvSpPr>
        <p:spPr>
          <a:xfrm>
            <a:off x="8183880" y="557784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Hợp thợ đủ kỹ năng, ưu tiên thợ ít lịch; gợi ý 2 ngày còn chỗ</a:t>
            </a:r>
          </a:p>
        </p:txBody>
      </p:sp>
      <p:sp>
        <p:nvSpPr>
          <p:cNvPr id="22" name="TextBox 21"/>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3" name="TextBox 22"/>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06  ·  ĐIỂM SÁNG CÔNG NGHỆ 2</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Chống đặt trùng: SERIALIZABLE + FOR UPDATE + EXCLUDE</a:t>
            </a:r>
          </a:p>
        </p:txBody>
      </p:sp>
      <p:sp>
        <p:nvSpPr>
          <p:cNvPr id="4" name="Rounded Rectangle 3"/>
          <p:cNvSpPr/>
          <p:nvPr/>
        </p:nvSpPr>
        <p:spPr>
          <a:xfrm>
            <a:off x="548640" y="1554480"/>
            <a:ext cx="7818120" cy="3977639"/>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ock.png"/>
          <p:cNvPicPr>
            <a:picLocks noChangeAspect="1"/>
          </p:cNvPicPr>
          <p:nvPr/>
        </p:nvPicPr>
        <p:blipFill>
          <a:blip r:embed="rId2"/>
          <a:stretch>
            <a:fillRect/>
          </a:stretch>
        </p:blipFill>
        <p:spPr>
          <a:xfrm>
            <a:off x="685800" y="1936787"/>
            <a:ext cx="7543800" cy="3203881"/>
          </a:xfrm>
          <a:prstGeom prst="rect">
            <a:avLst/>
          </a:prstGeom>
        </p:spPr>
      </p:pic>
      <p:sp>
        <p:nvSpPr>
          <p:cNvPr id="6" name="Rounded Rectangle 5"/>
          <p:cNvSpPr/>
          <p:nvPr/>
        </p:nvSpPr>
        <p:spPr>
          <a:xfrm>
            <a:off x="8641080" y="1554480"/>
            <a:ext cx="2999232" cy="3977639"/>
          </a:xfrm>
          <a:prstGeom prst="roundRect">
            <a:avLst>
              <a:gd name="adj" fmla="val 8000"/>
            </a:avLst>
          </a:prstGeom>
          <a:solidFill>
            <a:srgbClr val="0F172A"/>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915400" y="1783080"/>
            <a:ext cx="2468880" cy="274320"/>
          </a:xfrm>
          <a:prstGeom prst="rect">
            <a:avLst/>
          </a:prstGeom>
          <a:noFill/>
        </p:spPr>
        <p:txBody>
          <a:bodyPr wrap="square" lIns="0" rIns="0" tIns="0" bIns="0" anchor="t">
            <a:spAutoFit/>
          </a:bodyPr>
          <a:lstStyle/>
          <a:p>
            <a:pPr algn="l">
              <a:lnSpc>
                <a:spcPct val="108000"/>
              </a:lnSpc>
              <a:spcAft>
                <a:spcPts val="400"/>
              </a:spcAft>
            </a:pPr>
            <a:r>
              <a:rPr sz="1150" b="1" i="0">
                <a:solidFill>
                  <a:srgbClr val="5EEAD4"/>
                </a:solidFill>
                <a:latin typeface="Calibri"/>
              </a:rPr>
              <a:t>KIỂM THỬ E2E ĐỒNG THỜI</a:t>
            </a:r>
          </a:p>
        </p:txBody>
      </p:sp>
      <p:sp>
        <p:nvSpPr>
          <p:cNvPr id="8" name="TextBox 7"/>
          <p:cNvSpPr txBox="1"/>
          <p:nvPr/>
        </p:nvSpPr>
        <p:spPr>
          <a:xfrm>
            <a:off x="8915400" y="2103120"/>
            <a:ext cx="2468880" cy="822960"/>
          </a:xfrm>
          <a:prstGeom prst="rect">
            <a:avLst/>
          </a:prstGeom>
          <a:noFill/>
        </p:spPr>
        <p:txBody>
          <a:bodyPr wrap="square" lIns="0" rIns="0" tIns="0" bIns="0" anchor="t">
            <a:spAutoFit/>
          </a:bodyPr>
          <a:lstStyle/>
          <a:p>
            <a:pPr algn="l">
              <a:lnSpc>
                <a:spcPct val="108000"/>
              </a:lnSpc>
              <a:spcAft>
                <a:spcPts val="400"/>
              </a:spcAft>
            </a:pPr>
            <a:r>
              <a:rPr sz="6000" b="1" i="0">
                <a:solidFill>
                  <a:srgbClr val="FFFFFF"/>
                </a:solidFill>
                <a:latin typeface="Calibri"/>
              </a:rPr>
              <a:t>20</a:t>
            </a:r>
          </a:p>
        </p:txBody>
      </p:sp>
      <p:sp>
        <p:nvSpPr>
          <p:cNvPr id="9" name="TextBox 8"/>
          <p:cNvSpPr txBox="1"/>
          <p:nvPr/>
        </p:nvSpPr>
        <p:spPr>
          <a:xfrm>
            <a:off x="8915400" y="2971800"/>
            <a:ext cx="246888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CBD5E1"/>
                </a:solidFill>
                <a:latin typeface="Calibri"/>
              </a:rPr>
              <a:t>yêu cầu cùng khung giờ, cùng thợ</a:t>
            </a:r>
          </a:p>
        </p:txBody>
      </p:sp>
      <p:sp>
        <p:nvSpPr>
          <p:cNvPr id="10" name="TextBox 9"/>
          <p:cNvSpPr txBox="1"/>
          <p:nvPr/>
        </p:nvSpPr>
        <p:spPr>
          <a:xfrm>
            <a:off x="8915400" y="3566160"/>
            <a:ext cx="2468880" cy="548640"/>
          </a:xfrm>
          <a:prstGeom prst="rect">
            <a:avLst/>
          </a:prstGeom>
          <a:noFill/>
        </p:spPr>
        <p:txBody>
          <a:bodyPr wrap="square" lIns="0" rIns="0" tIns="0" bIns="0" anchor="t">
            <a:spAutoFit/>
          </a:bodyPr>
          <a:lstStyle/>
          <a:p>
            <a:pPr algn="l">
              <a:lnSpc>
                <a:spcPct val="108000"/>
              </a:lnSpc>
              <a:spcAft>
                <a:spcPts val="400"/>
              </a:spcAft>
            </a:pPr>
            <a:r>
              <a:rPr sz="3400" b="1" i="0">
                <a:solidFill>
                  <a:srgbClr val="5EEAD4"/>
                </a:solidFill>
                <a:latin typeface="Calibri"/>
              </a:rPr>
              <a:t>1</a:t>
            </a:r>
            <a:r>
              <a:rPr sz="1400" b="0" i="0">
                <a:solidFill>
                  <a:srgbClr val="FFFFFF"/>
                </a:solidFill>
                <a:latin typeface="Calibri"/>
              </a:rPr>
              <a:t> thành công (201)</a:t>
            </a:r>
          </a:p>
        </p:txBody>
      </p:sp>
      <p:sp>
        <p:nvSpPr>
          <p:cNvPr id="11" name="TextBox 10"/>
          <p:cNvSpPr txBox="1"/>
          <p:nvPr/>
        </p:nvSpPr>
        <p:spPr>
          <a:xfrm>
            <a:off x="8915400" y="4206240"/>
            <a:ext cx="2468880" cy="548640"/>
          </a:xfrm>
          <a:prstGeom prst="rect">
            <a:avLst/>
          </a:prstGeom>
          <a:noFill/>
        </p:spPr>
        <p:txBody>
          <a:bodyPr wrap="square" lIns="0" rIns="0" tIns="0" bIns="0" anchor="t">
            <a:spAutoFit/>
          </a:bodyPr>
          <a:lstStyle/>
          <a:p>
            <a:pPr algn="l">
              <a:lnSpc>
                <a:spcPct val="108000"/>
              </a:lnSpc>
              <a:spcAft>
                <a:spcPts val="400"/>
              </a:spcAft>
            </a:pPr>
            <a:r>
              <a:rPr sz="3400" b="1" i="0">
                <a:solidFill>
                  <a:srgbClr val="FDA4AF"/>
                </a:solidFill>
                <a:latin typeface="Calibri"/>
              </a:rPr>
              <a:t>19</a:t>
            </a:r>
            <a:r>
              <a:rPr sz="1400" b="0" i="0">
                <a:solidFill>
                  <a:srgbClr val="FFFFFF"/>
                </a:solidFill>
                <a:latin typeface="Calibri"/>
              </a:rPr>
              <a:t> nhận 409</a:t>
            </a:r>
          </a:p>
        </p:txBody>
      </p:sp>
      <p:sp>
        <p:nvSpPr>
          <p:cNvPr id="12" name="TextBox 11"/>
          <p:cNvSpPr txBox="1"/>
          <p:nvPr/>
        </p:nvSpPr>
        <p:spPr>
          <a:xfrm>
            <a:off x="8915400" y="4892040"/>
            <a:ext cx="2468880" cy="548640"/>
          </a:xfrm>
          <a:prstGeom prst="rect">
            <a:avLst/>
          </a:prstGeom>
          <a:noFill/>
        </p:spPr>
        <p:txBody>
          <a:bodyPr wrap="square" lIns="0" rIns="0" tIns="0" bIns="0" anchor="t">
            <a:spAutoFit/>
          </a:bodyPr>
          <a:lstStyle/>
          <a:p>
            <a:pPr algn="l">
              <a:lnSpc>
                <a:spcPct val="108000"/>
              </a:lnSpc>
              <a:spcAft>
                <a:spcPts val="400"/>
              </a:spcAft>
            </a:pPr>
            <a:r>
              <a:rPr sz="1200" b="0" i="0">
                <a:solidFill>
                  <a:srgbClr val="94A3B8"/>
                </a:solidFill>
                <a:latin typeface="Calibri"/>
              </a:rPr>
              <a:t>Kết quả ổn định qua mọi lần chạy</a:t>
            </a:r>
          </a:p>
        </p:txBody>
      </p:sp>
      <p:sp>
        <p:nvSpPr>
          <p:cNvPr id="13" name="Rounded Rectangle 12"/>
          <p:cNvSpPr/>
          <p:nvPr/>
        </p:nvSpPr>
        <p:spPr>
          <a:xfrm>
            <a:off x="548640"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76656"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ck_w.png"/>
          <p:cNvPicPr>
            <a:picLocks noChangeAspect="1"/>
          </p:cNvPicPr>
          <p:nvPr/>
        </p:nvPicPr>
        <p:blipFill>
          <a:blip r:embed="rId3"/>
          <a:stretch>
            <a:fillRect/>
          </a:stretch>
        </p:blipFill>
        <p:spPr>
          <a:xfrm>
            <a:off x="786384" y="5879592"/>
            <a:ext cx="237744" cy="237744"/>
          </a:xfrm>
          <a:prstGeom prst="rect">
            <a:avLst/>
          </a:prstGeom>
        </p:spPr>
      </p:pic>
      <p:sp>
        <p:nvSpPr>
          <p:cNvPr id="16" name="TextBox 15"/>
          <p:cNvSpPr txBox="1"/>
          <p:nvPr/>
        </p:nvSpPr>
        <p:spPr>
          <a:xfrm>
            <a:off x="1261872"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1 · SERIALIZABLE</a:t>
            </a:r>
          </a:p>
        </p:txBody>
      </p:sp>
      <p:sp>
        <p:nvSpPr>
          <p:cNvPr id="17" name="TextBox 16"/>
          <p:cNvSpPr txBox="1"/>
          <p:nvPr/>
        </p:nvSpPr>
        <p:spPr>
          <a:xfrm>
            <a:off x="1261872"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Xung đột 40001 → tự chạy lại ≤ 3 lần</a:t>
            </a:r>
          </a:p>
        </p:txBody>
      </p:sp>
      <p:sp>
        <p:nvSpPr>
          <p:cNvPr id="18" name="Rounded Rectangle 17"/>
          <p:cNvSpPr/>
          <p:nvPr/>
        </p:nvSpPr>
        <p:spPr>
          <a:xfrm>
            <a:off x="4315968"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4443984"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key_w.png"/>
          <p:cNvPicPr>
            <a:picLocks noChangeAspect="1"/>
          </p:cNvPicPr>
          <p:nvPr/>
        </p:nvPicPr>
        <p:blipFill>
          <a:blip r:embed="rId4"/>
          <a:stretch>
            <a:fillRect/>
          </a:stretch>
        </p:blipFill>
        <p:spPr>
          <a:xfrm>
            <a:off x="4553712" y="5879592"/>
            <a:ext cx="237744" cy="237744"/>
          </a:xfrm>
          <a:prstGeom prst="rect">
            <a:avLst/>
          </a:prstGeom>
        </p:spPr>
      </p:pic>
      <p:sp>
        <p:nvSpPr>
          <p:cNvPr id="21" name="TextBox 20"/>
          <p:cNvSpPr txBox="1"/>
          <p:nvPr/>
        </p:nvSpPr>
        <p:spPr>
          <a:xfrm>
            <a:off x="5029200"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2 · FOR UPDATE</a:t>
            </a:r>
          </a:p>
        </p:txBody>
      </p:sp>
      <p:sp>
        <p:nvSpPr>
          <p:cNvPr id="22" name="TextBox 21"/>
          <p:cNvSpPr txBox="1"/>
          <p:nvPr/>
        </p:nvSpPr>
        <p:spPr>
          <a:xfrm>
            <a:off x="5029200"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Khoá dòng thợ: yêu cầu xếp hàng</a:t>
            </a:r>
          </a:p>
        </p:txBody>
      </p:sp>
      <p:sp>
        <p:nvSpPr>
          <p:cNvPr id="23" name="Rounded Rectangle 22"/>
          <p:cNvSpPr/>
          <p:nvPr/>
        </p:nvSpPr>
        <p:spPr>
          <a:xfrm>
            <a:off x="8083296"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211312"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_w.png"/>
          <p:cNvPicPr>
            <a:picLocks noChangeAspect="1"/>
          </p:cNvPicPr>
          <p:nvPr/>
        </p:nvPicPr>
        <p:blipFill>
          <a:blip r:embed="rId5"/>
          <a:stretch>
            <a:fillRect/>
          </a:stretch>
        </p:blipFill>
        <p:spPr>
          <a:xfrm>
            <a:off x="8321040" y="5879592"/>
            <a:ext cx="237744" cy="237744"/>
          </a:xfrm>
          <a:prstGeom prst="rect">
            <a:avLst/>
          </a:prstGeom>
        </p:spPr>
      </p:pic>
      <p:sp>
        <p:nvSpPr>
          <p:cNvPr id="26" name="TextBox 25"/>
          <p:cNvSpPr txBox="1"/>
          <p:nvPr/>
        </p:nvSpPr>
        <p:spPr>
          <a:xfrm>
            <a:off x="8796528"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3 · EXCLUDE gist</a:t>
            </a:r>
          </a:p>
        </p:txBody>
      </p:sp>
      <p:sp>
        <p:nvSpPr>
          <p:cNvPr id="27" name="TextBox 26"/>
          <p:cNvSpPr txBox="1"/>
          <p:nvPr/>
        </p:nvSpPr>
        <p:spPr>
          <a:xfrm>
            <a:off x="8796528"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CSDL chặn cả khi ghi thẳng bảng</a:t>
            </a:r>
          </a:p>
        </p:txBody>
      </p:sp>
      <p:sp>
        <p:nvSpPr>
          <p:cNvPr id="28" name="TextBox 2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9" name="TextBox 2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07  ·  NGHIỆP VỤ LỄ TÂN</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Lịch ngày trực quan, check-in 1 chạm, chuyển thợ hàng loạt</a:t>
            </a:r>
          </a:p>
        </p:txBody>
      </p:sp>
      <p:pic>
        <p:nvPicPr>
          <p:cNvPr id="4" name="Picture 3" descr="05_timeline.jpg"/>
          <p:cNvPicPr>
            <a:picLocks noChangeAspect="1"/>
          </p:cNvPicPr>
          <p:nvPr/>
        </p:nvPicPr>
        <p:blipFill>
          <a:blip r:embed="rId2"/>
          <a:srcRect/>
          <a:stretch>
            <a:fillRect/>
          </a:stretch>
        </p:blipFill>
        <p:spPr>
          <a:xfrm>
            <a:off x="548640" y="1554480"/>
            <a:ext cx="6949440" cy="43434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Oval 4"/>
          <p:cNvSpPr/>
          <p:nvPr/>
        </p:nvSpPr>
        <p:spPr>
          <a:xfrm>
            <a:off x="7818120" y="155448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meline_w.png"/>
          <p:cNvPicPr>
            <a:picLocks noChangeAspect="1"/>
          </p:cNvPicPr>
          <p:nvPr/>
        </p:nvPicPr>
        <p:blipFill>
          <a:blip r:embed="rId3"/>
          <a:stretch>
            <a:fillRect/>
          </a:stretch>
        </p:blipFill>
        <p:spPr>
          <a:xfrm>
            <a:off x="7936626" y="1672986"/>
            <a:ext cx="256764" cy="256764"/>
          </a:xfrm>
          <a:prstGeom prst="rect">
            <a:avLst/>
          </a:prstGeom>
        </p:spPr>
      </p:pic>
      <p:sp>
        <p:nvSpPr>
          <p:cNvPr id="7" name="TextBox 6"/>
          <p:cNvSpPr txBox="1"/>
          <p:nvPr/>
        </p:nvSpPr>
        <p:spPr>
          <a:xfrm>
            <a:off x="8476488" y="153619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Timeline 15 phút</a:t>
            </a:r>
          </a:p>
        </p:txBody>
      </p:sp>
      <p:sp>
        <p:nvSpPr>
          <p:cNvPr id="8" name="TextBox 7"/>
          <p:cNvSpPr txBox="1"/>
          <p:nvPr/>
        </p:nvSpPr>
        <p:spPr>
          <a:xfrm>
            <a:off x="8476488" y="184708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Mỗi thợ một cột, vạch đỏ giờ hiện tại, vùng ngoài ca tô sọc; bấm lịch để thao tác.</a:t>
            </a:r>
          </a:p>
        </p:txBody>
      </p:sp>
      <p:sp>
        <p:nvSpPr>
          <p:cNvPr id="9" name="Oval 8"/>
          <p:cNvSpPr/>
          <p:nvPr/>
        </p:nvSpPr>
        <p:spPr>
          <a:xfrm>
            <a:off x="7818120" y="265176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w.png"/>
          <p:cNvPicPr>
            <a:picLocks noChangeAspect="1"/>
          </p:cNvPicPr>
          <p:nvPr/>
        </p:nvPicPr>
        <p:blipFill>
          <a:blip r:embed="rId4"/>
          <a:stretch>
            <a:fillRect/>
          </a:stretch>
        </p:blipFill>
        <p:spPr>
          <a:xfrm>
            <a:off x="7936626" y="2770266"/>
            <a:ext cx="256764" cy="256764"/>
          </a:xfrm>
          <a:prstGeom prst="rect">
            <a:avLst/>
          </a:prstGeom>
        </p:spPr>
      </p:pic>
      <p:sp>
        <p:nvSpPr>
          <p:cNvPr id="11" name="TextBox 10"/>
          <p:cNvSpPr txBox="1"/>
          <p:nvPr/>
        </p:nvSpPr>
        <p:spPr>
          <a:xfrm>
            <a:off x="8476488" y="263347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Check-in 1 chạm</a:t>
            </a:r>
          </a:p>
        </p:txBody>
      </p:sp>
      <p:sp>
        <p:nvSpPr>
          <p:cNvPr id="12" name="TextBox 11"/>
          <p:cNvSpPr txBox="1"/>
          <p:nvPr/>
        </p:nvSpPr>
        <p:spPr>
          <a:xfrm>
            <a:off x="8476488" y="294436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Cửa sổ ±60 phút, tự đánh dấu đến muộn &gt; 15 phút, báo ngay cho thợ.</a:t>
            </a:r>
          </a:p>
        </p:txBody>
      </p:sp>
      <p:sp>
        <p:nvSpPr>
          <p:cNvPr id="13" name="Oval 12"/>
          <p:cNvSpPr/>
          <p:nvPr/>
        </p:nvSpPr>
        <p:spPr>
          <a:xfrm>
            <a:off x="7818120" y="374904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_w.png"/>
          <p:cNvPicPr>
            <a:picLocks noChangeAspect="1"/>
          </p:cNvPicPr>
          <p:nvPr/>
        </p:nvPicPr>
        <p:blipFill>
          <a:blip r:embed="rId5"/>
          <a:stretch>
            <a:fillRect/>
          </a:stretch>
        </p:blipFill>
        <p:spPr>
          <a:xfrm>
            <a:off x="7936626" y="3867546"/>
            <a:ext cx="256764" cy="256764"/>
          </a:xfrm>
          <a:prstGeom prst="rect">
            <a:avLst/>
          </a:prstGeom>
        </p:spPr>
      </p:pic>
      <p:sp>
        <p:nvSpPr>
          <p:cNvPr id="15" name="TextBox 14"/>
          <p:cNvSpPr txBox="1"/>
          <p:nvPr/>
        </p:nvSpPr>
        <p:spPr>
          <a:xfrm>
            <a:off x="8476488" y="373075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Khách vãng lai</a:t>
            </a:r>
          </a:p>
        </p:txBody>
      </p:sp>
      <p:sp>
        <p:nvSpPr>
          <p:cNvPr id="16" name="TextBox 15"/>
          <p:cNvSpPr txBox="1"/>
          <p:nvPr/>
        </p:nvSpPr>
        <p:spPr>
          <a:xfrm>
            <a:off x="8476488" y="404164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Gõ SĐT tự điền hồ sơ; lịch tại quầy vào thẳng Đã xác nhận.</a:t>
            </a:r>
          </a:p>
        </p:txBody>
      </p:sp>
      <p:sp>
        <p:nvSpPr>
          <p:cNvPr id="17" name="Oval 16"/>
          <p:cNvSpPr/>
          <p:nvPr/>
        </p:nvSpPr>
        <p:spPr>
          <a:xfrm>
            <a:off x="7818120" y="484632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wap_w.png"/>
          <p:cNvPicPr>
            <a:picLocks noChangeAspect="1"/>
          </p:cNvPicPr>
          <p:nvPr/>
        </p:nvPicPr>
        <p:blipFill>
          <a:blip r:embed="rId6"/>
          <a:stretch>
            <a:fillRect/>
          </a:stretch>
        </p:blipFill>
        <p:spPr>
          <a:xfrm>
            <a:off x="7936626" y="4964826"/>
            <a:ext cx="256764" cy="256764"/>
          </a:xfrm>
          <a:prstGeom prst="rect">
            <a:avLst/>
          </a:prstGeom>
        </p:spPr>
      </p:pic>
      <p:sp>
        <p:nvSpPr>
          <p:cNvPr id="19" name="TextBox 18"/>
          <p:cNvSpPr txBox="1"/>
          <p:nvPr/>
        </p:nvSpPr>
        <p:spPr>
          <a:xfrm>
            <a:off x="8476488" y="482803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Chuyển lịch hàng loạt</a:t>
            </a:r>
          </a:p>
        </p:txBody>
      </p:sp>
      <p:sp>
        <p:nvSpPr>
          <p:cNvPr id="20" name="TextBox 19"/>
          <p:cNvSpPr txBox="1"/>
          <p:nvPr/>
        </p:nvSpPr>
        <p:spPr>
          <a:xfrm>
            <a:off x="8476488" y="513892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Thợ nghỉ đột xuất → gợi ý thợ thay thế đủ kỹ năng hoặc dời giờ; lỗi một lịch không hỏng cả lô.</a:t>
            </a:r>
          </a:p>
        </p:txBody>
      </p:sp>
      <p:sp>
        <p:nvSpPr>
          <p:cNvPr id="21" name="TextBox 20"/>
          <p:cNvSpPr txBox="1"/>
          <p:nvPr/>
        </p:nvSpPr>
        <p:spPr>
          <a:xfrm>
            <a:off x="548640" y="5989320"/>
            <a:ext cx="694944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94A3B8"/>
                </a:solidFill>
                <a:latin typeface="Calibri"/>
              </a:rPr>
              <a:t>Màn hình Lịch ngày – trang đích của Lễ tân sau khi đăng nhập</a:t>
            </a:r>
          </a:p>
        </p:txBody>
      </p:sp>
      <p:sp>
        <p:nvSpPr>
          <p:cNvPr id="22" name="TextBox 21"/>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3" name="TextBox 22"/>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08  ·  NGHIỆP VỤ THỢ &amp; KHÁCH HÀNG</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Lịch riêng tư, bảo mật thông tin khách, CRM tích hợp</a:t>
            </a:r>
          </a:p>
        </p:txBody>
      </p:sp>
      <p:pic>
        <p:nvPicPr>
          <p:cNvPr id="4" name="Picture 3" descr="11_stylist.jpg"/>
          <p:cNvPicPr>
            <a:picLocks noChangeAspect="1"/>
          </p:cNvPicPr>
          <p:nvPr/>
        </p:nvPicPr>
        <p:blipFill>
          <a:blip r:embed="rId2"/>
          <a:srcRect l="417" r="417"/>
          <a:stretch>
            <a:fillRect/>
          </a:stretch>
        </p:blipFill>
        <p:spPr>
          <a:xfrm>
            <a:off x="548640" y="1554480"/>
            <a:ext cx="5440680" cy="34290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pic>
        <p:nvPicPr>
          <p:cNvPr id="5" name="Picture 4" descr="10_customers.jpg"/>
          <p:cNvPicPr>
            <a:picLocks noChangeAspect="1"/>
          </p:cNvPicPr>
          <p:nvPr/>
        </p:nvPicPr>
        <p:blipFill>
          <a:blip r:embed="rId3"/>
          <a:srcRect l="417" r="417"/>
          <a:stretch>
            <a:fillRect/>
          </a:stretch>
        </p:blipFill>
        <p:spPr>
          <a:xfrm>
            <a:off x="6199632" y="1554480"/>
            <a:ext cx="5440680" cy="34290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6" name="Rounded Rectangle 5"/>
          <p:cNvSpPr/>
          <p:nvPr/>
        </p:nvSpPr>
        <p:spPr>
          <a:xfrm>
            <a:off x="548640"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issors_w.png"/>
          <p:cNvPicPr>
            <a:picLocks noChangeAspect="1"/>
          </p:cNvPicPr>
          <p:nvPr/>
        </p:nvPicPr>
        <p:blipFill>
          <a:blip r:embed="rId4"/>
          <a:stretch>
            <a:fillRect/>
          </a:stretch>
        </p:blipFill>
        <p:spPr>
          <a:xfrm>
            <a:off x="832469" y="5386181"/>
            <a:ext cx="218726" cy="218726"/>
          </a:xfrm>
          <a:prstGeom prst="rect">
            <a:avLst/>
          </a:prstGeom>
        </p:spPr>
      </p:pic>
      <p:sp>
        <p:nvSpPr>
          <p:cNvPr id="9" name="TextBox 8"/>
          <p:cNvSpPr txBox="1"/>
          <p:nvPr/>
        </p:nvSpPr>
        <p:spPr>
          <a:xfrm>
            <a:off x="1261872"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Lịch của tôi</a:t>
            </a:r>
          </a:p>
        </p:txBody>
      </p:sp>
      <p:sp>
        <p:nvSpPr>
          <p:cNvPr id="10" name="TextBox 9"/>
          <p:cNvSpPr txBox="1"/>
          <p:nvPr/>
        </p:nvSpPr>
        <p:spPr>
          <a:xfrm>
            <a:off x="731520"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Thợ chỉ thấy lịch của mình; Bắt đầu / Hoàn tất; cảnh báo khi vượt 20 phút.</a:t>
            </a:r>
          </a:p>
        </p:txBody>
      </p:sp>
      <p:sp>
        <p:nvSpPr>
          <p:cNvPr id="11" name="Rounded Rectangle 10"/>
          <p:cNvSpPr/>
          <p:nvPr/>
        </p:nvSpPr>
        <p:spPr>
          <a:xfrm>
            <a:off x="3367735"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550615"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ye_w.png"/>
          <p:cNvPicPr>
            <a:picLocks noChangeAspect="1"/>
          </p:cNvPicPr>
          <p:nvPr/>
        </p:nvPicPr>
        <p:blipFill>
          <a:blip r:embed="rId5"/>
          <a:stretch>
            <a:fillRect/>
          </a:stretch>
        </p:blipFill>
        <p:spPr>
          <a:xfrm>
            <a:off x="3651564" y="5386181"/>
            <a:ext cx="218726" cy="218726"/>
          </a:xfrm>
          <a:prstGeom prst="rect">
            <a:avLst/>
          </a:prstGeom>
        </p:spPr>
      </p:pic>
      <p:sp>
        <p:nvSpPr>
          <p:cNvPr id="14" name="TextBox 13"/>
          <p:cNvSpPr txBox="1"/>
          <p:nvPr/>
        </p:nvSpPr>
        <p:spPr>
          <a:xfrm>
            <a:off x="4080967"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SĐT luôn được che</a:t>
            </a:r>
          </a:p>
        </p:txBody>
      </p:sp>
      <p:sp>
        <p:nvSpPr>
          <p:cNvPr id="15" name="TextBox 14"/>
          <p:cNvSpPr txBox="1"/>
          <p:nvPr/>
        </p:nvSpPr>
        <p:spPr>
          <a:xfrm>
            <a:off x="3550615"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maskPhone ở backend: 098***1234 — số thật không bao giờ tới trình duyệt của thợ.</a:t>
            </a:r>
          </a:p>
        </p:txBody>
      </p:sp>
      <p:sp>
        <p:nvSpPr>
          <p:cNvPr id="16" name="Rounded Rectangle 15"/>
          <p:cNvSpPr/>
          <p:nvPr/>
        </p:nvSpPr>
        <p:spPr>
          <a:xfrm>
            <a:off x="6186830"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369710"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note_w.png"/>
          <p:cNvPicPr>
            <a:picLocks noChangeAspect="1"/>
          </p:cNvPicPr>
          <p:nvPr/>
        </p:nvPicPr>
        <p:blipFill>
          <a:blip r:embed="rId6"/>
          <a:stretch>
            <a:fillRect/>
          </a:stretch>
        </p:blipFill>
        <p:spPr>
          <a:xfrm>
            <a:off x="6470659" y="5386181"/>
            <a:ext cx="218726" cy="218726"/>
          </a:xfrm>
          <a:prstGeom prst="rect">
            <a:avLst/>
          </a:prstGeom>
        </p:spPr>
      </p:pic>
      <p:sp>
        <p:nvSpPr>
          <p:cNvPr id="19" name="TextBox 18"/>
          <p:cNvSpPr txBox="1"/>
          <p:nvPr/>
        </p:nvSpPr>
        <p:spPr>
          <a:xfrm>
            <a:off x="6900062"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Ghi chú kỹ thuật</a:t>
            </a:r>
          </a:p>
        </p:txBody>
      </p:sp>
      <p:sp>
        <p:nvSpPr>
          <p:cNvPr id="20" name="TextBox 19"/>
          <p:cNvSpPr txBox="1"/>
          <p:nvPr/>
        </p:nvSpPr>
        <p:spPr>
          <a:xfrm>
            <a:off x="6369710"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 500 ký tự: sản phẩm, thời gian ủ… chỉ nhân sự nội bộ xem.</a:t>
            </a:r>
          </a:p>
        </p:txBody>
      </p:sp>
      <p:sp>
        <p:nvSpPr>
          <p:cNvPr id="21" name="Rounded Rectangle 20"/>
          <p:cNvSpPr/>
          <p:nvPr/>
        </p:nvSpPr>
        <p:spPr>
          <a:xfrm>
            <a:off x="9005925"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188805"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_w.png"/>
          <p:cNvPicPr>
            <a:picLocks noChangeAspect="1"/>
          </p:cNvPicPr>
          <p:nvPr/>
        </p:nvPicPr>
        <p:blipFill>
          <a:blip r:embed="rId7"/>
          <a:stretch>
            <a:fillRect/>
          </a:stretch>
        </p:blipFill>
        <p:spPr>
          <a:xfrm>
            <a:off x="9289754" y="5386181"/>
            <a:ext cx="218726" cy="218726"/>
          </a:xfrm>
          <a:prstGeom prst="rect">
            <a:avLst/>
          </a:prstGeom>
        </p:spPr>
      </p:pic>
      <p:sp>
        <p:nvSpPr>
          <p:cNvPr id="24" name="TextBox 23"/>
          <p:cNvSpPr txBox="1"/>
          <p:nvPr/>
        </p:nvSpPr>
        <p:spPr>
          <a:xfrm>
            <a:off x="9719157"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CRM theo SĐT</a:t>
            </a:r>
          </a:p>
        </p:txBody>
      </p:sp>
      <p:sp>
        <p:nvSpPr>
          <p:cNvPr id="25" name="TextBox 24"/>
          <p:cNvSpPr txBox="1"/>
          <p:nvPr/>
        </p:nvSpPr>
        <p:spPr>
          <a:xfrm>
            <a:off x="9188805"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Gộp hồ sơ, 10 lượt gần nhất, số lần không đến; SĐT mới luôn 0 lượt.</a:t>
            </a:r>
          </a:p>
        </p:txBody>
      </p:sp>
      <p:sp>
        <p:nvSpPr>
          <p:cNvPr id="26" name="TextBox 2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7" name="TextBox 2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09  ·  NGHIỆP VỤ CHỦ TIỆM &amp; QUẢN TRỊ</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Hoá đơn – voucher, doanh thu realtime, RBAC 5 vai trò</a:t>
            </a:r>
          </a:p>
        </p:txBody>
      </p:sp>
      <p:pic>
        <p:nvPicPr>
          <p:cNvPr id="4" name="Picture 3" descr="13_revenue.jpg"/>
          <p:cNvPicPr>
            <a:picLocks noChangeAspect="1"/>
          </p:cNvPicPr>
          <p:nvPr/>
        </p:nvPicPr>
        <p:blipFill>
          <a:blip r:embed="rId2"/>
          <a:srcRect b="12000"/>
          <a:stretch>
            <a:fillRect/>
          </a:stretch>
        </p:blipFill>
        <p:spPr>
          <a:xfrm>
            <a:off x="548640" y="1554480"/>
            <a:ext cx="5486400" cy="301752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TextBox 4"/>
          <p:cNvSpPr txBox="1"/>
          <p:nvPr/>
        </p:nvSpPr>
        <p:spPr>
          <a:xfrm>
            <a:off x="548640" y="4754880"/>
            <a:ext cx="5486400" cy="1554480"/>
          </a:xfrm>
          <a:prstGeom prst="rect">
            <a:avLst/>
          </a:prstGeom>
          <a:noFill/>
        </p:spPr>
        <p:txBody>
          <a:bodyPr wrap="square" lIns="0" rIns="0" tIns="0" bIns="0">
            <a:spAutoFit/>
          </a:bodyPr>
          <a:lstStyle/>
          <a:p>
            <a:pPr marL="256032" indent="-256032">
              <a:lnSpc>
                <a:spcPct val="105000"/>
              </a:lnSpc>
              <a:spcAft>
                <a:spcPts val="600"/>
              </a:spcAft>
              <a:buClr>
                <a:srgbClr val="0D9488"/>
              </a:buClr>
              <a:buFont typeface="Arial"/>
              <a:buChar char="•"/>
            </a:pPr>
            <a:r>
              <a:rPr sz="1350" b="1">
                <a:solidFill>
                  <a:srgbClr val="0F172A"/>
                </a:solidFill>
                <a:latin typeface="Calibri"/>
              </a:rPr>
              <a:t>Phiếu tính tiền: </a:t>
            </a:r>
            <a:r>
              <a:rPr sz="1350" b="0">
                <a:solidFill>
                  <a:srgbClr val="0F172A"/>
                </a:solidFill>
                <a:latin typeface="Calibri"/>
              </a:rPr>
              <a:t>giá snapshot, dịch vụ phát sinh, 1 mã giảm giá / phiếu; phiếu đóng bị khoá.</a:t>
            </a:r>
          </a:p>
          <a:p>
            <a:pPr marL="256032" indent="-256032">
              <a:lnSpc>
                <a:spcPct val="105000"/>
              </a:lnSpc>
              <a:spcAft>
                <a:spcPts val="600"/>
              </a:spcAft>
              <a:buClr>
                <a:srgbClr val="0D9488"/>
              </a:buClr>
              <a:buFont typeface="Arial"/>
              <a:buChar char="•"/>
            </a:pPr>
            <a:r>
              <a:rPr sz="1350" b="1">
                <a:solidFill>
                  <a:srgbClr val="0F172A"/>
                </a:solidFill>
                <a:latin typeface="Calibri"/>
              </a:rPr>
              <a:t>Tổng quan hôm nay </a:t>
            </a:r>
            <a:r>
              <a:rPr sz="1350" b="0">
                <a:solidFill>
                  <a:srgbClr val="0F172A"/>
                </a:solidFill>
                <a:latin typeface="Calibri"/>
              </a:rPr>
              <a:t>tự làm mới 60 giây; doanh thu theo thợ / dịch vụ; CSV UTF-8 mở đúng trên Excel.</a:t>
            </a:r>
          </a:p>
          <a:p>
            <a:pPr marL="256032" indent="-256032">
              <a:lnSpc>
                <a:spcPct val="105000"/>
              </a:lnSpc>
              <a:spcAft>
                <a:spcPts val="600"/>
              </a:spcAft>
              <a:buClr>
                <a:srgbClr val="0D9488"/>
              </a:buClr>
              <a:buFont typeface="Arial"/>
              <a:buChar char="•"/>
            </a:pPr>
            <a:r>
              <a:rPr sz="1350" b="1">
                <a:solidFill>
                  <a:srgbClr val="0F172A"/>
                </a:solidFill>
                <a:latin typeface="Calibri"/>
              </a:rPr>
              <a:t>Nhật ký chỉ đọc: </a:t>
            </a:r>
            <a:r>
              <a:rPr sz="1350" b="0">
                <a:solidFill>
                  <a:srgbClr val="0F172A"/>
                </a:solidFill>
                <a:latin typeface="Calibri"/>
              </a:rPr>
              <a:t>trigger CSDL chặn mọi UPDATE / DELETE.</a:t>
            </a:r>
          </a:p>
        </p:txBody>
      </p:sp>
      <p:sp>
        <p:nvSpPr>
          <p:cNvPr id="6" name="Rounded Rectangle 5"/>
          <p:cNvSpPr/>
          <p:nvPr/>
        </p:nvSpPr>
        <p:spPr>
          <a:xfrm>
            <a:off x="6355080" y="1554480"/>
            <a:ext cx="5285232" cy="4754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0" y="1719072"/>
            <a:ext cx="4846320"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Ma trận phân quyền (RBAC)</a:t>
            </a:r>
          </a:p>
        </p:txBody>
      </p:sp>
      <p:graphicFrame>
        <p:nvGraphicFramePr>
          <p:cNvPr id="8" name="Table 7"/>
          <p:cNvGraphicFramePr>
            <a:graphicFrameLocks noGrp="1"/>
          </p:cNvGraphicFramePr>
          <p:nvPr/>
        </p:nvGraphicFramePr>
        <p:xfrm>
          <a:off x="6537960" y="2121408"/>
          <a:ext cx="4919471" cy="3749039"/>
        </p:xfrm>
        <a:graphic>
          <a:graphicData uri="http://schemas.openxmlformats.org/drawingml/2006/table">
            <a:tbl>
              <a:tblPr firstRow="1" bandRow="0">
                <a:tableStyleId>{5C22544A-7EE6-4342-B048-85BDC9FD1C3A}</a:tableStyleId>
              </a:tblPr>
              <a:tblGrid>
                <a:gridCol w="1856231"/>
                <a:gridCol w="612648"/>
                <a:gridCol w="612648"/>
                <a:gridCol w="612648"/>
                <a:gridCol w="612648"/>
                <a:gridCol w="612648"/>
              </a:tblGrid>
              <a:tr h="416559">
                <a:tc>
                  <a:txBody>
                    <a:bodyPr/>
                    <a:lstStyle/>
                    <a:p>
                      <a:pPr algn="l"/>
                      <a:r>
                        <a:rPr sz="1100" b="1">
                          <a:solidFill>
                            <a:srgbClr val="FFFFFF"/>
                          </a:solidFill>
                          <a:latin typeface="Calibri"/>
                        </a:rPr>
                        <a:t>Chức năng</a:t>
                      </a:r>
                    </a:p>
                  </a:txBody>
                  <a:tcPr marL="45720" marR="45720" marT="27432" marB="27432" anchor="ctr">
                    <a:solidFill>
                      <a:srgbClr val="0F172A"/>
                    </a:solidFill>
                  </a:tcPr>
                </a:tc>
                <a:tc>
                  <a:txBody>
                    <a:bodyPr/>
                    <a:lstStyle/>
                    <a:p>
                      <a:pPr algn="ctr"/>
                      <a:r>
                        <a:rPr sz="950" b="1">
                          <a:solidFill>
                            <a:srgbClr val="FFFFFF"/>
                          </a:solidFill>
                          <a:latin typeface="Calibri"/>
                        </a:rPr>
                        <a:t>Khách</a:t>
                      </a:r>
                    </a:p>
                  </a:txBody>
                  <a:tcPr marL="45720" marR="45720" marT="27432" marB="27432" anchor="ctr">
                    <a:solidFill>
                      <a:srgbClr val="0F172A"/>
                    </a:solidFill>
                  </a:tcPr>
                </a:tc>
                <a:tc>
                  <a:txBody>
                    <a:bodyPr/>
                    <a:lstStyle/>
                    <a:p>
                      <a:pPr algn="ctr"/>
                      <a:r>
                        <a:rPr sz="950" b="1">
                          <a:solidFill>
                            <a:srgbClr val="FFFFFF"/>
                          </a:solidFill>
                          <a:latin typeface="Calibri"/>
                        </a:rPr>
                        <a:t>Thợ</a:t>
                      </a:r>
                    </a:p>
                  </a:txBody>
                  <a:tcPr marL="45720" marR="45720" marT="27432" marB="27432" anchor="ctr">
                    <a:solidFill>
                      <a:srgbClr val="0F172A"/>
                    </a:solidFill>
                  </a:tcPr>
                </a:tc>
                <a:tc>
                  <a:txBody>
                    <a:bodyPr/>
                    <a:lstStyle/>
                    <a:p>
                      <a:pPr algn="ctr"/>
                      <a:r>
                        <a:rPr sz="950" b="1">
                          <a:solidFill>
                            <a:srgbClr val="FFFFFF"/>
                          </a:solidFill>
                          <a:latin typeface="Calibri"/>
                        </a:rPr>
                        <a:t>Lễ tân</a:t>
                      </a:r>
                    </a:p>
                  </a:txBody>
                  <a:tcPr marL="45720" marR="45720" marT="27432" marB="27432" anchor="ctr">
                    <a:solidFill>
                      <a:srgbClr val="0F172A"/>
                    </a:solidFill>
                  </a:tcPr>
                </a:tc>
                <a:tc>
                  <a:txBody>
                    <a:bodyPr/>
                    <a:lstStyle/>
                    <a:p>
                      <a:pPr algn="ctr"/>
                      <a:r>
                        <a:rPr sz="950" b="1">
                          <a:solidFill>
                            <a:srgbClr val="FFFFFF"/>
                          </a:solidFill>
                          <a:latin typeface="Calibri"/>
                        </a:rPr>
                        <a:t>Chủ tiệm</a:t>
                      </a:r>
                    </a:p>
                  </a:txBody>
                  <a:tcPr marL="45720" marR="45720" marT="27432" marB="27432" anchor="ctr">
                    <a:solidFill>
                      <a:srgbClr val="0F172A"/>
                    </a:solidFill>
                  </a:tcPr>
                </a:tc>
                <a:tc>
                  <a:txBody>
                    <a:bodyPr/>
                    <a:lstStyle/>
                    <a:p>
                      <a:pPr algn="ctr"/>
                      <a:r>
                        <a:rPr sz="950" b="1">
                          <a:solidFill>
                            <a:srgbClr val="FFFFFF"/>
                          </a:solidFill>
                          <a:latin typeface="Calibri"/>
                        </a:rPr>
                        <a:t>Quản trị</a:t>
                      </a:r>
                    </a:p>
                  </a:txBody>
                  <a:tcPr marL="45720" marR="45720" marT="27432" marB="27432" anchor="ctr">
                    <a:solidFill>
                      <a:srgbClr val="0F172A"/>
                    </a:solidFill>
                  </a:tcPr>
                </a:tc>
              </a:tr>
              <a:tr h="416559">
                <a:tc>
                  <a:txBody>
                    <a:bodyPr/>
                    <a:lstStyle/>
                    <a:p>
                      <a:pPr algn="l"/>
                      <a:r>
                        <a:rPr sz="1100" b="0">
                          <a:solidFill>
                            <a:srgbClr val="0F172A"/>
                          </a:solidFill>
                          <a:latin typeface="Calibri"/>
                        </a:rPr>
                        <a:t>Tài khoản &amp; phân quyền</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r>
              <a:tr h="416559">
                <a:tc>
                  <a:txBody>
                    <a:bodyPr/>
                    <a:lstStyle/>
                    <a:p>
                      <a:pPr algn="l"/>
                      <a:r>
                        <a:rPr sz="1100" b="0">
                          <a:solidFill>
                            <a:srgbClr val="0F172A"/>
                          </a:solidFill>
                          <a:latin typeface="Calibri"/>
                        </a:rPr>
                        <a:t>Dịch vụ &amp; bảng giá</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Thợ &amp; ca làm việc</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Đặt lịch công khai</a:t>
                      </a:r>
                    </a:p>
                  </a:txBody>
                  <a:tcPr marL="45720" marR="45720" marT="27432" marB="27432" anchor="ctr">
                    <a:solidFill>
                      <a:srgbClr val="FFFFFF"/>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Lịch hẹn &amp; check-in</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Phiếu tính tiền</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Hồ sơ khách</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67">
                <a:tc>
                  <a:txBody>
                    <a:bodyPr/>
                    <a:lstStyle/>
                    <a:p>
                      <a:pPr algn="l"/>
                      <a:r>
                        <a:rPr sz="1100" b="0">
                          <a:solidFill>
                            <a:srgbClr val="0F172A"/>
                          </a:solidFill>
                          <a:latin typeface="Calibri"/>
                        </a:rPr>
                        <a:t>Doanh thu &amp; nhật ký</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r>
            </a:tbl>
          </a:graphicData>
        </a:graphic>
      </p:graphicFrame>
      <p:sp>
        <p:nvSpPr>
          <p:cNvPr id="9" name="TextBox 8"/>
          <p:cNvSpPr txBox="1"/>
          <p:nvPr/>
        </p:nvSpPr>
        <p:spPr>
          <a:xfrm>
            <a:off x="6583680" y="5943600"/>
            <a:ext cx="4846320" cy="27432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F toàn quyền · W ghi trong phạm vi · R chỉ xem · – không truy cập</a:t>
            </a:r>
          </a:p>
        </p:txBody>
      </p:sp>
      <p:sp>
        <p:nvSpPr>
          <p:cNvPr id="10" name="TextBox 9"/>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11" name="TextBox 10"/>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10  ·  HẠ TẦNG &amp; TỰ ĐỘNG HOÁ</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Docker 1 lệnh · Supervisor tự phục hồi v1.2.5</a:t>
            </a:r>
          </a:p>
        </p:txBody>
      </p:sp>
      <p:sp>
        <p:nvSpPr>
          <p:cNvPr id="4" name="Rounded Rectangle 3"/>
          <p:cNvSpPr/>
          <p:nvPr/>
        </p:nvSpPr>
        <p:spPr>
          <a:xfrm>
            <a:off x="548640"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w.png"/>
          <p:cNvPicPr>
            <a:picLocks noChangeAspect="1"/>
          </p:cNvPicPr>
          <p:nvPr/>
        </p:nvPicPr>
        <p:blipFill>
          <a:blip r:embed="rId2"/>
          <a:stretch>
            <a:fillRect/>
          </a:stretch>
        </p:blipFill>
        <p:spPr>
          <a:xfrm>
            <a:off x="863925" y="1805757"/>
            <a:ext cx="247254" cy="247254"/>
          </a:xfrm>
          <a:prstGeom prst="rect">
            <a:avLst/>
          </a:prstGeom>
        </p:spPr>
      </p:pic>
      <p:sp>
        <p:nvSpPr>
          <p:cNvPr id="7" name="TextBox 6"/>
          <p:cNvSpPr txBox="1"/>
          <p:nvPr/>
        </p:nvSpPr>
        <p:spPr>
          <a:xfrm>
            <a:off x="1938528"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1</a:t>
            </a:r>
          </a:p>
        </p:txBody>
      </p:sp>
      <p:sp>
        <p:nvSpPr>
          <p:cNvPr id="8" name="TextBox 7"/>
          <p:cNvSpPr txBox="1"/>
          <p:nvPr/>
        </p:nvSpPr>
        <p:spPr>
          <a:xfrm>
            <a:off x="749808"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Kiểm tra</a:t>
            </a:r>
          </a:p>
        </p:txBody>
      </p:sp>
      <p:sp>
        <p:nvSpPr>
          <p:cNvPr id="9" name="TextBox 8"/>
          <p:cNvSpPr txBox="1"/>
          <p:nvPr/>
        </p:nvSpPr>
        <p:spPr>
          <a:xfrm>
            <a:off x="749808"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Node ≥ 20; chờ Docker Desktop ≤ 2 phút, tự mở</a:t>
            </a:r>
          </a:p>
        </p:txBody>
      </p:sp>
      <p:sp>
        <p:nvSpPr>
          <p:cNvPr id="10" name="TextBox 9"/>
          <p:cNvSpPr txBox="1"/>
          <p:nvPr/>
        </p:nvSpPr>
        <p:spPr>
          <a:xfrm>
            <a:off x="2578608"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11" name="Rounded Rectangle 10"/>
          <p:cNvSpPr/>
          <p:nvPr/>
        </p:nvSpPr>
        <p:spPr>
          <a:xfrm>
            <a:off x="2814751"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015919"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ker_w.png"/>
          <p:cNvPicPr>
            <a:picLocks noChangeAspect="1"/>
          </p:cNvPicPr>
          <p:nvPr/>
        </p:nvPicPr>
        <p:blipFill>
          <a:blip r:embed="rId3"/>
          <a:stretch>
            <a:fillRect/>
          </a:stretch>
        </p:blipFill>
        <p:spPr>
          <a:xfrm>
            <a:off x="3130036" y="1805757"/>
            <a:ext cx="247254" cy="247254"/>
          </a:xfrm>
          <a:prstGeom prst="rect">
            <a:avLst/>
          </a:prstGeom>
        </p:spPr>
      </p:pic>
      <p:sp>
        <p:nvSpPr>
          <p:cNvPr id="14" name="TextBox 13"/>
          <p:cNvSpPr txBox="1"/>
          <p:nvPr/>
        </p:nvSpPr>
        <p:spPr>
          <a:xfrm>
            <a:off x="4204639"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2</a:t>
            </a:r>
          </a:p>
        </p:txBody>
      </p:sp>
      <p:sp>
        <p:nvSpPr>
          <p:cNvPr id="15" name="TextBox 14"/>
          <p:cNvSpPr txBox="1"/>
          <p:nvPr/>
        </p:nvSpPr>
        <p:spPr>
          <a:xfrm>
            <a:off x="3015919"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Docker Compose</a:t>
            </a:r>
          </a:p>
        </p:txBody>
      </p:sp>
      <p:sp>
        <p:nvSpPr>
          <p:cNvPr id="16" name="TextBox 15"/>
          <p:cNvSpPr txBox="1"/>
          <p:nvPr/>
        </p:nvSpPr>
        <p:spPr>
          <a:xfrm>
            <a:off x="3015919"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PostgreSQL 15 (healthcheck TCP), PgAdmin, Maildev</a:t>
            </a:r>
          </a:p>
        </p:txBody>
      </p:sp>
      <p:sp>
        <p:nvSpPr>
          <p:cNvPr id="17" name="TextBox 16"/>
          <p:cNvSpPr txBox="1"/>
          <p:nvPr/>
        </p:nvSpPr>
        <p:spPr>
          <a:xfrm>
            <a:off x="4844719"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18" name="Rounded Rectangle 17"/>
          <p:cNvSpPr/>
          <p:nvPr/>
        </p:nvSpPr>
        <p:spPr>
          <a:xfrm>
            <a:off x="5080863"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282031"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layers_w.png"/>
          <p:cNvPicPr>
            <a:picLocks noChangeAspect="1"/>
          </p:cNvPicPr>
          <p:nvPr/>
        </p:nvPicPr>
        <p:blipFill>
          <a:blip r:embed="rId4"/>
          <a:stretch>
            <a:fillRect/>
          </a:stretch>
        </p:blipFill>
        <p:spPr>
          <a:xfrm>
            <a:off x="5396148" y="1805757"/>
            <a:ext cx="247254" cy="247254"/>
          </a:xfrm>
          <a:prstGeom prst="rect">
            <a:avLst/>
          </a:prstGeom>
        </p:spPr>
      </p:pic>
      <p:sp>
        <p:nvSpPr>
          <p:cNvPr id="21" name="TextBox 20"/>
          <p:cNvSpPr txBox="1"/>
          <p:nvPr/>
        </p:nvSpPr>
        <p:spPr>
          <a:xfrm>
            <a:off x="6470751"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3</a:t>
            </a:r>
          </a:p>
        </p:txBody>
      </p:sp>
      <p:sp>
        <p:nvSpPr>
          <p:cNvPr id="22" name="TextBox 21"/>
          <p:cNvSpPr txBox="1"/>
          <p:nvPr/>
        </p:nvSpPr>
        <p:spPr>
          <a:xfrm>
            <a:off x="5282031"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Chuẩn bị</a:t>
            </a:r>
          </a:p>
        </p:txBody>
      </p:sp>
      <p:sp>
        <p:nvSpPr>
          <p:cNvPr id="23" name="TextBox 22"/>
          <p:cNvSpPr txBox="1"/>
          <p:nvPr/>
        </p:nvSpPr>
        <p:spPr>
          <a:xfrm>
            <a:off x="5282031"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Tạo .env, cài lại gói khi lockfile đổi, kiểm tra cổng</a:t>
            </a:r>
          </a:p>
        </p:txBody>
      </p:sp>
      <p:sp>
        <p:nvSpPr>
          <p:cNvPr id="24" name="TextBox 23"/>
          <p:cNvSpPr txBox="1"/>
          <p:nvPr/>
        </p:nvSpPr>
        <p:spPr>
          <a:xfrm>
            <a:off x="7110831"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25" name="Rounded Rectangle 24"/>
          <p:cNvSpPr/>
          <p:nvPr/>
        </p:nvSpPr>
        <p:spPr>
          <a:xfrm>
            <a:off x="7346975"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548143"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erver_w.png"/>
          <p:cNvPicPr>
            <a:picLocks noChangeAspect="1"/>
          </p:cNvPicPr>
          <p:nvPr/>
        </p:nvPicPr>
        <p:blipFill>
          <a:blip r:embed="rId5"/>
          <a:stretch>
            <a:fillRect/>
          </a:stretch>
        </p:blipFill>
        <p:spPr>
          <a:xfrm>
            <a:off x="7662260" y="1805757"/>
            <a:ext cx="247254" cy="247254"/>
          </a:xfrm>
          <a:prstGeom prst="rect">
            <a:avLst/>
          </a:prstGeom>
        </p:spPr>
      </p:pic>
      <p:sp>
        <p:nvSpPr>
          <p:cNvPr id="28" name="TextBox 27"/>
          <p:cNvSpPr txBox="1"/>
          <p:nvPr/>
        </p:nvSpPr>
        <p:spPr>
          <a:xfrm>
            <a:off x="8736863"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4</a:t>
            </a:r>
          </a:p>
        </p:txBody>
      </p:sp>
      <p:sp>
        <p:nvSpPr>
          <p:cNvPr id="29" name="TextBox 28"/>
          <p:cNvSpPr txBox="1"/>
          <p:nvPr/>
        </p:nvSpPr>
        <p:spPr>
          <a:xfrm>
            <a:off x="7548143"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Seed an toàn</a:t>
            </a:r>
          </a:p>
        </p:txBody>
      </p:sp>
      <p:sp>
        <p:nvSpPr>
          <p:cNvPr id="30" name="TextBox 29"/>
          <p:cNvSpPr txBox="1"/>
          <p:nvPr/>
        </p:nvSpPr>
        <p:spPr>
          <a:xfrm>
            <a:off x="7548143"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Chờ CSDL ≤ 120 s, schema + seed idempotent</a:t>
            </a:r>
          </a:p>
        </p:txBody>
      </p:sp>
      <p:sp>
        <p:nvSpPr>
          <p:cNvPr id="31" name="TextBox 30"/>
          <p:cNvSpPr txBox="1"/>
          <p:nvPr/>
        </p:nvSpPr>
        <p:spPr>
          <a:xfrm>
            <a:off x="9376943"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32" name="Rounded Rectangle 31"/>
          <p:cNvSpPr/>
          <p:nvPr/>
        </p:nvSpPr>
        <p:spPr>
          <a:xfrm>
            <a:off x="9613087" y="1508760"/>
            <a:ext cx="2029968" cy="2011680"/>
          </a:xfrm>
          <a:prstGeom prst="roundRect">
            <a:avLst>
              <a:gd name="adj" fmla="val 8000"/>
            </a:avLst>
          </a:prstGeom>
          <a:solidFill>
            <a:srgbClr val="0F172A"/>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814255"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refresh_w.png"/>
          <p:cNvPicPr>
            <a:picLocks noChangeAspect="1"/>
          </p:cNvPicPr>
          <p:nvPr/>
        </p:nvPicPr>
        <p:blipFill>
          <a:blip r:embed="rId6"/>
          <a:stretch>
            <a:fillRect/>
          </a:stretch>
        </p:blipFill>
        <p:spPr>
          <a:xfrm>
            <a:off x="9928372" y="1805757"/>
            <a:ext cx="247254" cy="247254"/>
          </a:xfrm>
          <a:prstGeom prst="rect">
            <a:avLst/>
          </a:prstGeom>
        </p:spPr>
      </p:pic>
      <p:sp>
        <p:nvSpPr>
          <p:cNvPr id="35" name="TextBox 34"/>
          <p:cNvSpPr txBox="1"/>
          <p:nvPr/>
        </p:nvSpPr>
        <p:spPr>
          <a:xfrm>
            <a:off x="11002975"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334155"/>
                </a:solidFill>
                <a:latin typeface="Calibri"/>
              </a:rPr>
              <a:t>5</a:t>
            </a:r>
          </a:p>
        </p:txBody>
      </p:sp>
      <p:sp>
        <p:nvSpPr>
          <p:cNvPr id="36" name="TextBox 35"/>
          <p:cNvSpPr txBox="1"/>
          <p:nvPr/>
        </p:nvSpPr>
        <p:spPr>
          <a:xfrm>
            <a:off x="9814255"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FFFFFF"/>
                </a:solidFill>
                <a:latin typeface="Calibri"/>
              </a:rPr>
              <a:t>Supervisor</a:t>
            </a:r>
          </a:p>
        </p:txBody>
      </p:sp>
      <p:sp>
        <p:nvSpPr>
          <p:cNvPr id="37" name="TextBox 36"/>
          <p:cNvSpPr txBox="1"/>
          <p:nvPr/>
        </p:nvSpPr>
        <p:spPr>
          <a:xfrm>
            <a:off x="9814255"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CBD5E1"/>
                </a:solidFill>
                <a:latin typeface="Calibri"/>
              </a:rPr>
              <a:t>Chạy API + WEB, chờ /health = 200 rồi mở trình duyệt</a:t>
            </a:r>
          </a:p>
        </p:txBody>
      </p:sp>
      <p:sp>
        <p:nvSpPr>
          <p:cNvPr id="38" name="Rounded Rectangle 37"/>
          <p:cNvSpPr/>
          <p:nvPr/>
        </p:nvSpPr>
        <p:spPr>
          <a:xfrm>
            <a:off x="548640"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22960"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13–21 giây</a:t>
            </a:r>
          </a:p>
        </p:txBody>
      </p:sp>
      <p:sp>
        <p:nvSpPr>
          <p:cNvPr id="40" name="TextBox 39"/>
          <p:cNvSpPr txBox="1"/>
          <p:nvPr/>
        </p:nvSpPr>
        <p:spPr>
          <a:xfrm>
            <a:off x="822960"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từ lúc nhấp đúp đến khi trình duyệt mở (CSDL mới)</a:t>
            </a:r>
          </a:p>
        </p:txBody>
      </p:sp>
      <p:sp>
        <p:nvSpPr>
          <p:cNvPr id="41" name="Rounded Rectangle 40"/>
          <p:cNvSpPr/>
          <p:nvPr/>
        </p:nvSpPr>
        <p:spPr>
          <a:xfrm>
            <a:off x="4315968"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590288"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~2 giây</a:t>
            </a:r>
          </a:p>
        </p:txBody>
      </p:sp>
      <p:sp>
        <p:nvSpPr>
          <p:cNvPr id="43" name="TextBox 42"/>
          <p:cNvSpPr txBox="1"/>
          <p:nvPr/>
        </p:nvSpPr>
        <p:spPr>
          <a:xfrm>
            <a:off x="4590288"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tự khởi động lại khi Vite bị abort (mã 3221226505)</a:t>
            </a:r>
          </a:p>
        </p:txBody>
      </p:sp>
      <p:sp>
        <p:nvSpPr>
          <p:cNvPr id="44" name="Rounded Rectangle 43"/>
          <p:cNvSpPr/>
          <p:nvPr/>
        </p:nvSpPr>
        <p:spPr>
          <a:xfrm>
            <a:off x="8083296"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357616"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0 thao tác tay</a:t>
            </a:r>
          </a:p>
        </p:txBody>
      </p:sp>
      <p:sp>
        <p:nvSpPr>
          <p:cNvPr id="46" name="TextBox 45"/>
          <p:cNvSpPr txBox="1"/>
          <p:nvPr/>
        </p:nvSpPr>
        <p:spPr>
          <a:xfrm>
            <a:off x="8357616"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tạo .env, cài gói, nạp dữ liệu, mở trình duyệt</a:t>
            </a:r>
          </a:p>
        </p:txBody>
      </p:sp>
      <p:sp>
        <p:nvSpPr>
          <p:cNvPr id="47" name="TextBox 46"/>
          <p:cNvSpPr txBox="1"/>
          <p:nvPr/>
        </p:nvSpPr>
        <p:spPr>
          <a:xfrm>
            <a:off x="548640" y="5303520"/>
            <a:ext cx="11094415" cy="1097280"/>
          </a:xfrm>
          <a:prstGeom prst="rect">
            <a:avLst/>
          </a:prstGeom>
          <a:noFill/>
        </p:spPr>
        <p:txBody>
          <a:bodyPr wrap="square" lIns="0" rIns="0" tIns="0" bIns="0">
            <a:spAutoFit/>
          </a:bodyPr>
          <a:lstStyle/>
          <a:p>
            <a:pPr marL="256032" indent="-256032">
              <a:lnSpc>
                <a:spcPct val="105000"/>
              </a:lnSpc>
              <a:spcAft>
                <a:spcPts val="500"/>
              </a:spcAft>
              <a:buClr>
                <a:srgbClr val="0D9488"/>
              </a:buClr>
              <a:buFont typeface="Arial"/>
              <a:buChar char="•"/>
            </a:pPr>
            <a:r>
              <a:rPr sz="1350" b="1">
                <a:solidFill>
                  <a:srgbClr val="0F172A"/>
                </a:solidFill>
                <a:latin typeface="Calibri"/>
              </a:rPr>
              <a:t>Seed idempotent: </a:t>
            </a:r>
            <a:r>
              <a:rPr sz="1350" b="0">
                <a:solidFill>
                  <a:srgbClr val="0F172A"/>
                </a:solidFill>
                <a:latin typeface="Calibri"/>
              </a:rPr>
              <a:t>ON CONFLICT DO NOTHING, bỏ qua khung giờ trùng lịch thật, reset 8 tài khoản mẫu mỗi lần chạy.</a:t>
            </a:r>
          </a:p>
          <a:p>
            <a:pPr marL="256032" indent="-256032">
              <a:lnSpc>
                <a:spcPct val="105000"/>
              </a:lnSpc>
              <a:spcAft>
                <a:spcPts val="500"/>
              </a:spcAft>
              <a:buClr>
                <a:srgbClr val="0D9488"/>
              </a:buClr>
              <a:buFont typeface="Arial"/>
              <a:buChar char="•"/>
            </a:pPr>
            <a:r>
              <a:rPr sz="1350" b="1">
                <a:solidFill>
                  <a:srgbClr val="0F172A"/>
                </a:solidFill>
                <a:latin typeface="Calibri"/>
              </a:rPr>
              <a:t>/health = 200 </a:t>
            </a:r>
            <a:r>
              <a:rPr sz="1350" b="0">
                <a:solidFill>
                  <a:srgbClr val="0F172A"/>
                </a:solidFill>
                <a:latin typeface="Calibri"/>
              </a:rPr>
              <a:t>chỉ khi API truy vấn được CSDL (503 nếu chưa) — trình duyệt không bao giờ mở trước khi hệ thống sẵn sàng.</a:t>
            </a:r>
          </a:p>
        </p:txBody>
      </p:sp>
      <p:sp>
        <p:nvSpPr>
          <p:cNvPr id="48" name="TextBox 4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9" name="TextBox 4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11  ·  ĐẢM BẢO CHẤT LƯỢNG</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100% kiểm thử đạt · 0 cảnh báo lint · đồng bộ Backlog</a:t>
            </a:r>
          </a:p>
        </p:txBody>
      </p:sp>
      <p:sp>
        <p:nvSpPr>
          <p:cNvPr id="4" name="Rounded Rectangle 3"/>
          <p:cNvSpPr/>
          <p:nvPr/>
        </p:nvSpPr>
        <p:spPr>
          <a:xfrm>
            <a:off x="548640"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04672"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35 / 35</a:t>
            </a:r>
          </a:p>
        </p:txBody>
      </p:sp>
      <p:sp>
        <p:nvSpPr>
          <p:cNvPr id="6" name="TextBox 5"/>
          <p:cNvSpPr txBox="1"/>
          <p:nvPr/>
        </p:nvSpPr>
        <p:spPr>
          <a:xfrm>
            <a:off x="804672"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Unit test đạt</a:t>
            </a:r>
          </a:p>
        </p:txBody>
      </p:sp>
      <p:sp>
        <p:nvSpPr>
          <p:cNvPr id="7" name="TextBox 6"/>
          <p:cNvSpPr txBox="1"/>
          <p:nvPr/>
        </p:nvSpPr>
        <p:spPr>
          <a:xfrm>
            <a:off x="804672"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Bộ tính khung giờ</a:t>
            </a:r>
          </a:p>
        </p:txBody>
      </p:sp>
      <p:sp>
        <p:nvSpPr>
          <p:cNvPr id="8" name="Rounded Rectangle 7"/>
          <p:cNvSpPr/>
          <p:nvPr/>
        </p:nvSpPr>
        <p:spPr>
          <a:xfrm>
            <a:off x="3364992"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21024"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25 / 25</a:t>
            </a:r>
          </a:p>
        </p:txBody>
      </p:sp>
      <p:sp>
        <p:nvSpPr>
          <p:cNvPr id="10" name="TextBox 9"/>
          <p:cNvSpPr txBox="1"/>
          <p:nvPr/>
        </p:nvSpPr>
        <p:spPr>
          <a:xfrm>
            <a:off x="3621024"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E2E test đạt</a:t>
            </a:r>
          </a:p>
        </p:txBody>
      </p:sp>
      <p:sp>
        <p:nvSpPr>
          <p:cNvPr id="11" name="TextBox 10"/>
          <p:cNvSpPr txBox="1"/>
          <p:nvPr/>
        </p:nvSpPr>
        <p:spPr>
          <a:xfrm>
            <a:off x="3621024"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RBAC · đồng thời · vòng đời</a:t>
            </a:r>
          </a:p>
        </p:txBody>
      </p:sp>
      <p:sp>
        <p:nvSpPr>
          <p:cNvPr id="12" name="Rounded Rectangle 11"/>
          <p:cNvSpPr/>
          <p:nvPr/>
        </p:nvSpPr>
        <p:spPr>
          <a:xfrm>
            <a:off x="6181344"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37376"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0</a:t>
            </a:r>
          </a:p>
        </p:txBody>
      </p:sp>
      <p:sp>
        <p:nvSpPr>
          <p:cNvPr id="14" name="TextBox 13"/>
          <p:cNvSpPr txBox="1"/>
          <p:nvPr/>
        </p:nvSpPr>
        <p:spPr>
          <a:xfrm>
            <a:off x="6437376"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Lỗi build · cảnh báo lint</a:t>
            </a:r>
          </a:p>
        </p:txBody>
      </p:sp>
      <p:sp>
        <p:nvSpPr>
          <p:cNvPr id="15" name="TextBox 14"/>
          <p:cNvSpPr txBox="1"/>
          <p:nvPr/>
        </p:nvSpPr>
        <p:spPr>
          <a:xfrm>
            <a:off x="6437376"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tsc -b · ESLint --max-warnings 0</a:t>
            </a:r>
          </a:p>
        </p:txBody>
      </p:sp>
      <p:sp>
        <p:nvSpPr>
          <p:cNvPr id="16" name="Rounded Rectangle 15"/>
          <p:cNvSpPr/>
          <p:nvPr/>
        </p:nvSpPr>
        <p:spPr>
          <a:xfrm>
            <a:off x="8997696"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53728"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39 / 39</a:t>
            </a:r>
          </a:p>
        </p:txBody>
      </p:sp>
      <p:sp>
        <p:nvSpPr>
          <p:cNvPr id="18" name="TextBox 17"/>
          <p:cNvSpPr txBox="1"/>
          <p:nvPr/>
        </p:nvSpPr>
        <p:spPr>
          <a:xfrm>
            <a:off x="9253728"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User story nghiệm thu</a:t>
            </a:r>
          </a:p>
        </p:txBody>
      </p:sp>
      <p:sp>
        <p:nvSpPr>
          <p:cNvPr id="19" name="TextBox 18"/>
          <p:cNvSpPr txBox="1"/>
          <p:nvPr/>
        </p:nvSpPr>
        <p:spPr>
          <a:xfrm>
            <a:off x="9253728"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BACKLOG-MAPPING ↔ Jira</a:t>
            </a:r>
          </a:p>
        </p:txBody>
      </p:sp>
      <p:sp>
        <p:nvSpPr>
          <p:cNvPr id="20" name="TextBox 19"/>
          <p:cNvSpPr txBox="1"/>
          <p:nvPr/>
        </p:nvSpPr>
        <p:spPr>
          <a:xfrm>
            <a:off x="548640" y="3611880"/>
            <a:ext cx="731520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Vòng phản hồi PO → phát hành có tag (Git Flow)</a:t>
            </a:r>
          </a:p>
        </p:txBody>
      </p:sp>
      <p:cxnSp>
        <p:nvCxnSpPr>
          <p:cNvPr id="21" name="Connector 20"/>
          <p:cNvCxnSpPr/>
          <p:nvPr/>
        </p:nvCxnSpPr>
        <p:spPr>
          <a:xfrm>
            <a:off x="1097280" y="4526280"/>
            <a:ext cx="9997135" cy="0"/>
          </a:xfrm>
          <a:prstGeom prst="line">
            <a:avLst/>
          </a:prstGeom>
          <a:ln w="38100">
            <a:solidFill>
              <a:srgbClr val="99F6E4"/>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969264"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25/09</a:t>
            </a:r>
          </a:p>
        </p:txBody>
      </p:sp>
      <p:sp>
        <p:nvSpPr>
          <p:cNvPr id="24" name="TextBox 23"/>
          <p:cNvSpPr txBox="1"/>
          <p:nvPr/>
        </p:nvSpPr>
        <p:spPr>
          <a:xfrm>
            <a:off x="91440"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v1.1.0</a:t>
            </a:r>
          </a:p>
        </p:txBody>
      </p:sp>
      <p:sp>
        <p:nvSpPr>
          <p:cNvPr id="25" name="TextBox 24"/>
          <p:cNvSpPr txBox="1"/>
          <p:nvPr/>
        </p:nvSpPr>
        <p:spPr>
          <a:xfrm>
            <a:off x="91440"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Giao diện Fresha</a:t>
            </a:r>
          </a:p>
        </p:txBody>
      </p:sp>
      <p:sp>
        <p:nvSpPr>
          <p:cNvPr id="26" name="Oval 25"/>
          <p:cNvSpPr/>
          <p:nvPr/>
        </p:nvSpPr>
        <p:spPr>
          <a:xfrm>
            <a:off x="3468547"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90723"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27/09</a:t>
            </a:r>
          </a:p>
        </p:txBody>
      </p:sp>
      <p:sp>
        <p:nvSpPr>
          <p:cNvPr id="28" name="TextBox 27"/>
          <p:cNvSpPr txBox="1"/>
          <p:nvPr/>
        </p:nvSpPr>
        <p:spPr>
          <a:xfrm>
            <a:off x="2590723"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v1.2.0</a:t>
            </a:r>
          </a:p>
        </p:txBody>
      </p:sp>
      <p:sp>
        <p:nvSpPr>
          <p:cNvPr id="29" name="TextBox 28"/>
          <p:cNvSpPr txBox="1"/>
          <p:nvPr/>
        </p:nvSpPr>
        <p:spPr>
          <a:xfrm>
            <a:off x="2590723"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15 + 8 lỗi Sprint 1</a:t>
            </a:r>
          </a:p>
        </p:txBody>
      </p:sp>
      <p:sp>
        <p:nvSpPr>
          <p:cNvPr id="30" name="Oval 29"/>
          <p:cNvSpPr/>
          <p:nvPr/>
        </p:nvSpPr>
        <p:spPr>
          <a:xfrm>
            <a:off x="5967831"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90007"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28/09</a:t>
            </a:r>
          </a:p>
        </p:txBody>
      </p:sp>
      <p:sp>
        <p:nvSpPr>
          <p:cNvPr id="32" name="TextBox 31"/>
          <p:cNvSpPr txBox="1"/>
          <p:nvPr/>
        </p:nvSpPr>
        <p:spPr>
          <a:xfrm>
            <a:off x="5090007"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v1.2.1</a:t>
            </a:r>
          </a:p>
        </p:txBody>
      </p:sp>
      <p:sp>
        <p:nvSpPr>
          <p:cNvPr id="33" name="TextBox 32"/>
          <p:cNvSpPr txBox="1"/>
          <p:nvPr/>
        </p:nvSpPr>
        <p:spPr>
          <a:xfrm>
            <a:off x="5090007"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6 lỗi tích hợp</a:t>
            </a:r>
          </a:p>
        </p:txBody>
      </p:sp>
      <p:sp>
        <p:nvSpPr>
          <p:cNvPr id="34" name="Oval 33"/>
          <p:cNvSpPr/>
          <p:nvPr/>
        </p:nvSpPr>
        <p:spPr>
          <a:xfrm>
            <a:off x="8467115"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89291"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28/09</a:t>
            </a:r>
          </a:p>
        </p:txBody>
      </p:sp>
      <p:sp>
        <p:nvSpPr>
          <p:cNvPr id="36" name="TextBox 35"/>
          <p:cNvSpPr txBox="1"/>
          <p:nvPr/>
        </p:nvSpPr>
        <p:spPr>
          <a:xfrm>
            <a:off x="7589291"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v1.2.3</a:t>
            </a:r>
          </a:p>
        </p:txBody>
      </p:sp>
      <p:sp>
        <p:nvSpPr>
          <p:cNvPr id="37" name="TextBox 36"/>
          <p:cNvSpPr txBox="1"/>
          <p:nvPr/>
        </p:nvSpPr>
        <p:spPr>
          <a:xfrm>
            <a:off x="7589291"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Launcher mọi máy</a:t>
            </a:r>
          </a:p>
        </p:txBody>
      </p:sp>
      <p:sp>
        <p:nvSpPr>
          <p:cNvPr id="38" name="Oval 37"/>
          <p:cNvSpPr/>
          <p:nvPr/>
        </p:nvSpPr>
        <p:spPr>
          <a:xfrm>
            <a:off x="10966399" y="4398264"/>
            <a:ext cx="256032" cy="256032"/>
          </a:xfrm>
          <a:prstGeom prst="ellipse">
            <a:avLst/>
          </a:prstGeom>
          <a:solidFill>
            <a:srgbClr val="0F172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88575"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28/09</a:t>
            </a:r>
          </a:p>
        </p:txBody>
      </p:sp>
      <p:sp>
        <p:nvSpPr>
          <p:cNvPr id="40" name="TextBox 39"/>
          <p:cNvSpPr txBox="1"/>
          <p:nvPr/>
        </p:nvSpPr>
        <p:spPr>
          <a:xfrm>
            <a:off x="10088575"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v1.2.5</a:t>
            </a:r>
          </a:p>
        </p:txBody>
      </p:sp>
      <p:sp>
        <p:nvSpPr>
          <p:cNvPr id="41" name="TextBox 40"/>
          <p:cNvSpPr txBox="1"/>
          <p:nvPr/>
        </p:nvSpPr>
        <p:spPr>
          <a:xfrm>
            <a:off x="10088575"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Supervisor</a:t>
            </a:r>
          </a:p>
        </p:txBody>
      </p:sp>
      <p:sp>
        <p:nvSpPr>
          <p:cNvPr id="42" name="Rounded Rectangle 41"/>
          <p:cNvSpPr/>
          <p:nvPr/>
        </p:nvSpPr>
        <p:spPr>
          <a:xfrm>
            <a:off x="548640" y="5559552"/>
            <a:ext cx="11094415" cy="731520"/>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713232" y="5678424"/>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check_w.png"/>
          <p:cNvPicPr>
            <a:picLocks noChangeAspect="1"/>
          </p:cNvPicPr>
          <p:nvPr/>
        </p:nvPicPr>
        <p:blipFill>
          <a:blip r:embed="rId2"/>
          <a:stretch>
            <a:fillRect/>
          </a:stretch>
        </p:blipFill>
        <p:spPr>
          <a:xfrm>
            <a:off x="831738" y="5796930"/>
            <a:ext cx="256764" cy="256764"/>
          </a:xfrm>
          <a:prstGeom prst="rect">
            <a:avLst/>
          </a:prstGeom>
        </p:spPr>
      </p:pic>
      <p:sp>
        <p:nvSpPr>
          <p:cNvPr id="45" name="TextBox 44"/>
          <p:cNvSpPr txBox="1"/>
          <p:nvPr/>
        </p:nvSpPr>
        <p:spPr>
          <a:xfrm>
            <a:off x="1371600" y="5669280"/>
            <a:ext cx="10088575" cy="548640"/>
          </a:xfrm>
          <a:prstGeom prst="rect">
            <a:avLst/>
          </a:prstGeom>
          <a:noFill/>
        </p:spPr>
        <p:txBody>
          <a:bodyPr wrap="square" lIns="0" rIns="0" tIns="0" bIns="0" anchor="ctr">
            <a:spAutoFit/>
          </a:bodyPr>
          <a:lstStyle/>
          <a:p>
            <a:pPr algn="l">
              <a:lnSpc>
                <a:spcPct val="108000"/>
              </a:lnSpc>
              <a:spcAft>
                <a:spcPts val="400"/>
              </a:spcAft>
            </a:pPr>
            <a:r>
              <a:rPr sz="1300" b="0" i="0">
                <a:solidFill>
                  <a:srgbClr val="0F766E"/>
                </a:solidFill>
                <a:latin typeface="Calibri"/>
              </a:rPr>
              <a:t>Định nghĩa Hoàn thành: review + merge vào develop · build &amp; lint sạch · test đạt · story đối chiếu trong BACKLOG-MAPPING · chạy được trên staging dựng bằng một lệnh.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12  ·  DEMO TRỰC TIẾP</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Kịch bản 6 bước — mỗi bước một vai trò</a:t>
            </a:r>
          </a:p>
        </p:txBody>
      </p:sp>
      <p:sp>
        <p:nvSpPr>
          <p:cNvPr id="4" name="Rounded Rectangle 3"/>
          <p:cNvSpPr/>
          <p:nvPr/>
        </p:nvSpPr>
        <p:spPr>
          <a:xfrm>
            <a:off x="548640"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04672"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hone_w.png"/>
          <p:cNvPicPr>
            <a:picLocks noChangeAspect="1"/>
          </p:cNvPicPr>
          <p:nvPr/>
        </p:nvPicPr>
        <p:blipFill>
          <a:blip r:embed="rId2"/>
          <a:stretch>
            <a:fillRect/>
          </a:stretch>
        </p:blipFill>
        <p:spPr>
          <a:xfrm>
            <a:off x="931956" y="1937796"/>
            <a:ext cx="275784" cy="275784"/>
          </a:xfrm>
          <a:prstGeom prst="rect">
            <a:avLst/>
          </a:prstGeom>
        </p:spPr>
      </p:pic>
      <p:sp>
        <p:nvSpPr>
          <p:cNvPr id="7" name="TextBox 6"/>
          <p:cNvSpPr txBox="1"/>
          <p:nvPr/>
        </p:nvSpPr>
        <p:spPr>
          <a:xfrm>
            <a:off x="3209544"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1</a:t>
            </a:r>
          </a:p>
        </p:txBody>
      </p:sp>
      <p:sp>
        <p:nvSpPr>
          <p:cNvPr id="8" name="TextBox 7"/>
          <p:cNvSpPr txBox="1"/>
          <p:nvPr/>
        </p:nvSpPr>
        <p:spPr>
          <a:xfrm>
            <a:off x="804672"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Khách đặt lịch</a:t>
            </a:r>
          </a:p>
        </p:txBody>
      </p:sp>
      <p:sp>
        <p:nvSpPr>
          <p:cNvPr id="9" name="TextBox 8"/>
          <p:cNvSpPr txBox="1"/>
          <p:nvPr/>
        </p:nvSpPr>
        <p:spPr>
          <a:xfrm>
            <a:off x="804672"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Cửa sổ ẩn danh · /dat-lich</a:t>
            </a:r>
          </a:p>
        </p:txBody>
      </p:sp>
      <p:sp>
        <p:nvSpPr>
          <p:cNvPr id="10" name="TextBox 9"/>
          <p:cNvSpPr txBox="1"/>
          <p:nvPr/>
        </p:nvSpPr>
        <p:spPr>
          <a:xfrm>
            <a:off x="804672"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Cắt tóc nam + Nhuộm → khung giờ 150 phút → mã 8 ký tự, email ở Maildev</a:t>
            </a:r>
          </a:p>
        </p:txBody>
      </p:sp>
      <p:sp>
        <p:nvSpPr>
          <p:cNvPr id="11" name="Rounded Rectangle 10"/>
          <p:cNvSpPr/>
          <p:nvPr/>
        </p:nvSpPr>
        <p:spPr>
          <a:xfrm>
            <a:off x="4315968"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72000"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_w.png"/>
          <p:cNvPicPr>
            <a:picLocks noChangeAspect="1"/>
          </p:cNvPicPr>
          <p:nvPr/>
        </p:nvPicPr>
        <p:blipFill>
          <a:blip r:embed="rId3"/>
          <a:stretch>
            <a:fillRect/>
          </a:stretch>
        </p:blipFill>
        <p:spPr>
          <a:xfrm>
            <a:off x="4699284" y="1937796"/>
            <a:ext cx="275784" cy="275784"/>
          </a:xfrm>
          <a:prstGeom prst="rect">
            <a:avLst/>
          </a:prstGeom>
        </p:spPr>
      </p:pic>
      <p:sp>
        <p:nvSpPr>
          <p:cNvPr id="14" name="TextBox 13"/>
          <p:cNvSpPr txBox="1"/>
          <p:nvPr/>
        </p:nvSpPr>
        <p:spPr>
          <a:xfrm>
            <a:off x="6976872"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2</a:t>
            </a:r>
          </a:p>
        </p:txBody>
      </p:sp>
      <p:sp>
        <p:nvSpPr>
          <p:cNvPr id="15" name="TextBox 14"/>
          <p:cNvSpPr txBox="1"/>
          <p:nvPr/>
        </p:nvSpPr>
        <p:spPr>
          <a:xfrm>
            <a:off x="4572000"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Chống đặt trùng</a:t>
            </a:r>
          </a:p>
        </p:txBody>
      </p:sp>
      <p:sp>
        <p:nvSpPr>
          <p:cNvPr id="16" name="TextBox 15"/>
          <p:cNvSpPr txBox="1"/>
          <p:nvPr/>
        </p:nvSpPr>
        <p:spPr>
          <a:xfrm>
            <a:off x="4572000"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Terminal</a:t>
            </a:r>
          </a:p>
        </p:txBody>
      </p:sp>
      <p:sp>
        <p:nvSpPr>
          <p:cNvPr id="17" name="TextBox 16"/>
          <p:cNvSpPr txBox="1"/>
          <p:nvPr/>
        </p:nvSpPr>
        <p:spPr>
          <a:xfrm>
            <a:off x="4572000"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npm run test:e2e -- booking-concurrency → 1 thành công / 19 nhận 409</a:t>
            </a:r>
          </a:p>
        </p:txBody>
      </p:sp>
      <p:sp>
        <p:nvSpPr>
          <p:cNvPr id="18" name="Rounded Rectangle 17"/>
          <p:cNvSpPr/>
          <p:nvPr/>
        </p:nvSpPr>
        <p:spPr>
          <a:xfrm>
            <a:off x="8083296"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339328"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lendar_w.png"/>
          <p:cNvPicPr>
            <a:picLocks noChangeAspect="1"/>
          </p:cNvPicPr>
          <p:nvPr/>
        </p:nvPicPr>
        <p:blipFill>
          <a:blip r:embed="rId4"/>
          <a:stretch>
            <a:fillRect/>
          </a:stretch>
        </p:blipFill>
        <p:spPr>
          <a:xfrm>
            <a:off x="8466612" y="1937796"/>
            <a:ext cx="275784" cy="275784"/>
          </a:xfrm>
          <a:prstGeom prst="rect">
            <a:avLst/>
          </a:prstGeom>
        </p:spPr>
      </p:pic>
      <p:sp>
        <p:nvSpPr>
          <p:cNvPr id="21" name="TextBox 20"/>
          <p:cNvSpPr txBox="1"/>
          <p:nvPr/>
        </p:nvSpPr>
        <p:spPr>
          <a:xfrm>
            <a:off x="10744200"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3</a:t>
            </a:r>
          </a:p>
        </p:txBody>
      </p:sp>
      <p:sp>
        <p:nvSpPr>
          <p:cNvPr id="22" name="TextBox 21"/>
          <p:cNvSpPr txBox="1"/>
          <p:nvPr/>
        </p:nvSpPr>
        <p:spPr>
          <a:xfrm>
            <a:off x="8339328"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Lễ tân điều phối</a:t>
            </a:r>
          </a:p>
        </p:txBody>
      </p:sp>
      <p:sp>
        <p:nvSpPr>
          <p:cNvPr id="23" name="TextBox 22"/>
          <p:cNvSpPr txBox="1"/>
          <p:nvPr/>
        </p:nvSpPr>
        <p:spPr>
          <a:xfrm>
            <a:off x="8339328"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reception@salon.vn</a:t>
            </a:r>
          </a:p>
        </p:txBody>
      </p:sp>
      <p:sp>
        <p:nvSpPr>
          <p:cNvPr id="24" name="TextBox 23"/>
          <p:cNvSpPr txBox="1"/>
          <p:nvPr/>
        </p:nvSpPr>
        <p:spPr>
          <a:xfrm>
            <a:off x="8339328"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Xác nhận lịch vừa đặt, tạo khách vãng lai, check-in trên Lịch ngày</a:t>
            </a:r>
          </a:p>
        </p:txBody>
      </p:sp>
      <p:sp>
        <p:nvSpPr>
          <p:cNvPr id="25" name="Rounded Rectangle 24"/>
          <p:cNvSpPr/>
          <p:nvPr/>
        </p:nvSpPr>
        <p:spPr>
          <a:xfrm>
            <a:off x="548640"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04672"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cissors_w.png"/>
          <p:cNvPicPr>
            <a:picLocks noChangeAspect="1"/>
          </p:cNvPicPr>
          <p:nvPr/>
        </p:nvPicPr>
        <p:blipFill>
          <a:blip r:embed="rId5"/>
          <a:stretch>
            <a:fillRect/>
          </a:stretch>
        </p:blipFill>
        <p:spPr>
          <a:xfrm>
            <a:off x="931956" y="4360956"/>
            <a:ext cx="275784" cy="275784"/>
          </a:xfrm>
          <a:prstGeom prst="rect">
            <a:avLst/>
          </a:prstGeom>
        </p:spPr>
      </p:pic>
      <p:sp>
        <p:nvSpPr>
          <p:cNvPr id="28" name="TextBox 27"/>
          <p:cNvSpPr txBox="1"/>
          <p:nvPr/>
        </p:nvSpPr>
        <p:spPr>
          <a:xfrm>
            <a:off x="3209544"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4</a:t>
            </a:r>
          </a:p>
        </p:txBody>
      </p:sp>
      <p:sp>
        <p:nvSpPr>
          <p:cNvPr id="29" name="TextBox 28"/>
          <p:cNvSpPr txBox="1"/>
          <p:nvPr/>
        </p:nvSpPr>
        <p:spPr>
          <a:xfrm>
            <a:off x="804672"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Thợ phục vụ</a:t>
            </a:r>
          </a:p>
        </p:txBody>
      </p:sp>
      <p:sp>
        <p:nvSpPr>
          <p:cNvPr id="30" name="TextBox 29"/>
          <p:cNvSpPr txBox="1"/>
          <p:nvPr/>
        </p:nvSpPr>
        <p:spPr>
          <a:xfrm>
            <a:off x="804672"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stylist1@salon.vn</a:t>
            </a:r>
          </a:p>
        </p:txBody>
      </p:sp>
      <p:sp>
        <p:nvSpPr>
          <p:cNvPr id="31" name="TextBox 30"/>
          <p:cNvSpPr txBox="1"/>
          <p:nvPr/>
        </p:nvSpPr>
        <p:spPr>
          <a:xfrm>
            <a:off x="804672"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Bắt đầu → Hoàn tất; SĐT khách hiển thị 098***1234; ghi chú kỹ thuật</a:t>
            </a:r>
          </a:p>
        </p:txBody>
      </p:sp>
      <p:sp>
        <p:nvSpPr>
          <p:cNvPr id="32" name="Rounded Rectangle 31"/>
          <p:cNvSpPr/>
          <p:nvPr/>
        </p:nvSpPr>
        <p:spPr>
          <a:xfrm>
            <a:off x="4315968"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4572000"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receipt_w.png"/>
          <p:cNvPicPr>
            <a:picLocks noChangeAspect="1"/>
          </p:cNvPicPr>
          <p:nvPr/>
        </p:nvPicPr>
        <p:blipFill>
          <a:blip r:embed="rId6"/>
          <a:stretch>
            <a:fillRect/>
          </a:stretch>
        </p:blipFill>
        <p:spPr>
          <a:xfrm>
            <a:off x="4699284" y="4360956"/>
            <a:ext cx="275784" cy="275784"/>
          </a:xfrm>
          <a:prstGeom prst="rect">
            <a:avLst/>
          </a:prstGeom>
        </p:spPr>
      </p:pic>
      <p:sp>
        <p:nvSpPr>
          <p:cNvPr id="35" name="TextBox 34"/>
          <p:cNvSpPr txBox="1"/>
          <p:nvPr/>
        </p:nvSpPr>
        <p:spPr>
          <a:xfrm>
            <a:off x="6976872"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5</a:t>
            </a:r>
          </a:p>
        </p:txBody>
      </p:sp>
      <p:sp>
        <p:nvSpPr>
          <p:cNvPr id="36" name="TextBox 35"/>
          <p:cNvSpPr txBox="1"/>
          <p:nvPr/>
        </p:nvSpPr>
        <p:spPr>
          <a:xfrm>
            <a:off x="4572000"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Thu tiền</a:t>
            </a:r>
          </a:p>
        </p:txBody>
      </p:sp>
      <p:sp>
        <p:nvSpPr>
          <p:cNvPr id="37" name="TextBox 36"/>
          <p:cNvSpPr txBox="1"/>
          <p:nvPr/>
        </p:nvSpPr>
        <p:spPr>
          <a:xfrm>
            <a:off x="4572000"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reception@salon.vn</a:t>
            </a:r>
          </a:p>
        </p:txBody>
      </p:sp>
      <p:sp>
        <p:nvSpPr>
          <p:cNvPr id="38" name="TextBox 37"/>
          <p:cNvSpPr txBox="1"/>
          <p:nvPr/>
        </p:nvSpPr>
        <p:spPr>
          <a:xfrm>
            <a:off x="4572000"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Lập phiếu, mã NGAYTHUONG10 → 270.000 đ, đóng phiếu → email đánh giá</a:t>
            </a:r>
          </a:p>
        </p:txBody>
      </p:sp>
      <p:sp>
        <p:nvSpPr>
          <p:cNvPr id="39" name="Rounded Rectangle 38"/>
          <p:cNvSpPr/>
          <p:nvPr/>
        </p:nvSpPr>
        <p:spPr>
          <a:xfrm>
            <a:off x="8083296"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339328"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hart_w.png"/>
          <p:cNvPicPr>
            <a:picLocks noChangeAspect="1"/>
          </p:cNvPicPr>
          <p:nvPr/>
        </p:nvPicPr>
        <p:blipFill>
          <a:blip r:embed="rId7"/>
          <a:stretch>
            <a:fillRect/>
          </a:stretch>
        </p:blipFill>
        <p:spPr>
          <a:xfrm>
            <a:off x="8466612" y="4360956"/>
            <a:ext cx="275784" cy="275784"/>
          </a:xfrm>
          <a:prstGeom prst="rect">
            <a:avLst/>
          </a:prstGeom>
        </p:spPr>
      </p:pic>
      <p:sp>
        <p:nvSpPr>
          <p:cNvPr id="42" name="TextBox 41"/>
          <p:cNvSpPr txBox="1"/>
          <p:nvPr/>
        </p:nvSpPr>
        <p:spPr>
          <a:xfrm>
            <a:off x="10744200"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6</a:t>
            </a:r>
          </a:p>
        </p:txBody>
      </p:sp>
      <p:sp>
        <p:nvSpPr>
          <p:cNvPr id="43" name="TextBox 42"/>
          <p:cNvSpPr txBox="1"/>
          <p:nvPr/>
        </p:nvSpPr>
        <p:spPr>
          <a:xfrm>
            <a:off x="8339328"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Báo cáo &amp; kiểm soát</a:t>
            </a:r>
          </a:p>
        </p:txBody>
      </p:sp>
      <p:sp>
        <p:nvSpPr>
          <p:cNvPr id="44" name="TextBox 43"/>
          <p:cNvSpPr txBox="1"/>
          <p:nvPr/>
        </p:nvSpPr>
        <p:spPr>
          <a:xfrm>
            <a:off x="8339328"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owner@ · admin@</a:t>
            </a:r>
          </a:p>
        </p:txBody>
      </p:sp>
      <p:sp>
        <p:nvSpPr>
          <p:cNvPr id="45" name="TextBox 44"/>
          <p:cNvSpPr txBox="1"/>
          <p:nvPr/>
        </p:nvSpPr>
        <p:spPr>
          <a:xfrm>
            <a:off x="8339328"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Doanh thu cộng đúng thợ, xuất CSV; Nhật ký ghi mọi thao tác</a:t>
            </a:r>
          </a:p>
        </p:txBody>
      </p:sp>
      <p:sp>
        <p:nvSpPr>
          <p:cNvPr id="46" name="TextBox 4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7" name="TextBox 4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548640"/>
            <a:ext cx="73152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13  ·  KẾT LUẬN</a:t>
            </a:r>
          </a:p>
        </p:txBody>
      </p:sp>
      <p:sp>
        <p:nvSpPr>
          <p:cNvPr id="3" name="TextBox 2"/>
          <p:cNvSpPr txBox="1"/>
          <p:nvPr/>
        </p:nvSpPr>
        <p:spPr>
          <a:xfrm>
            <a:off x="548640" y="868680"/>
            <a:ext cx="6766560" cy="1280160"/>
          </a:xfrm>
          <a:prstGeom prst="rect">
            <a:avLst/>
          </a:prstGeom>
          <a:noFill/>
        </p:spPr>
        <p:txBody>
          <a:bodyPr wrap="square" lIns="0" rIns="0" tIns="0" bIns="0" anchor="t">
            <a:spAutoFit/>
          </a:bodyPr>
          <a:lstStyle/>
          <a:p>
            <a:pPr algn="l">
              <a:lnSpc>
                <a:spcPct val="100000"/>
              </a:lnSpc>
              <a:spcAft>
                <a:spcPts val="400"/>
              </a:spcAft>
            </a:pPr>
            <a:r>
              <a:rPr sz="3600" b="1" i="0">
                <a:solidFill>
                  <a:srgbClr val="FFFFFF"/>
                </a:solidFill>
                <a:latin typeface="Calibri"/>
              </a:rPr>
              <a:t>Từ sổ tay đến một hệ thống vận hành trọn vẹn</a:t>
            </a:r>
          </a:p>
        </p:txBody>
      </p:sp>
      <p:sp>
        <p:nvSpPr>
          <p:cNvPr id="4" name="Oval 3"/>
          <p:cNvSpPr/>
          <p:nvPr/>
        </p:nvSpPr>
        <p:spPr>
          <a:xfrm>
            <a:off x="548640" y="246888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w.png"/>
          <p:cNvPicPr>
            <a:picLocks noChangeAspect="1"/>
          </p:cNvPicPr>
          <p:nvPr/>
        </p:nvPicPr>
        <p:blipFill>
          <a:blip r:embed="rId2"/>
          <a:stretch>
            <a:fillRect/>
          </a:stretch>
        </p:blipFill>
        <p:spPr>
          <a:xfrm>
            <a:off x="630936" y="2551176"/>
            <a:ext cx="219456" cy="219456"/>
          </a:xfrm>
          <a:prstGeom prst="rect">
            <a:avLst/>
          </a:prstGeom>
        </p:spPr>
      </p:pic>
      <p:sp>
        <p:nvSpPr>
          <p:cNvPr id="6" name="TextBox 5"/>
          <p:cNvSpPr txBox="1"/>
          <p:nvPr/>
        </p:nvSpPr>
        <p:spPr>
          <a:xfrm>
            <a:off x="1143000" y="242316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39 / 39 story · 165 point</a:t>
            </a:r>
          </a:p>
        </p:txBody>
      </p:sp>
      <p:sp>
        <p:nvSpPr>
          <p:cNvPr id="7" name="TextBox 6"/>
          <p:cNvSpPr txBox="1"/>
          <p:nvPr/>
        </p:nvSpPr>
        <p:spPr>
          <a:xfrm>
            <a:off x="1143000" y="277063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Hoàn thành toàn bộ Product Backlog trong 4 Sprint</a:t>
            </a:r>
          </a:p>
        </p:txBody>
      </p:sp>
      <p:sp>
        <p:nvSpPr>
          <p:cNvPr id="8" name="Oval 7"/>
          <p:cNvSpPr/>
          <p:nvPr/>
        </p:nvSpPr>
        <p:spPr>
          <a:xfrm>
            <a:off x="548640" y="333756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png"/>
          <p:cNvPicPr>
            <a:picLocks noChangeAspect="1"/>
          </p:cNvPicPr>
          <p:nvPr/>
        </p:nvPicPr>
        <p:blipFill>
          <a:blip r:embed="rId2"/>
          <a:stretch>
            <a:fillRect/>
          </a:stretch>
        </p:blipFill>
        <p:spPr>
          <a:xfrm>
            <a:off x="630936" y="3419856"/>
            <a:ext cx="219456" cy="219456"/>
          </a:xfrm>
          <a:prstGeom prst="rect">
            <a:avLst/>
          </a:prstGeom>
        </p:spPr>
      </p:pic>
      <p:sp>
        <p:nvSpPr>
          <p:cNvPr id="10" name="TextBox 9"/>
          <p:cNvSpPr txBox="1"/>
          <p:nvPr/>
        </p:nvSpPr>
        <p:spPr>
          <a:xfrm>
            <a:off x="1143000" y="329184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Không chồng lịch</a:t>
            </a:r>
          </a:p>
        </p:txBody>
      </p:sp>
      <p:sp>
        <p:nvSpPr>
          <p:cNvPr id="11" name="TextBox 10"/>
          <p:cNvSpPr txBox="1"/>
          <p:nvPr/>
        </p:nvSpPr>
        <p:spPr>
          <a:xfrm>
            <a:off x="1143000" y="363931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Ba lớp bảo vệ, chứng minh bằng 20 yêu cầu đồng thời</a:t>
            </a:r>
          </a:p>
        </p:txBody>
      </p:sp>
      <p:sp>
        <p:nvSpPr>
          <p:cNvPr id="12" name="Oval 11"/>
          <p:cNvSpPr/>
          <p:nvPr/>
        </p:nvSpPr>
        <p:spPr>
          <a:xfrm>
            <a:off x="548640" y="420624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png"/>
          <p:cNvPicPr>
            <a:picLocks noChangeAspect="1"/>
          </p:cNvPicPr>
          <p:nvPr/>
        </p:nvPicPr>
        <p:blipFill>
          <a:blip r:embed="rId2"/>
          <a:stretch>
            <a:fillRect/>
          </a:stretch>
        </p:blipFill>
        <p:spPr>
          <a:xfrm>
            <a:off x="630936" y="4288536"/>
            <a:ext cx="219456" cy="219456"/>
          </a:xfrm>
          <a:prstGeom prst="rect">
            <a:avLst/>
          </a:prstGeom>
        </p:spPr>
      </p:pic>
      <p:sp>
        <p:nvSpPr>
          <p:cNvPr id="14" name="TextBox 13"/>
          <p:cNvSpPr txBox="1"/>
          <p:nvPr/>
        </p:nvSpPr>
        <p:spPr>
          <a:xfrm>
            <a:off x="1143000" y="416052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Minh bạch doanh thu</a:t>
            </a:r>
          </a:p>
        </p:txBody>
      </p:sp>
      <p:sp>
        <p:nvSpPr>
          <p:cNvPr id="15" name="TextBox 14"/>
          <p:cNvSpPr txBox="1"/>
          <p:nvPr/>
        </p:nvSpPr>
        <p:spPr>
          <a:xfrm>
            <a:off x="1143000" y="450799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Phiếu khoá, nhật ký chỉ đọc, RBAC 5 vai trò</a:t>
            </a:r>
          </a:p>
        </p:txBody>
      </p:sp>
      <p:sp>
        <p:nvSpPr>
          <p:cNvPr id="16" name="Oval 15"/>
          <p:cNvSpPr/>
          <p:nvPr/>
        </p:nvSpPr>
        <p:spPr>
          <a:xfrm>
            <a:off x="548640" y="507492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png"/>
          <p:cNvPicPr>
            <a:picLocks noChangeAspect="1"/>
          </p:cNvPicPr>
          <p:nvPr/>
        </p:nvPicPr>
        <p:blipFill>
          <a:blip r:embed="rId2"/>
          <a:stretch>
            <a:fillRect/>
          </a:stretch>
        </p:blipFill>
        <p:spPr>
          <a:xfrm>
            <a:off x="630936" y="5157216"/>
            <a:ext cx="219456" cy="219456"/>
          </a:xfrm>
          <a:prstGeom prst="rect">
            <a:avLst/>
          </a:prstGeom>
        </p:spPr>
      </p:pic>
      <p:sp>
        <p:nvSpPr>
          <p:cNvPr id="18" name="TextBox 17"/>
          <p:cNvSpPr txBox="1"/>
          <p:nvPr/>
        </p:nvSpPr>
        <p:spPr>
          <a:xfrm>
            <a:off x="1143000" y="502920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Triển khai 1 chạm</a:t>
            </a:r>
          </a:p>
        </p:txBody>
      </p:sp>
      <p:sp>
        <p:nvSpPr>
          <p:cNvPr id="19" name="TextBox 18"/>
          <p:cNvSpPr txBox="1"/>
          <p:nvPr/>
        </p:nvSpPr>
        <p:spPr>
          <a:xfrm>
            <a:off x="1143000" y="537667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Tự phục hồi trên Windows, macOS, Linux</a:t>
            </a:r>
          </a:p>
        </p:txBody>
      </p:sp>
      <p:sp>
        <p:nvSpPr>
          <p:cNvPr id="20" name="TextBox 19"/>
          <p:cNvSpPr txBox="1"/>
          <p:nvPr/>
        </p:nvSpPr>
        <p:spPr>
          <a:xfrm>
            <a:off x="548640" y="5989320"/>
            <a:ext cx="6858000" cy="274320"/>
          </a:xfrm>
          <a:prstGeom prst="rect">
            <a:avLst/>
          </a:prstGeom>
          <a:noFill/>
        </p:spPr>
        <p:txBody>
          <a:bodyPr wrap="square" lIns="0" rIns="0" tIns="0" bIns="0" anchor="t">
            <a:spAutoFit/>
          </a:bodyPr>
          <a:lstStyle/>
          <a:p>
            <a:pPr algn="l">
              <a:lnSpc>
                <a:spcPct val="108000"/>
              </a:lnSpc>
              <a:spcAft>
                <a:spcPts val="400"/>
              </a:spcAft>
            </a:pPr>
            <a:r>
              <a:rPr sz="1250" b="0" i="0">
                <a:solidFill>
                  <a:srgbClr val="94A3B8"/>
                </a:solidFill>
                <a:latin typeface="Calibri"/>
              </a:rPr>
              <a:t>Hướng phát triển: thanh toán &amp; đặt cọc online · nhắc lịch Zalo/SMS · đa chi nhánh · CI/CD</a:t>
            </a:r>
          </a:p>
        </p:txBody>
      </p:sp>
      <p:sp>
        <p:nvSpPr>
          <p:cNvPr id="21" name="Rounded Rectangle 20"/>
          <p:cNvSpPr/>
          <p:nvPr/>
        </p:nvSpPr>
        <p:spPr>
          <a:xfrm>
            <a:off x="7635240" y="548640"/>
            <a:ext cx="4005072" cy="5760720"/>
          </a:xfrm>
          <a:prstGeom prst="roundRect">
            <a:avLst>
              <a:gd name="adj" fmla="val 8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134856" y="1280160"/>
            <a:ext cx="1005840" cy="100584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lp_w.png"/>
          <p:cNvPicPr>
            <a:picLocks noChangeAspect="1"/>
          </p:cNvPicPr>
          <p:nvPr/>
        </p:nvPicPr>
        <p:blipFill>
          <a:blip r:embed="rId3"/>
          <a:stretch>
            <a:fillRect/>
          </a:stretch>
        </p:blipFill>
        <p:spPr>
          <a:xfrm>
            <a:off x="9376257" y="1521561"/>
            <a:ext cx="523038" cy="523038"/>
          </a:xfrm>
          <a:prstGeom prst="rect">
            <a:avLst/>
          </a:prstGeom>
        </p:spPr>
      </p:pic>
      <p:sp>
        <p:nvSpPr>
          <p:cNvPr id="24" name="TextBox 23"/>
          <p:cNvSpPr txBox="1"/>
          <p:nvPr/>
        </p:nvSpPr>
        <p:spPr>
          <a:xfrm>
            <a:off x="7635240" y="2514600"/>
            <a:ext cx="4005072" cy="914400"/>
          </a:xfrm>
          <a:prstGeom prst="rect">
            <a:avLst/>
          </a:prstGeom>
          <a:noFill/>
        </p:spPr>
        <p:txBody>
          <a:bodyPr wrap="square" lIns="0" rIns="0" tIns="0" bIns="0" anchor="t">
            <a:spAutoFit/>
          </a:bodyPr>
          <a:lstStyle/>
          <a:p>
            <a:pPr algn="ctr">
              <a:lnSpc>
                <a:spcPct val="108000"/>
              </a:lnSpc>
              <a:spcAft>
                <a:spcPts val="400"/>
              </a:spcAft>
            </a:pPr>
            <a:r>
              <a:rPr sz="5400" b="1" i="0">
                <a:solidFill>
                  <a:srgbClr val="FFFFFF"/>
                </a:solidFill>
                <a:latin typeface="Calibri"/>
              </a:rPr>
              <a:t>Q &amp; A</a:t>
            </a:r>
          </a:p>
        </p:txBody>
      </p:sp>
      <p:sp>
        <p:nvSpPr>
          <p:cNvPr id="25" name="TextBox 24"/>
          <p:cNvSpPr txBox="1"/>
          <p:nvPr/>
        </p:nvSpPr>
        <p:spPr>
          <a:xfrm>
            <a:off x="8001000" y="3566160"/>
            <a:ext cx="3273552" cy="731520"/>
          </a:xfrm>
          <a:prstGeom prst="rect">
            <a:avLst/>
          </a:prstGeom>
          <a:noFill/>
        </p:spPr>
        <p:txBody>
          <a:bodyPr wrap="square" lIns="0" rIns="0" tIns="0" bIns="0" anchor="t">
            <a:spAutoFit/>
          </a:bodyPr>
          <a:lstStyle/>
          <a:p>
            <a:pPr algn="ctr">
              <a:lnSpc>
                <a:spcPct val="108000"/>
              </a:lnSpc>
              <a:spcAft>
                <a:spcPts val="400"/>
              </a:spcAft>
            </a:pPr>
            <a:r>
              <a:rPr sz="1600" b="0" i="0">
                <a:solidFill>
                  <a:srgbClr val="CBD5E1"/>
                </a:solidFill>
                <a:latin typeface="Calibri"/>
              </a:rPr>
              <a:t>Cảm ơn thầy và các bạn đã lắng nghe!</a:t>
            </a:r>
          </a:p>
        </p:txBody>
      </p:sp>
      <p:sp>
        <p:nvSpPr>
          <p:cNvPr id="26" name="TextBox 25"/>
          <p:cNvSpPr txBox="1"/>
          <p:nvPr/>
        </p:nvSpPr>
        <p:spPr>
          <a:xfrm>
            <a:off x="8001000" y="4754880"/>
            <a:ext cx="3273552" cy="1280160"/>
          </a:xfrm>
          <a:prstGeom prst="rect">
            <a:avLst/>
          </a:prstGeom>
          <a:noFill/>
        </p:spPr>
        <p:txBody>
          <a:bodyPr wrap="square" lIns="0" rIns="0" tIns="0" bIns="0" anchor="t">
            <a:spAutoFit/>
          </a:bodyPr>
          <a:lstStyle/>
          <a:p>
            <a:pPr algn="ctr">
              <a:lnSpc>
                <a:spcPct val="108000"/>
              </a:lnSpc>
              <a:spcAft>
                <a:spcPts val="300"/>
              </a:spcAft>
            </a:pPr>
            <a:r>
              <a:rPr sz="1300" b="1" i="0">
                <a:solidFill>
                  <a:srgbClr val="5EEAD4"/>
                </a:solidFill>
                <a:latin typeface="Calibri"/>
              </a:rPr>
              <a:t>Nhóm 3 · TTCS_T926_K2S3_N3</a:t>
            </a:r>
          </a:p>
          <a:p>
            <a:pPr algn="ctr">
              <a:lnSpc>
                <a:spcPct val="108000"/>
              </a:lnSpc>
              <a:spcAft>
                <a:spcPts val="300"/>
              </a:spcAft>
            </a:pPr>
            <a:r>
              <a:rPr sz="1300" b="0" i="0">
                <a:solidFill>
                  <a:srgbClr val="94A3B8"/>
                </a:solidFill>
                <a:latin typeface="Calibri"/>
              </a:rPr>
              <a:t>GVHD / PO: ThS. Cấn Tuấn Anh</a:t>
            </a:r>
          </a:p>
          <a:p>
            <a:pPr algn="ctr">
              <a:lnSpc>
                <a:spcPct val="108000"/>
              </a:lnSpc>
              <a:spcAft>
                <a:spcPts val="300"/>
              </a:spcAft>
            </a:pPr>
            <a:r>
              <a:rPr sz="1100" b="0" i="0">
                <a:solidFill>
                  <a:srgbClr val="94A3B8"/>
                </a:solidFill>
                <a:latin typeface="Calibri"/>
              </a:rPr>
              <a:t>github.com/steveprovip/thucTap_HeThongDatLichSPA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Đặt lịch và Quản lý Vận hành Salon - Spa</dc:title>
  <dc:subject/>
  <dc:creator>Nhóm 3 – TTCS_T926_K2S3_N3</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