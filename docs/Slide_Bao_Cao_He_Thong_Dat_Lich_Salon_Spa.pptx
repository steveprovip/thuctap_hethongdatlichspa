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Story Point</c:v>
                </c:pt>
              </c:strCache>
            </c:strRef>
          </c:tx>
          <c:spPr>
            <a:solidFill>
              <a:srgbClr val="0D9488"/>
            </a:solidFill>
          </c:spPr>
          <c:cat>
            <c:strRef>
              <c:f>Sheet1!$A$2:$A$7</c:f>
              <c:strCache>
                <c:ptCount val="6"/>
                <c:pt idx="0">
                  <c:v>EP-06  Nhắc lịch, thông báo và báo cáo</c:v>
                </c:pt>
                <c:pt idx="1">
                  <c:v>EP-05  Thanh toán và hồ sơ khách hàng</c:v>
                </c:pt>
                <c:pt idx="2">
                  <c:v>EP-04  Vận hành lịch hẹn hằng ngày</c:v>
                </c:pt>
                <c:pt idx="3">
                  <c:v>EP-03  Đặt lịch công khai và tính khung giờ trống</c:v>
                </c:pt>
                <c:pt idx="4">
                  <c:v>EP-02  Dịch vụ, thợ và lịch làm việc</c:v>
                </c:pt>
                <c:pt idx="5">
                  <c:v>EP-01  Tài khoản và phân quyền</c:v>
                </c:pt>
              </c:strCache>
            </c:strRef>
          </c:cat>
          <c:val>
            <c:numRef>
              <c:f>Sheet1!$B$2:$B$7</c:f>
              <c:numCache>
                <c:formatCode>General</c:formatCode>
                <c:ptCount val="6"/>
                <c:pt idx="0">
                  <c:v>18</c:v>
                </c:pt>
                <c:pt idx="1">
                  <c:v>23</c:v>
                </c:pt>
                <c:pt idx="2">
                  <c:v>39</c:v>
                </c:pt>
                <c:pt idx="3">
                  <c:v>31</c:v>
                </c:pt>
                <c:pt idx="4">
                  <c:v>27</c:v>
                </c:pt>
                <c:pt idx="5">
                  <c:v>27</c:v>
                </c:pt>
              </c:numCache>
            </c:numRef>
          </c:val>
        </c:ser>
        <c:dLbls>
          <c:txPr>
            <a:bodyPr/>
            <a:lstStyle/>
            <a:p>
              <a:pPr>
                <a:defRPr sz="1200" b="1">
                  <a:solidFill>
                    <a:srgbClr val="0F172A"/>
                  </a:solidFill>
                </a:defRPr>
              </a:pPr>
            </a:p>
          </c:txPr>
          <c:dLblPos val="outEnd"/>
          <c:showLegendKey val="0"/>
          <c:showVal val="1"/>
          <c:showCatName val="0"/>
          <c:showSerName val="0"/>
          <c:showPercent val="0"/>
          <c:showBubbleSize val="0"/>
          <c:showLeaderLines val="1"/>
        </c:dLbls>
        <c:gapWidth val="55"/>
        <c:axId val="2226939960"/>
        <c:axId val="2180972856"/>
      </c:barChart>
      <c:catAx>
        <c:axId val="2226939960"/>
        <c:scaling>
          <c:orientation val="minMax"/>
        </c:scaling>
        <c:delete val="0"/>
        <c:axPos val="l"/>
        <c:majorTickMark val="out"/>
        <c:minorTickMark val="none"/>
        <c:tickLblPos val="nextTo"/>
        <c:spPr>
          <a:ln>
            <a:solidFill>
              <a:srgbClr val="E2E8F0"/>
            </a:solidFill>
          </a:ln>
        </c:spPr>
        <c:txPr>
          <a:bodyPr/>
          <a:lstStyle/>
          <a:p>
            <a:pPr>
              <a:defRPr sz="1100">
                <a:solidFill>
                  <a:srgbClr val="475569"/>
                </a:solidFill>
              </a:defRPr>
            </a:pPr>
          </a:p>
        </c:txPr>
        <c:crossAx val="2180972856"/>
        <c:crosses val="autoZero"/>
        <c:auto val="1"/>
        <c:lblAlgn val="ctr"/>
        <c:lblOffset val="100"/>
        <c:noMultiLvlLbl val="0"/>
      </c:catAx>
      <c:valAx>
        <c:axId val="2180972856"/>
        <c:scaling>
          <c:max val="46.0"/>
        </c:scaling>
        <c:delete/>
        <c:axPos val="b"/>
        <c:majorTickMark val="out"/>
        <c:minorTickMark val="none"/>
        <c:tickLblPos val="nextTo"/>
        <c:crossAx val="2226939960"/>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chào thầy và các bạn. Nhóm 3 xin trình bày đề tài Xây dựng Hệ thống Đặt lịch và Quản lý Vận hành Salon - Spa, do thầy Cấn Tuấn Anh hướng dẫn, đồng thời là Product Owner. Nhóm gồm 10 thành viên, thực hiện theo Scrum qua 4 Sprint.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Đối tượng là salon quy mô vừa 6–8 thợ, 10–15 dịch vụ. Khảo sát cho thấy 6 vấn đề: chồng lịch, mất khách, no-show, gian lận doanh thu, thiếu dữ liệu khách và báo cáo chậm. Chồng lịch là vấn đề nặng nhất và cũng là thách thức kỹ thuật chính của đề tài.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Kiến trúc monorepo: frontend React 18 + Vite + Tailwind, backend NestJS phân tầng Controller–Service–Repository, CSDL PostgreSQL 15. Điểm quan trọng: các quy tắc toàn vẹn cốt lõi được cài ngay trong CSDL, không chỉ ở tầng ứng dụng.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Thầy Cấn Tuấn Anh là Product Owner. Backlog có 6 epic, 39 story, 165 point. Sprint 1: 10 story 40 point, nền tảng tài khoản và danh mục. Sprint 2: 9 story 42 point, ca làm và đặt lịch công khai. Sprint 3: 10 story 42 point; Sprint 4: 10 story 41 point, theo Excel gốc. EP-04 Vận hành lịch hẹn là epic lớn nhất. Mỗi Sprint kết thúc bằng Review có demo và PO nghiệm thu.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Khách chọn tối đa 5 dịch vụ, hệ thống cộng dồn thời lượng và tiền. Bước khung giờ chỉ hiện những mốc mà thợ rảnh liên tục đủ tổng thời lượng. Bộ tính được viết thành hàm thuần, tính bằng phút từ 00:00, nên kiểm thử đơn vị dễ và nhanh: 35 ca, tất cả đạt. Giao diện tối ưu cho điện thoại 360 px.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Rủi ro lớn nhất: hai khách cùng bấm chốt một khung giờ. Nhóm dùng ba lớp độc lập: giao dịch SERIALIZABLE, khoá dòng thợ bằng SELECT FOR UPDATE để các yêu cầu xếp hàng, và ràng buộc EXCLUDE USING gist trên khoảng thời gian ở tầng CSDL. Kiểm thử bắn 20 yêu cầu đồng thời: luôn đúng 1 thành công, 19 nhận 409.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Lịch ngày là màn hình trung tâm của lễ tân: mỗi thợ một cột, trục 15 phút. Từ đây lễ tân xác nhận, check-in, đổi thợ hoặc dời giờ, đánh dấu không đến. Khi một thợ nghỉ đột xuất, chức năng chuyển lịch hàng loạt gợi ý thợ thay thế đủ kỹ năng cho từng lịch.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Thợ đăng nhập chỉ thấy lịch của chính mình. Số điện thoại khách được che ngay ở backend nên dữ liệu gốc không bao giờ gửi xuống máy của thợ. Hồ sơ khách gộp theo số điện thoại, có lịch sử 10 lượt và ghi chú kỹ thuật để phục vụ khách quen tốt hơn.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Chủ tiệm có tổng quan tự làm mới 60 giây, doanh thu theo thợ và dịch vụ, xuất CSV. Phiếu tính tiền lưu giá tại thời điểm hẹn, chỉ một mã giảm giá, phiếu đã đóng bị khoá – đây là cơ chế chống gian lận. Phân quyền theo 4 vai trò nhân sự và phạm vi khách công khai, cùng nguồn quyền cho giao diện và guard API.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sao chép dự án sang bất kỳ máy nào, bật Docker Desktop, nhấp đúp run_project.bat. Launcher kiểm tra Node, dựng Docker, tạo .env, cài gói khi lockfile đổi, nạp dữ liệu an toàn, rồi bộ giám sát chạy API và giao diện. Bản v1.2.5 xử lý lỗi Windows 3221226505: dịch vụ sập được tự khởi động lại, Ctrl+C dừng sạch cả cây tiến trình. SSE phát sau commit; TypeORM migration có phiên bản và rollback bước lỗi. update_project.bat build bản mới, sao lưu trước migration, healthcheck; lỗi bật lại bản build cũ, giữ migration đã hoàn tất tương thích. Máy vận hành không seed dữ liệu mẫu.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Kiểm định 06/10/2026: 139 unit test, 83 E2E trong 12 bộ, 4 test Demo đạt. Build và lint sạch. 39 story / 165 point đối chiếu Excel gốc và BACKLOG-MAPPING; test tự động không thay thế biên bản nghiệm thu thủ công của PO.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Chuẩn bị: chạy run_project.bat, mở sẵn giao diện 5173, Maildev 1080, Swagger và một cửa sổ ẩn danh. Bước 1 bạn đóng vai khách đặt lịch. Bước 2 chạy kiểm thử đồng thời. Bước 3 lễ tân xác nhận, vãng lai, check-in. Bước 4 thợ hoàn tất và ghi chú. Bước 5 lễ tân lập phiếu với mã giảm giá. Bước 6 chủ tiệm xem doanh thu, quản trị xem nhật ký. Chi tiết trong docs/DEMO-SCRIPT.md.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Tóm lại, nhóm đã hoàn thành 39/39 story, giải quyết trực tiếp các vấn đề của cách quản lý thủ công. Hướng phát triển: thanh toán và đặt cọc trực tuyến, nhắc lịch qua Zalo/SMS, đa chi nhánh và CI/CD. Nhóm xin cảm ơn và sẵn sàng trả lời câu hỏi.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1.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image" Target="../media/image24.jp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1.png"/><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9.png"/><Relationship Id="rId4" Type="http://schemas.openxmlformats.org/officeDocument/2006/relationships/image" Target="../media/image10.png"/><Relationship Id="rId5" Type="http://schemas.openxmlformats.org/officeDocument/2006/relationships/image" Target="../media/image12.png"/><Relationship Id="rId6" Type="http://schemas.openxmlformats.org/officeDocument/2006/relationships/image" Target="../media/image30.png"/><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17.png"/><Relationship Id="rId4" Type="http://schemas.openxmlformats.org/officeDocument/2006/relationships/image" Target="../media/image13.png"/><Relationship Id="rId5" Type="http://schemas.openxmlformats.org/officeDocument/2006/relationships/image" Target="../media/image25.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34.png"/><Relationship Id="rId4"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502920"/>
            <a:ext cx="7315200"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5EEAD4"/>
                </a:solidFill>
                <a:latin typeface="Calibri"/>
              </a:rPr>
              <a:t>TRƯỜNG ĐẠI HỌC CÔNG NGHỆ THÔNG TIN VÀ TRUYỀN THÔNG</a:t>
            </a:r>
          </a:p>
        </p:txBody>
      </p:sp>
      <p:sp>
        <p:nvSpPr>
          <p:cNvPr id="3" name="TextBox 2"/>
          <p:cNvSpPr txBox="1"/>
          <p:nvPr/>
        </p:nvSpPr>
        <p:spPr>
          <a:xfrm>
            <a:off x="548640" y="777240"/>
            <a:ext cx="7315200" cy="274320"/>
          </a:xfrm>
          <a:prstGeom prst="rect">
            <a:avLst/>
          </a:prstGeom>
          <a:noFill/>
        </p:spPr>
        <p:txBody>
          <a:bodyPr wrap="square" lIns="0" rIns="0" tIns="0" bIns="0" anchor="t">
            <a:spAutoFit/>
          </a:bodyPr>
          <a:lstStyle/>
          <a:p>
            <a:pPr algn="l">
              <a:lnSpc>
                <a:spcPct val="108000"/>
              </a:lnSpc>
              <a:spcAft>
                <a:spcPts val="400"/>
              </a:spcAft>
            </a:pPr>
            <a:r>
              <a:rPr sz="1200" b="0" i="0">
                <a:solidFill>
                  <a:srgbClr val="94A3B8"/>
                </a:solidFill>
                <a:latin typeface="Calibri"/>
              </a:rPr>
              <a:t>Báo cáo thực tập tốt nghiệp · Lớp TTCS_T926_K2S3_N3</a:t>
            </a:r>
          </a:p>
        </p:txBody>
      </p:sp>
      <p:sp>
        <p:nvSpPr>
          <p:cNvPr id="4" name="TextBox 3"/>
          <p:cNvSpPr txBox="1"/>
          <p:nvPr/>
        </p:nvSpPr>
        <p:spPr>
          <a:xfrm>
            <a:off x="548640" y="1417320"/>
            <a:ext cx="6583680" cy="2103120"/>
          </a:xfrm>
          <a:prstGeom prst="rect">
            <a:avLst/>
          </a:prstGeom>
          <a:noFill/>
        </p:spPr>
        <p:txBody>
          <a:bodyPr wrap="square" lIns="0" rIns="0" tIns="0" bIns="0" anchor="t">
            <a:spAutoFit/>
          </a:bodyPr>
          <a:lstStyle/>
          <a:p>
            <a:pPr algn="l">
              <a:lnSpc>
                <a:spcPct val="100000"/>
              </a:lnSpc>
              <a:spcAft>
                <a:spcPts val="0"/>
              </a:spcAft>
            </a:pPr>
            <a:r>
              <a:rPr sz="4200" b="1" i="0">
                <a:solidFill>
                  <a:srgbClr val="FFFFFF"/>
                </a:solidFill>
                <a:latin typeface="Calibri"/>
              </a:rPr>
              <a:t>Hệ thống Đặt lịch</a:t>
            </a:r>
          </a:p>
          <a:p>
            <a:pPr algn="l">
              <a:lnSpc>
                <a:spcPct val="100000"/>
              </a:lnSpc>
              <a:spcAft>
                <a:spcPts val="0"/>
              </a:spcAft>
            </a:pPr>
            <a:r>
              <a:rPr sz="4200" b="1" i="0">
                <a:solidFill>
                  <a:srgbClr val="FFFFFF"/>
                </a:solidFill>
                <a:latin typeface="Calibri"/>
              </a:rPr>
              <a:t>&amp; Quản lý Vận hành</a:t>
            </a:r>
          </a:p>
          <a:p>
            <a:pPr algn="l">
              <a:lnSpc>
                <a:spcPct val="100000"/>
              </a:lnSpc>
              <a:spcAft>
                <a:spcPts val="0"/>
              </a:spcAft>
            </a:pPr>
            <a:r>
              <a:rPr sz="4200" b="1" i="0">
                <a:solidFill>
                  <a:srgbClr val="5EEAD4"/>
                </a:solidFill>
                <a:latin typeface="Calibri"/>
              </a:rPr>
              <a:t>Salon - Spa</a:t>
            </a:r>
          </a:p>
        </p:txBody>
      </p:sp>
      <p:sp>
        <p:nvSpPr>
          <p:cNvPr id="5" name="TextBox 4"/>
          <p:cNvSpPr txBox="1"/>
          <p:nvPr/>
        </p:nvSpPr>
        <p:spPr>
          <a:xfrm>
            <a:off x="548640" y="3611880"/>
            <a:ext cx="6217920" cy="822960"/>
          </a:xfrm>
          <a:prstGeom prst="rect">
            <a:avLst/>
          </a:prstGeom>
          <a:noFill/>
        </p:spPr>
        <p:txBody>
          <a:bodyPr wrap="square" lIns="0" rIns="0" tIns="0" bIns="0" anchor="t">
            <a:spAutoFit/>
          </a:bodyPr>
          <a:lstStyle/>
          <a:p>
            <a:pPr algn="l">
              <a:lnSpc>
                <a:spcPct val="108000"/>
              </a:lnSpc>
              <a:spcAft>
                <a:spcPts val="400"/>
              </a:spcAft>
            </a:pPr>
            <a:r>
              <a:rPr sz="1600" b="0" i="0">
                <a:solidFill>
                  <a:srgbClr val="CBD5E1"/>
                </a:solidFill>
                <a:latin typeface="Calibri"/>
              </a:rPr>
              <a:t>Đặt lịch trực tuyến 24/7, không bao giờ chồng lịch, vận hành minh bạch từ quầy lễ tân đến báo cáo doanh thu.</a:t>
            </a:r>
          </a:p>
        </p:txBody>
      </p:sp>
      <p:sp>
        <p:nvSpPr>
          <p:cNvPr id="6" name="Rounded Rectangle 5"/>
          <p:cNvSpPr/>
          <p:nvPr/>
        </p:nvSpPr>
        <p:spPr>
          <a:xfrm>
            <a:off x="548640" y="4526280"/>
            <a:ext cx="6309360" cy="169164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645152"/>
            <a:ext cx="5852160"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5EEAD4"/>
                </a:solidFill>
                <a:latin typeface="Calibri"/>
              </a:rPr>
              <a:t>NHÓM 3  ·  GVHD / PO: ThS. Cấn Tuấn Anh</a:t>
            </a:r>
          </a:p>
        </p:txBody>
      </p:sp>
      <p:sp>
        <p:nvSpPr>
          <p:cNvPr id="8" name="TextBox 7"/>
          <p:cNvSpPr txBox="1"/>
          <p:nvPr/>
        </p:nvSpPr>
        <p:spPr>
          <a:xfrm>
            <a:off x="822960" y="4956048"/>
            <a:ext cx="2926080" cy="1234440"/>
          </a:xfrm>
          <a:prstGeom prst="rect">
            <a:avLst/>
          </a:prstGeom>
          <a:noFill/>
        </p:spPr>
        <p:txBody>
          <a:bodyPr wrap="square" lIns="0" rIns="0" tIns="0" bIns="0" anchor="t">
            <a:spAutoFit/>
          </a:bodyPr>
          <a:lstStyle/>
          <a:p>
            <a:pPr algn="l">
              <a:lnSpc>
                <a:spcPct val="108000"/>
              </a:lnSpc>
              <a:spcAft>
                <a:spcPts val="100"/>
              </a:spcAft>
            </a:pPr>
            <a:r>
              <a:rPr sz="1250" b="0" i="0">
                <a:solidFill>
                  <a:srgbClr val="E2E8F0"/>
                </a:solidFill>
                <a:latin typeface="Calibri"/>
              </a:rPr>
              <a:t>Nguyễn Duy Linh</a:t>
            </a:r>
          </a:p>
          <a:p>
            <a:pPr algn="l">
              <a:lnSpc>
                <a:spcPct val="108000"/>
              </a:lnSpc>
              <a:spcAft>
                <a:spcPts val="100"/>
              </a:spcAft>
            </a:pPr>
            <a:r>
              <a:rPr sz="1250" b="0" i="0">
                <a:solidFill>
                  <a:srgbClr val="E2E8F0"/>
                </a:solidFill>
                <a:latin typeface="Calibri"/>
              </a:rPr>
              <a:t>Lê Thị Phương Linh</a:t>
            </a:r>
          </a:p>
          <a:p>
            <a:pPr algn="l">
              <a:lnSpc>
                <a:spcPct val="108000"/>
              </a:lnSpc>
              <a:spcAft>
                <a:spcPts val="100"/>
              </a:spcAft>
            </a:pPr>
            <a:r>
              <a:rPr sz="1250" b="0" i="0">
                <a:solidFill>
                  <a:srgbClr val="E2E8F0"/>
                </a:solidFill>
                <a:latin typeface="Calibri"/>
              </a:rPr>
              <a:t>Trương Quốc Khánh</a:t>
            </a:r>
          </a:p>
          <a:p>
            <a:pPr algn="l">
              <a:lnSpc>
                <a:spcPct val="108000"/>
              </a:lnSpc>
              <a:spcAft>
                <a:spcPts val="100"/>
              </a:spcAft>
            </a:pPr>
            <a:r>
              <a:rPr sz="1250" b="0" i="0">
                <a:solidFill>
                  <a:srgbClr val="E2E8F0"/>
                </a:solidFill>
                <a:latin typeface="Calibri"/>
              </a:rPr>
              <a:t>Nguyễn Nam Khánh</a:t>
            </a:r>
          </a:p>
          <a:p>
            <a:pPr algn="l">
              <a:lnSpc>
                <a:spcPct val="108000"/>
              </a:lnSpc>
              <a:spcAft>
                <a:spcPts val="100"/>
              </a:spcAft>
            </a:pPr>
            <a:r>
              <a:rPr sz="1250" b="0" i="0">
                <a:solidFill>
                  <a:srgbClr val="E2E8F0"/>
                </a:solidFill>
                <a:latin typeface="Calibri"/>
              </a:rPr>
              <a:t>Bùi Quang Minh</a:t>
            </a:r>
          </a:p>
        </p:txBody>
      </p:sp>
      <p:sp>
        <p:nvSpPr>
          <p:cNvPr id="9" name="TextBox 8"/>
          <p:cNvSpPr txBox="1"/>
          <p:nvPr/>
        </p:nvSpPr>
        <p:spPr>
          <a:xfrm>
            <a:off x="3794760" y="4956048"/>
            <a:ext cx="2926080" cy="1234440"/>
          </a:xfrm>
          <a:prstGeom prst="rect">
            <a:avLst/>
          </a:prstGeom>
          <a:noFill/>
        </p:spPr>
        <p:txBody>
          <a:bodyPr wrap="square" lIns="0" rIns="0" tIns="0" bIns="0" anchor="t">
            <a:spAutoFit/>
          </a:bodyPr>
          <a:lstStyle/>
          <a:p>
            <a:pPr algn="l">
              <a:lnSpc>
                <a:spcPct val="108000"/>
              </a:lnSpc>
              <a:spcAft>
                <a:spcPts val="100"/>
              </a:spcAft>
            </a:pPr>
            <a:r>
              <a:rPr sz="1250" b="0" i="0">
                <a:solidFill>
                  <a:srgbClr val="E2E8F0"/>
                </a:solidFill>
                <a:latin typeface="Calibri"/>
              </a:rPr>
              <a:t>Nguyễn Thị Hương</a:t>
            </a:r>
          </a:p>
          <a:p>
            <a:pPr algn="l">
              <a:lnSpc>
                <a:spcPct val="108000"/>
              </a:lnSpc>
              <a:spcAft>
                <a:spcPts val="100"/>
              </a:spcAft>
            </a:pPr>
            <a:r>
              <a:rPr sz="1250" b="0" i="0">
                <a:solidFill>
                  <a:srgbClr val="E2E8F0"/>
                </a:solidFill>
                <a:latin typeface="Calibri"/>
              </a:rPr>
              <a:t>Dương Đức Mạnh</a:t>
            </a:r>
          </a:p>
          <a:p>
            <a:pPr algn="l">
              <a:lnSpc>
                <a:spcPct val="108000"/>
              </a:lnSpc>
              <a:spcAft>
                <a:spcPts val="100"/>
              </a:spcAft>
            </a:pPr>
            <a:r>
              <a:rPr sz="1250" b="0" i="0">
                <a:solidFill>
                  <a:srgbClr val="E2E8F0"/>
                </a:solidFill>
                <a:latin typeface="Calibri"/>
              </a:rPr>
              <a:t>Phương Đình Khoa Nam</a:t>
            </a:r>
          </a:p>
          <a:p>
            <a:pPr algn="l">
              <a:lnSpc>
                <a:spcPct val="108000"/>
              </a:lnSpc>
              <a:spcAft>
                <a:spcPts val="100"/>
              </a:spcAft>
            </a:pPr>
            <a:r>
              <a:rPr sz="1250" b="0" i="0">
                <a:solidFill>
                  <a:srgbClr val="E2E8F0"/>
                </a:solidFill>
                <a:latin typeface="Calibri"/>
              </a:rPr>
              <a:t>Nguyễn Hoàng Long</a:t>
            </a:r>
          </a:p>
          <a:p>
            <a:pPr algn="l">
              <a:lnSpc>
                <a:spcPct val="108000"/>
              </a:lnSpc>
              <a:spcAft>
                <a:spcPts val="100"/>
              </a:spcAft>
            </a:pPr>
            <a:r>
              <a:rPr sz="1250" b="0" i="0">
                <a:solidFill>
                  <a:srgbClr val="E2E8F0"/>
                </a:solidFill>
                <a:latin typeface="Calibri"/>
              </a:rPr>
              <a:t>Phạm Mậu Lực</a:t>
            </a:r>
          </a:p>
        </p:txBody>
      </p:sp>
      <p:pic>
        <p:nvPicPr>
          <p:cNvPr id="10" name="Picture 9" descr="01_home.jpg"/>
          <p:cNvPicPr>
            <a:picLocks noChangeAspect="1"/>
          </p:cNvPicPr>
          <p:nvPr/>
        </p:nvPicPr>
        <p:blipFill>
          <a:blip r:embed="rId2"/>
          <a:srcRect/>
          <a:stretch>
            <a:fillRect/>
          </a:stretch>
        </p:blipFill>
        <p:spPr>
          <a:xfrm>
            <a:off x="7269480" y="1234440"/>
            <a:ext cx="4389120" cy="2743200"/>
          </a:xfrm>
          <a:prstGeom prst="roundRect">
            <a:avLst>
              <a:gd name="adj" fmla="val 3500"/>
            </a:avLst>
          </a:prstGeom>
          <a:ln w="12700">
            <a:solidFill>
              <a:srgbClr val="334155"/>
            </a:solidFill>
          </a:ln>
        </p:spPr>
      </p:pic>
      <p:pic>
        <p:nvPicPr>
          <p:cNvPr id="11" name="Picture 10" descr="05_timeline.jpg"/>
          <p:cNvPicPr>
            <a:picLocks noChangeAspect="1"/>
          </p:cNvPicPr>
          <p:nvPr/>
        </p:nvPicPr>
        <p:blipFill>
          <a:blip r:embed="rId3"/>
          <a:srcRect/>
          <a:stretch>
            <a:fillRect/>
          </a:stretch>
        </p:blipFill>
        <p:spPr>
          <a:xfrm>
            <a:off x="8001000" y="3566160"/>
            <a:ext cx="3657600" cy="2286000"/>
          </a:xfrm>
          <a:prstGeom prst="roundRect">
            <a:avLst>
              <a:gd name="adj" fmla="val 3500"/>
            </a:avLst>
          </a:prstGeom>
          <a:ln w="12700">
            <a:solidFill>
              <a:srgbClr val="334155"/>
            </a:solidFill>
          </a:ln>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0D9488"/>
                </a:solidFill>
                <a:latin typeface="Calibri"/>
              </a:rPr>
              <a:t>02  ·  BỐI CẢNH</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lnSpc>
                <a:spcPct val="108000"/>
              </a:lnSpc>
              <a:spcAft>
                <a:spcPts val="400"/>
              </a:spcAft>
            </a:pPr>
            <a:r>
              <a:rPr sz="3200" b="1" i="0">
                <a:solidFill>
                  <a:srgbClr val="0F172A"/>
                </a:solidFill>
                <a:latin typeface="Calibri"/>
              </a:rPr>
              <a:t>Salon 6–8 thợ vẫn quản lý lịch bằng sổ tay và Zalo</a:t>
            </a:r>
          </a:p>
        </p:txBody>
      </p:sp>
      <p:sp>
        <p:nvSpPr>
          <p:cNvPr id="4" name="Rounded Rectangle 3"/>
          <p:cNvSpPr/>
          <p:nvPr/>
        </p:nvSpPr>
        <p:spPr>
          <a:xfrm>
            <a:off x="548640" y="1600200"/>
            <a:ext cx="3529584" cy="210312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22960" y="1874520"/>
            <a:ext cx="566928" cy="566928"/>
          </a:xfrm>
          <a:prstGeom prst="ellipse">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overlap_w.png"/>
          <p:cNvPicPr>
            <a:picLocks noChangeAspect="1"/>
          </p:cNvPicPr>
          <p:nvPr/>
        </p:nvPicPr>
        <p:blipFill>
          <a:blip r:embed="rId2"/>
          <a:stretch>
            <a:fillRect/>
          </a:stretch>
        </p:blipFill>
        <p:spPr>
          <a:xfrm>
            <a:off x="959022" y="2010582"/>
            <a:ext cx="294804" cy="294804"/>
          </a:xfrm>
          <a:prstGeom prst="rect">
            <a:avLst/>
          </a:prstGeom>
        </p:spPr>
      </p:pic>
      <p:sp>
        <p:nvSpPr>
          <p:cNvPr id="7" name="TextBox 6"/>
          <p:cNvSpPr txBox="1"/>
          <p:nvPr/>
        </p:nvSpPr>
        <p:spPr>
          <a:xfrm>
            <a:off x="822960" y="2560320"/>
            <a:ext cx="2980944" cy="365760"/>
          </a:xfrm>
          <a:prstGeom prst="rect">
            <a:avLst/>
          </a:prstGeom>
          <a:noFill/>
        </p:spPr>
        <p:txBody>
          <a:bodyPr wrap="square" lIns="0" rIns="0" tIns="0" bIns="0" anchor="t">
            <a:spAutoFit/>
          </a:bodyPr>
          <a:lstStyle/>
          <a:p>
            <a:pPr algn="l">
              <a:lnSpc>
                <a:spcPct val="108000"/>
              </a:lnSpc>
              <a:spcAft>
                <a:spcPts val="400"/>
              </a:spcAft>
            </a:pPr>
            <a:r>
              <a:rPr sz="1800" b="1" i="0">
                <a:solidFill>
                  <a:srgbClr val="0F172A"/>
                </a:solidFill>
                <a:latin typeface="Calibri"/>
              </a:rPr>
              <a:t>Chồng lịch</a:t>
            </a:r>
          </a:p>
        </p:txBody>
      </p:sp>
      <p:sp>
        <p:nvSpPr>
          <p:cNvPr id="8" name="TextBox 7"/>
          <p:cNvSpPr txBox="1"/>
          <p:nvPr/>
        </p:nvSpPr>
        <p:spPr>
          <a:xfrm>
            <a:off x="822960" y="2926080"/>
            <a:ext cx="2980944" cy="731520"/>
          </a:xfrm>
          <a:prstGeom prst="rect">
            <a:avLst/>
          </a:prstGeom>
          <a:noFill/>
        </p:spPr>
        <p:txBody>
          <a:bodyPr wrap="square" lIns="0" rIns="0" tIns="0" bIns="0" anchor="t">
            <a:spAutoFit/>
          </a:bodyPr>
          <a:lstStyle/>
          <a:p>
            <a:pPr algn="l">
              <a:lnSpc>
                <a:spcPct val="108000"/>
              </a:lnSpc>
              <a:spcAft>
                <a:spcPts val="400"/>
              </a:spcAft>
            </a:pPr>
            <a:r>
              <a:rPr sz="1350" b="0" i="0">
                <a:solidFill>
                  <a:srgbClr val="475569"/>
                </a:solidFill>
                <a:latin typeface="Calibri"/>
              </a:rPr>
              <a:t>Hai người cùng nhận lịch cho một thợ; dịch vụ 120 phút lấn sang lịch kế tiếp.</a:t>
            </a:r>
          </a:p>
        </p:txBody>
      </p:sp>
      <p:sp>
        <p:nvSpPr>
          <p:cNvPr id="9" name="Rounded Rectangle 8"/>
          <p:cNvSpPr/>
          <p:nvPr/>
        </p:nvSpPr>
        <p:spPr>
          <a:xfrm>
            <a:off x="4315968" y="1600200"/>
            <a:ext cx="3529584" cy="210312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590288" y="1874520"/>
            <a:ext cx="566928" cy="56692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ost_w.png"/>
          <p:cNvPicPr>
            <a:picLocks noChangeAspect="1"/>
          </p:cNvPicPr>
          <p:nvPr/>
        </p:nvPicPr>
        <p:blipFill>
          <a:blip r:embed="rId3"/>
          <a:stretch>
            <a:fillRect/>
          </a:stretch>
        </p:blipFill>
        <p:spPr>
          <a:xfrm>
            <a:off x="4726350" y="2010582"/>
            <a:ext cx="294804" cy="294804"/>
          </a:xfrm>
          <a:prstGeom prst="rect">
            <a:avLst/>
          </a:prstGeom>
        </p:spPr>
      </p:pic>
      <p:sp>
        <p:nvSpPr>
          <p:cNvPr id="12" name="TextBox 11"/>
          <p:cNvSpPr txBox="1"/>
          <p:nvPr/>
        </p:nvSpPr>
        <p:spPr>
          <a:xfrm>
            <a:off x="4590288" y="2560320"/>
            <a:ext cx="2980944" cy="365760"/>
          </a:xfrm>
          <a:prstGeom prst="rect">
            <a:avLst/>
          </a:prstGeom>
          <a:noFill/>
        </p:spPr>
        <p:txBody>
          <a:bodyPr wrap="square" lIns="0" rIns="0" tIns="0" bIns="0" anchor="t">
            <a:spAutoFit/>
          </a:bodyPr>
          <a:lstStyle/>
          <a:p>
            <a:pPr algn="l">
              <a:lnSpc>
                <a:spcPct val="108000"/>
              </a:lnSpc>
              <a:spcAft>
                <a:spcPts val="400"/>
              </a:spcAft>
            </a:pPr>
            <a:r>
              <a:rPr sz="1800" b="1" i="0">
                <a:solidFill>
                  <a:srgbClr val="0F172A"/>
                </a:solidFill>
                <a:latin typeface="Calibri"/>
              </a:rPr>
              <a:t>Mất khách</a:t>
            </a:r>
          </a:p>
        </p:txBody>
      </p:sp>
      <p:sp>
        <p:nvSpPr>
          <p:cNvPr id="13" name="TextBox 12"/>
          <p:cNvSpPr txBox="1"/>
          <p:nvPr/>
        </p:nvSpPr>
        <p:spPr>
          <a:xfrm>
            <a:off x="4590288" y="2926080"/>
            <a:ext cx="2980944" cy="731520"/>
          </a:xfrm>
          <a:prstGeom prst="rect">
            <a:avLst/>
          </a:prstGeom>
          <a:noFill/>
        </p:spPr>
        <p:txBody>
          <a:bodyPr wrap="square" lIns="0" rIns="0" tIns="0" bIns="0" anchor="t">
            <a:spAutoFit/>
          </a:bodyPr>
          <a:lstStyle/>
          <a:p>
            <a:pPr algn="l">
              <a:lnSpc>
                <a:spcPct val="108000"/>
              </a:lnSpc>
              <a:spcAft>
                <a:spcPts val="400"/>
              </a:spcAft>
            </a:pPr>
            <a:r>
              <a:rPr sz="1350" b="0" i="0">
                <a:solidFill>
                  <a:srgbClr val="475569"/>
                </a:solidFill>
                <a:latin typeface="Calibri"/>
              </a:rPr>
              <a:t>Tin nhắn ngoài giờ, giờ cao điểm không ai trả lời kịp — khách sang tiệm khác.</a:t>
            </a:r>
          </a:p>
        </p:txBody>
      </p:sp>
      <p:sp>
        <p:nvSpPr>
          <p:cNvPr id="14" name="Rounded Rectangle 13"/>
          <p:cNvSpPr/>
          <p:nvPr/>
        </p:nvSpPr>
        <p:spPr>
          <a:xfrm>
            <a:off x="8083296" y="1600200"/>
            <a:ext cx="3529584" cy="210312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57616" y="1874520"/>
            <a:ext cx="566928" cy="56692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noshow_w.png"/>
          <p:cNvPicPr>
            <a:picLocks noChangeAspect="1"/>
          </p:cNvPicPr>
          <p:nvPr/>
        </p:nvPicPr>
        <p:blipFill>
          <a:blip r:embed="rId4"/>
          <a:stretch>
            <a:fillRect/>
          </a:stretch>
        </p:blipFill>
        <p:spPr>
          <a:xfrm>
            <a:off x="8493678" y="2010582"/>
            <a:ext cx="294804" cy="294804"/>
          </a:xfrm>
          <a:prstGeom prst="rect">
            <a:avLst/>
          </a:prstGeom>
        </p:spPr>
      </p:pic>
      <p:sp>
        <p:nvSpPr>
          <p:cNvPr id="17" name="TextBox 16"/>
          <p:cNvSpPr txBox="1"/>
          <p:nvPr/>
        </p:nvSpPr>
        <p:spPr>
          <a:xfrm>
            <a:off x="8357616" y="2560320"/>
            <a:ext cx="2980944" cy="365760"/>
          </a:xfrm>
          <a:prstGeom prst="rect">
            <a:avLst/>
          </a:prstGeom>
          <a:noFill/>
        </p:spPr>
        <p:txBody>
          <a:bodyPr wrap="square" lIns="0" rIns="0" tIns="0" bIns="0" anchor="t">
            <a:spAutoFit/>
          </a:bodyPr>
          <a:lstStyle/>
          <a:p>
            <a:pPr algn="l">
              <a:lnSpc>
                <a:spcPct val="108000"/>
              </a:lnSpc>
              <a:spcAft>
                <a:spcPts val="400"/>
              </a:spcAft>
            </a:pPr>
            <a:r>
              <a:rPr sz="1800" b="1" i="0">
                <a:solidFill>
                  <a:srgbClr val="0F172A"/>
                </a:solidFill>
                <a:latin typeface="Calibri"/>
              </a:rPr>
              <a:t>Khách không đến</a:t>
            </a:r>
          </a:p>
        </p:txBody>
      </p:sp>
      <p:sp>
        <p:nvSpPr>
          <p:cNvPr id="18" name="TextBox 17"/>
          <p:cNvSpPr txBox="1"/>
          <p:nvPr/>
        </p:nvSpPr>
        <p:spPr>
          <a:xfrm>
            <a:off x="8357616" y="2926080"/>
            <a:ext cx="2980944" cy="731520"/>
          </a:xfrm>
          <a:prstGeom prst="rect">
            <a:avLst/>
          </a:prstGeom>
          <a:noFill/>
        </p:spPr>
        <p:txBody>
          <a:bodyPr wrap="square" lIns="0" rIns="0" tIns="0" bIns="0" anchor="t">
            <a:spAutoFit/>
          </a:bodyPr>
          <a:lstStyle/>
          <a:p>
            <a:pPr algn="l">
              <a:lnSpc>
                <a:spcPct val="108000"/>
              </a:lnSpc>
              <a:spcAft>
                <a:spcPts val="400"/>
              </a:spcAft>
            </a:pPr>
            <a:r>
              <a:rPr sz="1350" b="0" i="0">
                <a:solidFill>
                  <a:srgbClr val="475569"/>
                </a:solidFill>
                <a:latin typeface="Calibri"/>
              </a:rPr>
              <a:t>Không nhắc lịch, không lưu lịch sử lỡ hẹn — thợ ngồi chờ, khung giờ bỏ phí.</a:t>
            </a:r>
          </a:p>
        </p:txBody>
      </p:sp>
      <p:sp>
        <p:nvSpPr>
          <p:cNvPr id="19" name="Rounded Rectangle 18"/>
          <p:cNvSpPr/>
          <p:nvPr/>
        </p:nvSpPr>
        <p:spPr>
          <a:xfrm>
            <a:off x="548640" y="3959352"/>
            <a:ext cx="3529584" cy="210312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22960" y="4233672"/>
            <a:ext cx="566928" cy="56692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fraud_w.png"/>
          <p:cNvPicPr>
            <a:picLocks noChangeAspect="1"/>
          </p:cNvPicPr>
          <p:nvPr/>
        </p:nvPicPr>
        <p:blipFill>
          <a:blip r:embed="rId5"/>
          <a:stretch>
            <a:fillRect/>
          </a:stretch>
        </p:blipFill>
        <p:spPr>
          <a:xfrm>
            <a:off x="959022" y="4369734"/>
            <a:ext cx="294804" cy="294804"/>
          </a:xfrm>
          <a:prstGeom prst="rect">
            <a:avLst/>
          </a:prstGeom>
        </p:spPr>
      </p:pic>
      <p:sp>
        <p:nvSpPr>
          <p:cNvPr id="22" name="TextBox 21"/>
          <p:cNvSpPr txBox="1"/>
          <p:nvPr/>
        </p:nvSpPr>
        <p:spPr>
          <a:xfrm>
            <a:off x="822960" y="4919472"/>
            <a:ext cx="2980944" cy="365760"/>
          </a:xfrm>
          <a:prstGeom prst="rect">
            <a:avLst/>
          </a:prstGeom>
          <a:noFill/>
        </p:spPr>
        <p:txBody>
          <a:bodyPr wrap="square" lIns="0" rIns="0" tIns="0" bIns="0" anchor="t">
            <a:spAutoFit/>
          </a:bodyPr>
          <a:lstStyle/>
          <a:p>
            <a:pPr algn="l">
              <a:lnSpc>
                <a:spcPct val="108000"/>
              </a:lnSpc>
              <a:spcAft>
                <a:spcPts val="400"/>
              </a:spcAft>
            </a:pPr>
            <a:r>
              <a:rPr sz="1800" b="1" i="0">
                <a:solidFill>
                  <a:srgbClr val="0F172A"/>
                </a:solidFill>
                <a:latin typeface="Calibri"/>
              </a:rPr>
              <a:t>Thất thoát doanh thu</a:t>
            </a:r>
          </a:p>
        </p:txBody>
      </p:sp>
      <p:sp>
        <p:nvSpPr>
          <p:cNvPr id="23" name="TextBox 22"/>
          <p:cNvSpPr txBox="1"/>
          <p:nvPr/>
        </p:nvSpPr>
        <p:spPr>
          <a:xfrm>
            <a:off x="822960" y="5285232"/>
            <a:ext cx="2980944" cy="731520"/>
          </a:xfrm>
          <a:prstGeom prst="rect">
            <a:avLst/>
          </a:prstGeom>
          <a:noFill/>
        </p:spPr>
        <p:txBody>
          <a:bodyPr wrap="square" lIns="0" rIns="0" tIns="0" bIns="0" anchor="t">
            <a:spAutoFit/>
          </a:bodyPr>
          <a:lstStyle/>
          <a:p>
            <a:pPr algn="l">
              <a:lnSpc>
                <a:spcPct val="108000"/>
              </a:lnSpc>
              <a:spcAft>
                <a:spcPts val="400"/>
              </a:spcAft>
            </a:pPr>
            <a:r>
              <a:rPr sz="1350" b="0" i="0">
                <a:solidFill>
                  <a:srgbClr val="475569"/>
                </a:solidFill>
                <a:latin typeface="Calibri"/>
              </a:rPr>
              <a:t>Thu tiền mặt không ghi phiếu, sửa sổ sau khi thu, áp ưu đãi tuỳ tiện.</a:t>
            </a:r>
          </a:p>
        </p:txBody>
      </p:sp>
      <p:sp>
        <p:nvSpPr>
          <p:cNvPr id="24" name="Rounded Rectangle 23"/>
          <p:cNvSpPr/>
          <p:nvPr/>
        </p:nvSpPr>
        <p:spPr>
          <a:xfrm>
            <a:off x="4315968" y="3959352"/>
            <a:ext cx="3529584" cy="210312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4590288" y="4233672"/>
            <a:ext cx="566928" cy="56692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data_w.png"/>
          <p:cNvPicPr>
            <a:picLocks noChangeAspect="1"/>
          </p:cNvPicPr>
          <p:nvPr/>
        </p:nvPicPr>
        <p:blipFill>
          <a:blip r:embed="rId6"/>
          <a:stretch>
            <a:fillRect/>
          </a:stretch>
        </p:blipFill>
        <p:spPr>
          <a:xfrm>
            <a:off x="4726350" y="4369734"/>
            <a:ext cx="294804" cy="294804"/>
          </a:xfrm>
          <a:prstGeom prst="rect">
            <a:avLst/>
          </a:prstGeom>
        </p:spPr>
      </p:pic>
      <p:sp>
        <p:nvSpPr>
          <p:cNvPr id="27" name="TextBox 26"/>
          <p:cNvSpPr txBox="1"/>
          <p:nvPr/>
        </p:nvSpPr>
        <p:spPr>
          <a:xfrm>
            <a:off x="4590288" y="4919472"/>
            <a:ext cx="2980944" cy="365760"/>
          </a:xfrm>
          <a:prstGeom prst="rect">
            <a:avLst/>
          </a:prstGeom>
          <a:noFill/>
        </p:spPr>
        <p:txBody>
          <a:bodyPr wrap="square" lIns="0" rIns="0" tIns="0" bIns="0" anchor="t">
            <a:spAutoFit/>
          </a:bodyPr>
          <a:lstStyle/>
          <a:p>
            <a:pPr algn="l">
              <a:lnSpc>
                <a:spcPct val="108000"/>
              </a:lnSpc>
              <a:spcAft>
                <a:spcPts val="400"/>
              </a:spcAft>
            </a:pPr>
            <a:r>
              <a:rPr sz="1800" b="1" i="0">
                <a:solidFill>
                  <a:srgbClr val="0F172A"/>
                </a:solidFill>
                <a:latin typeface="Calibri"/>
              </a:rPr>
              <a:t>Không có dữ liệu khách</a:t>
            </a:r>
          </a:p>
        </p:txBody>
      </p:sp>
      <p:sp>
        <p:nvSpPr>
          <p:cNvPr id="28" name="TextBox 27"/>
          <p:cNvSpPr txBox="1"/>
          <p:nvPr/>
        </p:nvSpPr>
        <p:spPr>
          <a:xfrm>
            <a:off x="4590288" y="5285232"/>
            <a:ext cx="2980944" cy="731520"/>
          </a:xfrm>
          <a:prstGeom prst="rect">
            <a:avLst/>
          </a:prstGeom>
          <a:noFill/>
        </p:spPr>
        <p:txBody>
          <a:bodyPr wrap="square" lIns="0" rIns="0" tIns="0" bIns="0" anchor="t">
            <a:spAutoFit/>
          </a:bodyPr>
          <a:lstStyle/>
          <a:p>
            <a:pPr algn="l">
              <a:lnSpc>
                <a:spcPct val="108000"/>
              </a:lnSpc>
              <a:spcAft>
                <a:spcPts val="400"/>
              </a:spcAft>
            </a:pPr>
            <a:r>
              <a:rPr sz="1350" b="0" i="0">
                <a:solidFill>
                  <a:srgbClr val="475569"/>
                </a:solidFill>
                <a:latin typeface="Calibri"/>
              </a:rPr>
              <a:t>Không biết khách từng làm gì, dùng sản phẩm nào, thích thợ nào.</a:t>
            </a:r>
          </a:p>
        </p:txBody>
      </p:sp>
      <p:sp>
        <p:nvSpPr>
          <p:cNvPr id="29" name="Rounded Rectangle 28"/>
          <p:cNvSpPr/>
          <p:nvPr/>
        </p:nvSpPr>
        <p:spPr>
          <a:xfrm>
            <a:off x="8083296" y="3959352"/>
            <a:ext cx="3529584" cy="210312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8357616" y="4233672"/>
            <a:ext cx="566928" cy="56692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report_w.png"/>
          <p:cNvPicPr>
            <a:picLocks noChangeAspect="1"/>
          </p:cNvPicPr>
          <p:nvPr/>
        </p:nvPicPr>
        <p:blipFill>
          <a:blip r:embed="rId7"/>
          <a:stretch>
            <a:fillRect/>
          </a:stretch>
        </p:blipFill>
        <p:spPr>
          <a:xfrm>
            <a:off x="8493678" y="4369734"/>
            <a:ext cx="294804" cy="294804"/>
          </a:xfrm>
          <a:prstGeom prst="rect">
            <a:avLst/>
          </a:prstGeom>
        </p:spPr>
      </p:pic>
      <p:sp>
        <p:nvSpPr>
          <p:cNvPr id="32" name="TextBox 31"/>
          <p:cNvSpPr txBox="1"/>
          <p:nvPr/>
        </p:nvSpPr>
        <p:spPr>
          <a:xfrm>
            <a:off x="8357616" y="4919472"/>
            <a:ext cx="2980944" cy="365760"/>
          </a:xfrm>
          <a:prstGeom prst="rect">
            <a:avLst/>
          </a:prstGeom>
          <a:noFill/>
        </p:spPr>
        <p:txBody>
          <a:bodyPr wrap="square" lIns="0" rIns="0" tIns="0" bIns="0" anchor="t">
            <a:spAutoFit/>
          </a:bodyPr>
          <a:lstStyle/>
          <a:p>
            <a:pPr algn="l">
              <a:lnSpc>
                <a:spcPct val="108000"/>
              </a:lnSpc>
              <a:spcAft>
                <a:spcPts val="400"/>
              </a:spcAft>
            </a:pPr>
            <a:r>
              <a:rPr sz="1800" b="1" i="0">
                <a:solidFill>
                  <a:srgbClr val="0F172A"/>
                </a:solidFill>
                <a:latin typeface="Calibri"/>
              </a:rPr>
              <a:t>Báo cáo chậm</a:t>
            </a:r>
          </a:p>
        </p:txBody>
      </p:sp>
      <p:sp>
        <p:nvSpPr>
          <p:cNvPr id="33" name="TextBox 32"/>
          <p:cNvSpPr txBox="1"/>
          <p:nvPr/>
        </p:nvSpPr>
        <p:spPr>
          <a:xfrm>
            <a:off x="8357616" y="5285232"/>
            <a:ext cx="2980944" cy="731520"/>
          </a:xfrm>
          <a:prstGeom prst="rect">
            <a:avLst/>
          </a:prstGeom>
          <a:noFill/>
        </p:spPr>
        <p:txBody>
          <a:bodyPr wrap="square" lIns="0" rIns="0" tIns="0" bIns="0" anchor="t">
            <a:spAutoFit/>
          </a:bodyPr>
          <a:lstStyle/>
          <a:p>
            <a:pPr algn="l">
              <a:lnSpc>
                <a:spcPct val="108000"/>
              </a:lnSpc>
              <a:spcAft>
                <a:spcPts val="400"/>
              </a:spcAft>
            </a:pPr>
            <a:r>
              <a:rPr sz="1350" b="0" i="0">
                <a:solidFill>
                  <a:srgbClr val="475569"/>
                </a:solidFill>
                <a:latin typeface="Calibri"/>
              </a:rPr>
              <a:t>Cuối tháng mới cộng sổ; quyết định kinh doanh dựa trên cảm tính.</a:t>
            </a:r>
          </a:p>
        </p:txBody>
      </p:sp>
      <p:sp>
        <p:nvSpPr>
          <p:cNvPr id="34" name="TextBox 33"/>
          <p:cNvSpPr txBox="1"/>
          <p:nvPr/>
        </p:nvSpPr>
        <p:spPr>
          <a:xfrm>
            <a:off x="548640" y="6446520"/>
            <a:ext cx="7315200" cy="228600"/>
          </a:xfrm>
          <a:prstGeom prst="rect">
            <a:avLst/>
          </a:prstGeom>
          <a:noFill/>
        </p:spPr>
        <p:txBody>
          <a:bodyPr wrap="square" lIns="0" rIns="0" tIns="0" bIns="0" anchor="t">
            <a:spAutoFit/>
          </a:bodyPr>
          <a:lstStyle/>
          <a:p>
            <a:pPr algn="l">
              <a:lnSpc>
                <a:spcPct val="108000"/>
              </a:lnSpc>
              <a:spcAft>
                <a:spcPts val="400"/>
              </a:spcAft>
            </a:pPr>
            <a:r>
              <a:rPr sz="1000" b="0" i="0">
                <a:solidFill>
                  <a:srgbClr val="94A3B8"/>
                </a:solidFill>
                <a:latin typeface="Calibri"/>
              </a:rPr>
              <a:t>Nhóm 3 · TTCS_T926_K2S3_N3 · Hệ thống Đặt lịch và Quản lý Vận hành Salon - Spa</a:t>
            </a:r>
          </a:p>
        </p:txBody>
      </p:sp>
      <p:sp>
        <p:nvSpPr>
          <p:cNvPr id="35" name="TextBox 34"/>
          <p:cNvSpPr txBox="1"/>
          <p:nvPr/>
        </p:nvSpPr>
        <p:spPr>
          <a:xfrm>
            <a:off x="10271455" y="6446520"/>
            <a:ext cx="1371600" cy="228600"/>
          </a:xfrm>
          <a:prstGeom prst="rect">
            <a:avLst/>
          </a:prstGeom>
          <a:noFill/>
        </p:spPr>
        <p:txBody>
          <a:bodyPr wrap="square" lIns="0" rIns="0" tIns="0" bIns="0" anchor="t">
            <a:spAutoFit/>
          </a:bodyPr>
          <a:lstStyle/>
          <a:p>
            <a:pPr algn="r">
              <a:lnSpc>
                <a:spcPct val="108000"/>
              </a:lnSpc>
              <a:spcAft>
                <a:spcPts val="400"/>
              </a:spcAft>
            </a:pPr>
            <a:r>
              <a:rPr sz="1000" b="0" i="0">
                <a:solidFill>
                  <a:srgbClr val="94A3B8"/>
                </a:solidFill>
                <a:latin typeface="Calibri"/>
              </a:rPr>
              <a:t>2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0D9488"/>
                </a:solidFill>
                <a:latin typeface="Calibri"/>
              </a:rPr>
              <a:t>03  ·  GIẢI PHÁP</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lnSpc>
                <a:spcPct val="108000"/>
              </a:lnSpc>
              <a:spcAft>
                <a:spcPts val="400"/>
              </a:spcAft>
            </a:pPr>
            <a:r>
              <a:rPr sz="3200" b="1" i="0">
                <a:solidFill>
                  <a:srgbClr val="0F172A"/>
                </a:solidFill>
                <a:latin typeface="Calibri"/>
              </a:rPr>
              <a:t>4 tầng: React Vite ⇄ API ⇄ Nghiệp vụ ⇄ TypeORM / PostgreSQL</a:t>
            </a:r>
          </a:p>
        </p:txBody>
      </p:sp>
      <p:sp>
        <p:nvSpPr>
          <p:cNvPr id="4" name="Rounded Rectangle 3"/>
          <p:cNvSpPr/>
          <p:nvPr/>
        </p:nvSpPr>
        <p:spPr>
          <a:xfrm>
            <a:off x="548640" y="1554480"/>
            <a:ext cx="7223760" cy="466344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arch.png"/>
          <p:cNvPicPr>
            <a:picLocks noChangeAspect="1"/>
          </p:cNvPicPr>
          <p:nvPr/>
        </p:nvPicPr>
        <p:blipFill>
          <a:blip r:embed="rId2"/>
          <a:stretch>
            <a:fillRect/>
          </a:stretch>
        </p:blipFill>
        <p:spPr>
          <a:xfrm>
            <a:off x="1023918" y="1691640"/>
            <a:ext cx="6273204" cy="4389120"/>
          </a:xfrm>
          <a:prstGeom prst="rect">
            <a:avLst/>
          </a:prstGeom>
        </p:spPr>
      </p:pic>
      <p:sp>
        <p:nvSpPr>
          <p:cNvPr id="6" name="Oval 5"/>
          <p:cNvSpPr/>
          <p:nvPr/>
        </p:nvSpPr>
        <p:spPr>
          <a:xfrm>
            <a:off x="8092440" y="1600200"/>
            <a:ext cx="512064" cy="512064"/>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yers_w.png"/>
          <p:cNvPicPr>
            <a:picLocks noChangeAspect="1"/>
          </p:cNvPicPr>
          <p:nvPr/>
        </p:nvPicPr>
        <p:blipFill>
          <a:blip r:embed="rId3"/>
          <a:stretch>
            <a:fillRect/>
          </a:stretch>
        </p:blipFill>
        <p:spPr>
          <a:xfrm>
            <a:off x="8215335" y="1723095"/>
            <a:ext cx="266274" cy="266274"/>
          </a:xfrm>
          <a:prstGeom prst="rect">
            <a:avLst/>
          </a:prstGeom>
        </p:spPr>
      </p:pic>
      <p:sp>
        <p:nvSpPr>
          <p:cNvPr id="8" name="TextBox 7"/>
          <p:cNvSpPr txBox="1"/>
          <p:nvPr/>
        </p:nvSpPr>
        <p:spPr>
          <a:xfrm>
            <a:off x="8778240" y="1581912"/>
            <a:ext cx="3017520" cy="320040"/>
          </a:xfrm>
          <a:prstGeom prst="rect">
            <a:avLst/>
          </a:prstGeom>
          <a:noFill/>
        </p:spPr>
        <p:txBody>
          <a:bodyPr wrap="square" lIns="0" rIns="0" tIns="0" bIns="0" anchor="t">
            <a:spAutoFit/>
          </a:bodyPr>
          <a:lstStyle/>
          <a:p>
            <a:pPr algn="l">
              <a:lnSpc>
                <a:spcPct val="108000"/>
              </a:lnSpc>
              <a:spcAft>
                <a:spcPts val="400"/>
              </a:spcAft>
            </a:pPr>
            <a:r>
              <a:rPr sz="1600" b="1" i="0">
                <a:solidFill>
                  <a:srgbClr val="0F172A"/>
                </a:solidFill>
                <a:latin typeface="Calibri"/>
              </a:rPr>
              <a:t>Controller – Service – Repository</a:t>
            </a:r>
          </a:p>
        </p:txBody>
      </p:sp>
      <p:sp>
        <p:nvSpPr>
          <p:cNvPr id="9" name="TextBox 8"/>
          <p:cNvSpPr txBox="1"/>
          <p:nvPr/>
        </p:nvSpPr>
        <p:spPr>
          <a:xfrm>
            <a:off x="8778240" y="1929384"/>
            <a:ext cx="3017520" cy="685800"/>
          </a:xfrm>
          <a:prstGeom prst="rect">
            <a:avLst/>
          </a:prstGeom>
          <a:noFill/>
        </p:spPr>
        <p:txBody>
          <a:bodyPr wrap="square" lIns="0" rIns="0" tIns="0" bIns="0" anchor="t">
            <a:spAutoFit/>
          </a:bodyPr>
          <a:lstStyle/>
          <a:p>
            <a:pPr algn="l">
              <a:lnSpc>
                <a:spcPct val="108000"/>
              </a:lnSpc>
              <a:spcAft>
                <a:spcPts val="400"/>
              </a:spcAft>
            </a:pPr>
            <a:r>
              <a:rPr sz="1300" b="0" i="0">
                <a:solidFill>
                  <a:srgbClr val="475569"/>
                </a:solidFill>
                <a:latin typeface="Calibri"/>
              </a:rPr>
              <a:t>API và nghiệp vụ NestJS 10; TypeORM Migration; Swagger /api/docs</a:t>
            </a:r>
          </a:p>
        </p:txBody>
      </p:sp>
      <p:sp>
        <p:nvSpPr>
          <p:cNvPr id="10" name="Oval 9"/>
          <p:cNvSpPr/>
          <p:nvPr/>
        </p:nvSpPr>
        <p:spPr>
          <a:xfrm>
            <a:off x="8092440" y="2761488"/>
            <a:ext cx="512064" cy="512064"/>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hield_w.png"/>
          <p:cNvPicPr>
            <a:picLocks noChangeAspect="1"/>
          </p:cNvPicPr>
          <p:nvPr/>
        </p:nvPicPr>
        <p:blipFill>
          <a:blip r:embed="rId4"/>
          <a:stretch>
            <a:fillRect/>
          </a:stretch>
        </p:blipFill>
        <p:spPr>
          <a:xfrm>
            <a:off x="8215335" y="2884383"/>
            <a:ext cx="266274" cy="266274"/>
          </a:xfrm>
          <a:prstGeom prst="rect">
            <a:avLst/>
          </a:prstGeom>
        </p:spPr>
      </p:pic>
      <p:sp>
        <p:nvSpPr>
          <p:cNvPr id="12" name="TextBox 11"/>
          <p:cNvSpPr txBox="1"/>
          <p:nvPr/>
        </p:nvSpPr>
        <p:spPr>
          <a:xfrm>
            <a:off x="8778240" y="2743200"/>
            <a:ext cx="3017520" cy="320040"/>
          </a:xfrm>
          <a:prstGeom prst="rect">
            <a:avLst/>
          </a:prstGeom>
          <a:noFill/>
        </p:spPr>
        <p:txBody>
          <a:bodyPr wrap="square" lIns="0" rIns="0" tIns="0" bIns="0" anchor="t">
            <a:spAutoFit/>
          </a:bodyPr>
          <a:lstStyle/>
          <a:p>
            <a:pPr algn="l">
              <a:lnSpc>
                <a:spcPct val="108000"/>
              </a:lnSpc>
              <a:spcAft>
                <a:spcPts val="400"/>
              </a:spcAft>
            </a:pPr>
            <a:r>
              <a:rPr sz="1600" b="1" i="0">
                <a:solidFill>
                  <a:srgbClr val="0F172A"/>
                </a:solidFill>
                <a:latin typeface="Calibri"/>
              </a:rPr>
              <a:t>Guard toàn cục</a:t>
            </a:r>
          </a:p>
        </p:txBody>
      </p:sp>
      <p:sp>
        <p:nvSpPr>
          <p:cNvPr id="13" name="TextBox 12"/>
          <p:cNvSpPr txBox="1"/>
          <p:nvPr/>
        </p:nvSpPr>
        <p:spPr>
          <a:xfrm>
            <a:off x="8778240" y="3090672"/>
            <a:ext cx="3017520" cy="685800"/>
          </a:xfrm>
          <a:prstGeom prst="rect">
            <a:avLst/>
          </a:prstGeom>
          <a:noFill/>
        </p:spPr>
        <p:txBody>
          <a:bodyPr wrap="square" lIns="0" rIns="0" tIns="0" bIns="0" anchor="t">
            <a:spAutoFit/>
          </a:bodyPr>
          <a:lstStyle/>
          <a:p>
            <a:pPr algn="l">
              <a:lnSpc>
                <a:spcPct val="108000"/>
              </a:lnSpc>
              <a:spcAft>
                <a:spcPts val="400"/>
              </a:spcAft>
            </a:pPr>
            <a:r>
              <a:rPr sz="1300" b="0" i="0">
                <a:solidFill>
                  <a:srgbClr val="475569"/>
                </a:solidFill>
                <a:latin typeface="Calibri"/>
              </a:rPr>
              <a:t>JWT + RBAC 4 vai trò nhân sự; khách dùng API công khai</a:t>
            </a:r>
          </a:p>
        </p:txBody>
      </p:sp>
      <p:sp>
        <p:nvSpPr>
          <p:cNvPr id="14" name="Oval 13"/>
          <p:cNvSpPr/>
          <p:nvPr/>
        </p:nvSpPr>
        <p:spPr>
          <a:xfrm>
            <a:off x="8092440" y="3922776"/>
            <a:ext cx="512064" cy="512064"/>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server_w.png"/>
          <p:cNvPicPr>
            <a:picLocks noChangeAspect="1"/>
          </p:cNvPicPr>
          <p:nvPr/>
        </p:nvPicPr>
        <p:blipFill>
          <a:blip r:embed="rId5"/>
          <a:stretch>
            <a:fillRect/>
          </a:stretch>
        </p:blipFill>
        <p:spPr>
          <a:xfrm>
            <a:off x="8215335" y="4045671"/>
            <a:ext cx="266274" cy="266274"/>
          </a:xfrm>
          <a:prstGeom prst="rect">
            <a:avLst/>
          </a:prstGeom>
        </p:spPr>
      </p:pic>
      <p:sp>
        <p:nvSpPr>
          <p:cNvPr id="16" name="TextBox 15"/>
          <p:cNvSpPr txBox="1"/>
          <p:nvPr/>
        </p:nvSpPr>
        <p:spPr>
          <a:xfrm>
            <a:off x="8778240" y="3904488"/>
            <a:ext cx="3017520" cy="320040"/>
          </a:xfrm>
          <a:prstGeom prst="rect">
            <a:avLst/>
          </a:prstGeom>
          <a:noFill/>
        </p:spPr>
        <p:txBody>
          <a:bodyPr wrap="square" lIns="0" rIns="0" tIns="0" bIns="0" anchor="t">
            <a:spAutoFit/>
          </a:bodyPr>
          <a:lstStyle/>
          <a:p>
            <a:pPr algn="l">
              <a:lnSpc>
                <a:spcPct val="108000"/>
              </a:lnSpc>
              <a:spcAft>
                <a:spcPts val="400"/>
              </a:spcAft>
            </a:pPr>
            <a:r>
              <a:rPr sz="1600" b="1" i="0">
                <a:solidFill>
                  <a:srgbClr val="0F172A"/>
                </a:solidFill>
                <a:latin typeface="Calibri"/>
              </a:rPr>
              <a:t>Ràng buộc ở tầng CSDL</a:t>
            </a:r>
          </a:p>
        </p:txBody>
      </p:sp>
      <p:sp>
        <p:nvSpPr>
          <p:cNvPr id="17" name="TextBox 16"/>
          <p:cNvSpPr txBox="1"/>
          <p:nvPr/>
        </p:nvSpPr>
        <p:spPr>
          <a:xfrm>
            <a:off x="8778240" y="4251960"/>
            <a:ext cx="3017520" cy="685800"/>
          </a:xfrm>
          <a:prstGeom prst="rect">
            <a:avLst/>
          </a:prstGeom>
          <a:noFill/>
        </p:spPr>
        <p:txBody>
          <a:bodyPr wrap="square" lIns="0" rIns="0" tIns="0" bIns="0" anchor="t">
            <a:spAutoFit/>
          </a:bodyPr>
          <a:lstStyle/>
          <a:p>
            <a:pPr algn="l">
              <a:lnSpc>
                <a:spcPct val="108000"/>
              </a:lnSpc>
              <a:spcAft>
                <a:spcPts val="400"/>
              </a:spcAft>
            </a:pPr>
            <a:r>
              <a:rPr sz="1300" b="0" i="0">
                <a:solidFill>
                  <a:srgbClr val="475569"/>
                </a:solidFill>
                <a:latin typeface="Calibri"/>
              </a:rPr>
              <a:t>24 bảng, EXCLUDE, CHECK, trigger nhật ký chỉ đọc</a:t>
            </a:r>
          </a:p>
        </p:txBody>
      </p:sp>
      <p:sp>
        <p:nvSpPr>
          <p:cNvPr id="18" name="Oval 17"/>
          <p:cNvSpPr/>
          <p:nvPr/>
        </p:nvSpPr>
        <p:spPr>
          <a:xfrm>
            <a:off x="8092440" y="5084064"/>
            <a:ext cx="512064" cy="512064"/>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alendar_w.png"/>
          <p:cNvPicPr>
            <a:picLocks noChangeAspect="1"/>
          </p:cNvPicPr>
          <p:nvPr/>
        </p:nvPicPr>
        <p:blipFill>
          <a:blip r:embed="rId6"/>
          <a:stretch>
            <a:fillRect/>
          </a:stretch>
        </p:blipFill>
        <p:spPr>
          <a:xfrm>
            <a:off x="8215335" y="5206959"/>
            <a:ext cx="266274" cy="266274"/>
          </a:xfrm>
          <a:prstGeom prst="rect">
            <a:avLst/>
          </a:prstGeom>
        </p:spPr>
      </p:pic>
      <p:sp>
        <p:nvSpPr>
          <p:cNvPr id="20" name="TextBox 19"/>
          <p:cNvSpPr txBox="1"/>
          <p:nvPr/>
        </p:nvSpPr>
        <p:spPr>
          <a:xfrm>
            <a:off x="8778240" y="5065776"/>
            <a:ext cx="3017520" cy="320040"/>
          </a:xfrm>
          <a:prstGeom prst="rect">
            <a:avLst/>
          </a:prstGeom>
          <a:noFill/>
        </p:spPr>
        <p:txBody>
          <a:bodyPr wrap="square" lIns="0" rIns="0" tIns="0" bIns="0" anchor="t">
            <a:spAutoFit/>
          </a:bodyPr>
          <a:lstStyle/>
          <a:p>
            <a:pPr algn="l">
              <a:lnSpc>
                <a:spcPct val="108000"/>
              </a:lnSpc>
              <a:spcAft>
                <a:spcPts val="400"/>
              </a:spcAft>
            </a:pPr>
            <a:r>
              <a:rPr sz="1600" b="1" i="0">
                <a:solidFill>
                  <a:srgbClr val="0F172A"/>
                </a:solidFill>
                <a:latin typeface="Calibri"/>
              </a:rPr>
              <a:t>Giao diện Fresha</a:t>
            </a:r>
          </a:p>
        </p:txBody>
      </p:sp>
      <p:sp>
        <p:nvSpPr>
          <p:cNvPr id="21" name="TextBox 20"/>
          <p:cNvSpPr txBox="1"/>
          <p:nvPr/>
        </p:nvSpPr>
        <p:spPr>
          <a:xfrm>
            <a:off x="8778240" y="5413248"/>
            <a:ext cx="3017520" cy="685800"/>
          </a:xfrm>
          <a:prstGeom prst="rect">
            <a:avLst/>
          </a:prstGeom>
          <a:noFill/>
        </p:spPr>
        <p:txBody>
          <a:bodyPr wrap="square" lIns="0" rIns="0" tIns="0" bIns="0" anchor="t">
            <a:spAutoFit/>
          </a:bodyPr>
          <a:lstStyle/>
          <a:p>
            <a:pPr algn="l">
              <a:lnSpc>
                <a:spcPct val="108000"/>
              </a:lnSpc>
              <a:spcAft>
                <a:spcPts val="400"/>
              </a:spcAft>
            </a:pPr>
            <a:r>
              <a:rPr sz="1300" b="0" i="0">
                <a:solidFill>
                  <a:srgbClr val="475569"/>
                </a:solidFill>
                <a:latin typeface="Calibri"/>
              </a:rPr>
              <a:t>36 màn hình, tối ưu 360 px, thông điệp tiếng Việt</a:t>
            </a:r>
          </a:p>
        </p:txBody>
      </p:sp>
      <p:sp>
        <p:nvSpPr>
          <p:cNvPr id="22" name="TextBox 21"/>
          <p:cNvSpPr txBox="1"/>
          <p:nvPr/>
        </p:nvSpPr>
        <p:spPr>
          <a:xfrm>
            <a:off x="548640" y="6446520"/>
            <a:ext cx="7315200" cy="228600"/>
          </a:xfrm>
          <a:prstGeom prst="rect">
            <a:avLst/>
          </a:prstGeom>
          <a:noFill/>
        </p:spPr>
        <p:txBody>
          <a:bodyPr wrap="square" lIns="0" rIns="0" tIns="0" bIns="0" anchor="t">
            <a:spAutoFit/>
          </a:bodyPr>
          <a:lstStyle/>
          <a:p>
            <a:pPr algn="l">
              <a:lnSpc>
                <a:spcPct val="108000"/>
              </a:lnSpc>
              <a:spcAft>
                <a:spcPts val="400"/>
              </a:spcAft>
            </a:pPr>
            <a:r>
              <a:rPr sz="1000" b="0" i="0">
                <a:solidFill>
                  <a:srgbClr val="94A3B8"/>
                </a:solidFill>
                <a:latin typeface="Calibri"/>
              </a:rPr>
              <a:t>Nhóm 3 · TTCS_T926_K2S3_N3 · Hệ thống Đặt lịch và Quản lý Vận hành Salon - Spa</a:t>
            </a:r>
          </a:p>
        </p:txBody>
      </p:sp>
      <p:sp>
        <p:nvSpPr>
          <p:cNvPr id="23" name="TextBox 22"/>
          <p:cNvSpPr txBox="1"/>
          <p:nvPr/>
        </p:nvSpPr>
        <p:spPr>
          <a:xfrm>
            <a:off x="10271455" y="6446520"/>
            <a:ext cx="1371600" cy="228600"/>
          </a:xfrm>
          <a:prstGeom prst="rect">
            <a:avLst/>
          </a:prstGeom>
          <a:noFill/>
        </p:spPr>
        <p:txBody>
          <a:bodyPr wrap="square" lIns="0" rIns="0" tIns="0" bIns="0" anchor="t">
            <a:spAutoFit/>
          </a:bodyPr>
          <a:lstStyle/>
          <a:p>
            <a:pPr algn="r">
              <a:lnSpc>
                <a:spcPct val="108000"/>
              </a:lnSpc>
              <a:spcAft>
                <a:spcPts val="400"/>
              </a:spcAft>
            </a:pPr>
            <a:r>
              <a:rPr sz="1000" b="0" i="0">
                <a:solidFill>
                  <a:srgbClr val="94A3B8"/>
                </a:solidFill>
                <a:latin typeface="Calibri"/>
              </a:rPr>
              <a:t>3 /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0D9488"/>
                </a:solidFill>
                <a:latin typeface="Calibri"/>
              </a:rPr>
              <a:t>04  ·  QUY TRÌNH SCRUM</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lnSpc>
                <a:spcPct val="108000"/>
              </a:lnSpc>
              <a:spcAft>
                <a:spcPts val="400"/>
              </a:spcAft>
            </a:pPr>
            <a:r>
              <a:rPr sz="3200" b="1" i="0">
                <a:solidFill>
                  <a:srgbClr val="0F172A"/>
                </a:solidFill>
                <a:latin typeface="Calibri"/>
              </a:rPr>
              <a:t>4 Sprint · 39 User Story · 165 Story Point</a:t>
            </a:r>
          </a:p>
        </p:txBody>
      </p:sp>
      <p:sp>
        <p:nvSpPr>
          <p:cNvPr id="4" name="TextBox 3"/>
          <p:cNvSpPr txBox="1"/>
          <p:nvPr/>
        </p:nvSpPr>
        <p:spPr>
          <a:xfrm>
            <a:off x="548640" y="1463040"/>
            <a:ext cx="1371600" cy="640080"/>
          </a:xfrm>
          <a:prstGeom prst="rect">
            <a:avLst/>
          </a:prstGeom>
          <a:noFill/>
        </p:spPr>
        <p:txBody>
          <a:bodyPr wrap="square" lIns="0" rIns="0" tIns="0" bIns="0" anchor="t">
            <a:spAutoFit/>
          </a:bodyPr>
          <a:lstStyle/>
          <a:p>
            <a:pPr algn="l">
              <a:lnSpc>
                <a:spcPct val="108000"/>
              </a:lnSpc>
              <a:spcAft>
                <a:spcPts val="400"/>
              </a:spcAft>
            </a:pPr>
            <a:r>
              <a:rPr sz="3600" b="1" i="0">
                <a:solidFill>
                  <a:srgbClr val="0D9488"/>
                </a:solidFill>
                <a:latin typeface="Calibri"/>
              </a:rPr>
              <a:t>6</a:t>
            </a:r>
          </a:p>
        </p:txBody>
      </p:sp>
      <p:sp>
        <p:nvSpPr>
          <p:cNvPr id="5" name="TextBox 4"/>
          <p:cNvSpPr txBox="1"/>
          <p:nvPr/>
        </p:nvSpPr>
        <p:spPr>
          <a:xfrm>
            <a:off x="548640" y="2121408"/>
            <a:ext cx="1371600" cy="457200"/>
          </a:xfrm>
          <a:prstGeom prst="rect">
            <a:avLst/>
          </a:prstGeom>
          <a:noFill/>
        </p:spPr>
        <p:txBody>
          <a:bodyPr wrap="square" lIns="0" rIns="0" tIns="0" bIns="0" anchor="t">
            <a:spAutoFit/>
          </a:bodyPr>
          <a:lstStyle/>
          <a:p>
            <a:pPr algn="l">
              <a:lnSpc>
                <a:spcPct val="108000"/>
              </a:lnSpc>
              <a:spcAft>
                <a:spcPts val="400"/>
              </a:spcAft>
            </a:pPr>
            <a:r>
              <a:rPr sz="1300" b="0" i="0">
                <a:solidFill>
                  <a:srgbClr val="475569"/>
                </a:solidFill>
                <a:latin typeface="Calibri"/>
              </a:rPr>
              <a:t>Epic</a:t>
            </a:r>
          </a:p>
        </p:txBody>
      </p:sp>
      <p:sp>
        <p:nvSpPr>
          <p:cNvPr id="6" name="TextBox 5"/>
          <p:cNvSpPr txBox="1"/>
          <p:nvPr/>
        </p:nvSpPr>
        <p:spPr>
          <a:xfrm>
            <a:off x="1965960" y="1463040"/>
            <a:ext cx="1371600" cy="640080"/>
          </a:xfrm>
          <a:prstGeom prst="rect">
            <a:avLst/>
          </a:prstGeom>
          <a:noFill/>
        </p:spPr>
        <p:txBody>
          <a:bodyPr wrap="square" lIns="0" rIns="0" tIns="0" bIns="0" anchor="t">
            <a:spAutoFit/>
          </a:bodyPr>
          <a:lstStyle/>
          <a:p>
            <a:pPr algn="l">
              <a:lnSpc>
                <a:spcPct val="108000"/>
              </a:lnSpc>
              <a:spcAft>
                <a:spcPts val="400"/>
              </a:spcAft>
            </a:pPr>
            <a:r>
              <a:rPr sz="3600" b="1" i="0">
                <a:solidFill>
                  <a:srgbClr val="0D9488"/>
                </a:solidFill>
                <a:latin typeface="Calibri"/>
              </a:rPr>
              <a:t>39</a:t>
            </a:r>
          </a:p>
        </p:txBody>
      </p:sp>
      <p:sp>
        <p:nvSpPr>
          <p:cNvPr id="7" name="TextBox 6"/>
          <p:cNvSpPr txBox="1"/>
          <p:nvPr/>
        </p:nvSpPr>
        <p:spPr>
          <a:xfrm>
            <a:off x="1965960" y="2121408"/>
            <a:ext cx="1371600" cy="457200"/>
          </a:xfrm>
          <a:prstGeom prst="rect">
            <a:avLst/>
          </a:prstGeom>
          <a:noFill/>
        </p:spPr>
        <p:txBody>
          <a:bodyPr wrap="square" lIns="0" rIns="0" tIns="0" bIns="0" anchor="t">
            <a:spAutoFit/>
          </a:bodyPr>
          <a:lstStyle/>
          <a:p>
            <a:pPr algn="l">
              <a:lnSpc>
                <a:spcPct val="108000"/>
              </a:lnSpc>
              <a:spcAft>
                <a:spcPts val="400"/>
              </a:spcAft>
            </a:pPr>
            <a:r>
              <a:rPr sz="1300" b="0" i="0">
                <a:solidFill>
                  <a:srgbClr val="475569"/>
                </a:solidFill>
                <a:latin typeface="Calibri"/>
              </a:rPr>
              <a:t>User Story</a:t>
            </a:r>
          </a:p>
        </p:txBody>
      </p:sp>
      <p:sp>
        <p:nvSpPr>
          <p:cNvPr id="8" name="TextBox 7"/>
          <p:cNvSpPr txBox="1"/>
          <p:nvPr/>
        </p:nvSpPr>
        <p:spPr>
          <a:xfrm>
            <a:off x="3383280" y="1463040"/>
            <a:ext cx="1371600" cy="640080"/>
          </a:xfrm>
          <a:prstGeom prst="rect">
            <a:avLst/>
          </a:prstGeom>
          <a:noFill/>
        </p:spPr>
        <p:txBody>
          <a:bodyPr wrap="square" lIns="0" rIns="0" tIns="0" bIns="0" anchor="t">
            <a:spAutoFit/>
          </a:bodyPr>
          <a:lstStyle/>
          <a:p>
            <a:pPr algn="l">
              <a:lnSpc>
                <a:spcPct val="108000"/>
              </a:lnSpc>
              <a:spcAft>
                <a:spcPts val="400"/>
              </a:spcAft>
            </a:pPr>
            <a:r>
              <a:rPr sz="3600" b="1" i="0">
                <a:solidFill>
                  <a:srgbClr val="0D9488"/>
                </a:solidFill>
                <a:latin typeface="Calibri"/>
              </a:rPr>
              <a:t>165</a:t>
            </a:r>
          </a:p>
        </p:txBody>
      </p:sp>
      <p:sp>
        <p:nvSpPr>
          <p:cNvPr id="9" name="TextBox 8"/>
          <p:cNvSpPr txBox="1"/>
          <p:nvPr/>
        </p:nvSpPr>
        <p:spPr>
          <a:xfrm>
            <a:off x="3383280" y="2121408"/>
            <a:ext cx="1371600" cy="457200"/>
          </a:xfrm>
          <a:prstGeom prst="rect">
            <a:avLst/>
          </a:prstGeom>
          <a:noFill/>
        </p:spPr>
        <p:txBody>
          <a:bodyPr wrap="square" lIns="0" rIns="0" tIns="0" bIns="0" anchor="t">
            <a:spAutoFit/>
          </a:bodyPr>
          <a:lstStyle/>
          <a:p>
            <a:pPr algn="l">
              <a:lnSpc>
                <a:spcPct val="108000"/>
              </a:lnSpc>
              <a:spcAft>
                <a:spcPts val="400"/>
              </a:spcAft>
            </a:pPr>
            <a:r>
              <a:rPr sz="1300" b="0" i="0">
                <a:solidFill>
                  <a:srgbClr val="475569"/>
                </a:solidFill>
                <a:latin typeface="Calibri"/>
              </a:rPr>
              <a:t>Story Point</a:t>
            </a:r>
          </a:p>
        </p:txBody>
      </p:sp>
      <p:sp>
        <p:nvSpPr>
          <p:cNvPr id="10" name="TextBox 9"/>
          <p:cNvSpPr txBox="1"/>
          <p:nvPr/>
        </p:nvSpPr>
        <p:spPr>
          <a:xfrm>
            <a:off x="4800600" y="1463040"/>
            <a:ext cx="1371600" cy="640080"/>
          </a:xfrm>
          <a:prstGeom prst="rect">
            <a:avLst/>
          </a:prstGeom>
          <a:noFill/>
        </p:spPr>
        <p:txBody>
          <a:bodyPr wrap="square" lIns="0" rIns="0" tIns="0" bIns="0" anchor="t">
            <a:spAutoFit/>
          </a:bodyPr>
          <a:lstStyle/>
          <a:p>
            <a:pPr algn="l">
              <a:lnSpc>
                <a:spcPct val="108000"/>
              </a:lnSpc>
              <a:spcAft>
                <a:spcPts val="400"/>
              </a:spcAft>
            </a:pPr>
            <a:r>
              <a:rPr sz="3600" b="1" i="0">
                <a:solidFill>
                  <a:srgbClr val="0D9488"/>
                </a:solidFill>
                <a:latin typeface="Calibri"/>
              </a:rPr>
              <a:t>4</a:t>
            </a:r>
          </a:p>
        </p:txBody>
      </p:sp>
      <p:sp>
        <p:nvSpPr>
          <p:cNvPr id="11" name="TextBox 10"/>
          <p:cNvSpPr txBox="1"/>
          <p:nvPr/>
        </p:nvSpPr>
        <p:spPr>
          <a:xfrm>
            <a:off x="4800600" y="2121408"/>
            <a:ext cx="1371600" cy="457200"/>
          </a:xfrm>
          <a:prstGeom prst="rect">
            <a:avLst/>
          </a:prstGeom>
          <a:noFill/>
        </p:spPr>
        <p:txBody>
          <a:bodyPr wrap="square" lIns="0" rIns="0" tIns="0" bIns="0" anchor="t">
            <a:spAutoFit/>
          </a:bodyPr>
          <a:lstStyle/>
          <a:p>
            <a:pPr algn="l">
              <a:lnSpc>
                <a:spcPct val="108000"/>
              </a:lnSpc>
              <a:spcAft>
                <a:spcPts val="400"/>
              </a:spcAft>
            </a:pPr>
            <a:r>
              <a:rPr sz="1300" b="0" i="0">
                <a:solidFill>
                  <a:srgbClr val="475569"/>
                </a:solidFill>
                <a:latin typeface="Calibri"/>
              </a:rPr>
              <a:t>Sprint</a:t>
            </a:r>
          </a:p>
        </p:txBody>
      </p:sp>
      <p:sp>
        <p:nvSpPr>
          <p:cNvPr id="12" name="Rounded Rectangle 11"/>
          <p:cNvSpPr/>
          <p:nvPr/>
        </p:nvSpPr>
        <p:spPr>
          <a:xfrm>
            <a:off x="548640" y="2743200"/>
            <a:ext cx="5532120" cy="768096"/>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76656" y="2871216"/>
            <a:ext cx="1051560" cy="512064"/>
          </a:xfrm>
          <a:prstGeom prst="roundRect">
            <a:avLst>
              <a:gd name="adj" fmla="val 30000"/>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Sprint 1</a:t>
            </a:r>
          </a:p>
        </p:txBody>
      </p:sp>
      <p:sp>
        <p:nvSpPr>
          <p:cNvPr id="14" name="TextBox 13"/>
          <p:cNvSpPr txBox="1"/>
          <p:nvPr/>
        </p:nvSpPr>
        <p:spPr>
          <a:xfrm>
            <a:off x="1874520" y="2834640"/>
            <a:ext cx="3017520" cy="274320"/>
          </a:xfrm>
          <a:prstGeom prst="rect">
            <a:avLst/>
          </a:prstGeom>
          <a:noFill/>
        </p:spPr>
        <p:txBody>
          <a:bodyPr wrap="square" lIns="0" rIns="0" tIns="0" bIns="0" anchor="t">
            <a:spAutoFit/>
          </a:bodyPr>
          <a:lstStyle/>
          <a:p>
            <a:pPr algn="l">
              <a:lnSpc>
                <a:spcPct val="108000"/>
              </a:lnSpc>
              <a:spcAft>
                <a:spcPts val="400"/>
              </a:spcAft>
            </a:pPr>
            <a:r>
              <a:rPr sz="1450" b="1" i="0">
                <a:solidFill>
                  <a:srgbClr val="0F172A"/>
                </a:solidFill>
                <a:latin typeface="Calibri"/>
              </a:rPr>
              <a:t>Nền tảng tài khoản và danh mục gốc</a:t>
            </a:r>
          </a:p>
        </p:txBody>
      </p:sp>
      <p:sp>
        <p:nvSpPr>
          <p:cNvPr id="15" name="TextBox 14"/>
          <p:cNvSpPr txBox="1"/>
          <p:nvPr/>
        </p:nvSpPr>
        <p:spPr>
          <a:xfrm>
            <a:off x="1874520" y="3145536"/>
            <a:ext cx="3017520" cy="320040"/>
          </a:xfrm>
          <a:prstGeom prst="rect">
            <a:avLst/>
          </a:prstGeom>
          <a:noFill/>
        </p:spPr>
        <p:txBody>
          <a:bodyPr wrap="square" lIns="0" rIns="0" tIns="0" bIns="0" anchor="t">
            <a:spAutoFit/>
          </a:bodyPr>
          <a:lstStyle/>
          <a:p>
            <a:pPr algn="l">
              <a:lnSpc>
                <a:spcPct val="108000"/>
              </a:lnSpc>
              <a:spcAft>
                <a:spcPts val="400"/>
              </a:spcAft>
            </a:pPr>
            <a:r>
              <a:rPr sz="1200" b="0" i="0">
                <a:solidFill>
                  <a:srgbClr val="475569"/>
                </a:solidFill>
                <a:latin typeface="Calibri"/>
              </a:rPr>
              <a:t>10 story</a:t>
            </a:r>
          </a:p>
        </p:txBody>
      </p:sp>
      <p:sp>
        <p:nvSpPr>
          <p:cNvPr id="16" name="TextBox 15"/>
          <p:cNvSpPr txBox="1"/>
          <p:nvPr/>
        </p:nvSpPr>
        <p:spPr>
          <a:xfrm>
            <a:off x="4892040" y="2944368"/>
            <a:ext cx="1051560" cy="365760"/>
          </a:xfrm>
          <a:prstGeom prst="rect">
            <a:avLst/>
          </a:prstGeom>
          <a:noFill/>
        </p:spPr>
        <p:txBody>
          <a:bodyPr wrap="square" lIns="0" rIns="0" tIns="0" bIns="0" anchor="t">
            <a:spAutoFit/>
          </a:bodyPr>
          <a:lstStyle/>
          <a:p>
            <a:pPr algn="r">
              <a:lnSpc>
                <a:spcPct val="108000"/>
              </a:lnSpc>
              <a:spcAft>
                <a:spcPts val="400"/>
              </a:spcAft>
            </a:pPr>
            <a:r>
              <a:rPr sz="1600" b="1" i="0">
                <a:solidFill>
                  <a:srgbClr val="0F766E"/>
                </a:solidFill>
                <a:latin typeface="Calibri"/>
              </a:rPr>
              <a:t>40 pt</a:t>
            </a:r>
          </a:p>
        </p:txBody>
      </p:sp>
      <p:sp>
        <p:nvSpPr>
          <p:cNvPr id="17" name="Rounded Rectangle 16"/>
          <p:cNvSpPr/>
          <p:nvPr/>
        </p:nvSpPr>
        <p:spPr>
          <a:xfrm>
            <a:off x="548640" y="3639312"/>
            <a:ext cx="5532120" cy="768096"/>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676656" y="3767328"/>
            <a:ext cx="1051560" cy="512064"/>
          </a:xfrm>
          <a:prstGeom prst="roundRect">
            <a:avLst>
              <a:gd name="adj" fmla="val 30000"/>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Sprint 2</a:t>
            </a:r>
          </a:p>
        </p:txBody>
      </p:sp>
      <p:sp>
        <p:nvSpPr>
          <p:cNvPr id="19" name="TextBox 18"/>
          <p:cNvSpPr txBox="1"/>
          <p:nvPr/>
        </p:nvSpPr>
        <p:spPr>
          <a:xfrm>
            <a:off x="1874520" y="3730752"/>
            <a:ext cx="3017520" cy="274320"/>
          </a:xfrm>
          <a:prstGeom prst="rect">
            <a:avLst/>
          </a:prstGeom>
          <a:noFill/>
        </p:spPr>
        <p:txBody>
          <a:bodyPr wrap="square" lIns="0" rIns="0" tIns="0" bIns="0" anchor="t">
            <a:spAutoFit/>
          </a:bodyPr>
          <a:lstStyle/>
          <a:p>
            <a:pPr algn="l">
              <a:lnSpc>
                <a:spcPct val="108000"/>
              </a:lnSpc>
              <a:spcAft>
                <a:spcPts val="400"/>
              </a:spcAft>
            </a:pPr>
            <a:r>
              <a:rPr sz="1450" b="1" i="0">
                <a:solidFill>
                  <a:srgbClr val="0F172A"/>
                </a:solidFill>
                <a:latin typeface="Calibri"/>
              </a:rPr>
              <a:t>Ca làm và đặt lịch công khai</a:t>
            </a:r>
          </a:p>
        </p:txBody>
      </p:sp>
      <p:sp>
        <p:nvSpPr>
          <p:cNvPr id="20" name="TextBox 19"/>
          <p:cNvSpPr txBox="1"/>
          <p:nvPr/>
        </p:nvSpPr>
        <p:spPr>
          <a:xfrm>
            <a:off x="1874520" y="4041648"/>
            <a:ext cx="3017520" cy="320040"/>
          </a:xfrm>
          <a:prstGeom prst="rect">
            <a:avLst/>
          </a:prstGeom>
          <a:noFill/>
        </p:spPr>
        <p:txBody>
          <a:bodyPr wrap="square" lIns="0" rIns="0" tIns="0" bIns="0" anchor="t">
            <a:spAutoFit/>
          </a:bodyPr>
          <a:lstStyle/>
          <a:p>
            <a:pPr algn="l">
              <a:lnSpc>
                <a:spcPct val="108000"/>
              </a:lnSpc>
              <a:spcAft>
                <a:spcPts val="400"/>
              </a:spcAft>
            </a:pPr>
            <a:r>
              <a:rPr sz="1200" b="0" i="0">
                <a:solidFill>
                  <a:srgbClr val="475569"/>
                </a:solidFill>
                <a:latin typeface="Calibri"/>
              </a:rPr>
              <a:t>9 story</a:t>
            </a:r>
          </a:p>
        </p:txBody>
      </p:sp>
      <p:sp>
        <p:nvSpPr>
          <p:cNvPr id="21" name="TextBox 20"/>
          <p:cNvSpPr txBox="1"/>
          <p:nvPr/>
        </p:nvSpPr>
        <p:spPr>
          <a:xfrm>
            <a:off x="4892040" y="3840480"/>
            <a:ext cx="1051560" cy="365760"/>
          </a:xfrm>
          <a:prstGeom prst="rect">
            <a:avLst/>
          </a:prstGeom>
          <a:noFill/>
        </p:spPr>
        <p:txBody>
          <a:bodyPr wrap="square" lIns="0" rIns="0" tIns="0" bIns="0" anchor="t">
            <a:spAutoFit/>
          </a:bodyPr>
          <a:lstStyle/>
          <a:p>
            <a:pPr algn="r">
              <a:lnSpc>
                <a:spcPct val="108000"/>
              </a:lnSpc>
              <a:spcAft>
                <a:spcPts val="400"/>
              </a:spcAft>
            </a:pPr>
            <a:r>
              <a:rPr sz="1600" b="1" i="0">
                <a:solidFill>
                  <a:srgbClr val="0F766E"/>
                </a:solidFill>
                <a:latin typeface="Calibri"/>
              </a:rPr>
              <a:t>42 pt</a:t>
            </a:r>
          </a:p>
        </p:txBody>
      </p:sp>
      <p:sp>
        <p:nvSpPr>
          <p:cNvPr id="22" name="Rounded Rectangle 21"/>
          <p:cNvSpPr/>
          <p:nvPr/>
        </p:nvSpPr>
        <p:spPr>
          <a:xfrm>
            <a:off x="548640" y="4535424"/>
            <a:ext cx="5532120" cy="768096"/>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676656" y="4663440"/>
            <a:ext cx="1051560" cy="512064"/>
          </a:xfrm>
          <a:prstGeom prst="roundRect">
            <a:avLst>
              <a:gd name="adj" fmla="val 30000"/>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Sprint 3</a:t>
            </a:r>
          </a:p>
        </p:txBody>
      </p:sp>
      <p:sp>
        <p:nvSpPr>
          <p:cNvPr id="24" name="TextBox 23"/>
          <p:cNvSpPr txBox="1"/>
          <p:nvPr/>
        </p:nvSpPr>
        <p:spPr>
          <a:xfrm>
            <a:off x="1874520" y="4626864"/>
            <a:ext cx="3017520" cy="274320"/>
          </a:xfrm>
          <a:prstGeom prst="rect">
            <a:avLst/>
          </a:prstGeom>
          <a:noFill/>
        </p:spPr>
        <p:txBody>
          <a:bodyPr wrap="square" lIns="0" rIns="0" tIns="0" bIns="0" anchor="t">
            <a:spAutoFit/>
          </a:bodyPr>
          <a:lstStyle/>
          <a:p>
            <a:pPr algn="l">
              <a:lnSpc>
                <a:spcPct val="108000"/>
              </a:lnSpc>
              <a:spcAft>
                <a:spcPts val="400"/>
              </a:spcAft>
            </a:pPr>
            <a:r>
              <a:rPr sz="1450" b="1" i="0">
                <a:solidFill>
                  <a:srgbClr val="0F172A"/>
                </a:solidFill>
                <a:latin typeface="Calibri"/>
              </a:rPr>
              <a:t>Vận hành lịch hẹn trong ngày</a:t>
            </a:r>
          </a:p>
        </p:txBody>
      </p:sp>
      <p:sp>
        <p:nvSpPr>
          <p:cNvPr id="25" name="TextBox 24"/>
          <p:cNvSpPr txBox="1"/>
          <p:nvPr/>
        </p:nvSpPr>
        <p:spPr>
          <a:xfrm>
            <a:off x="1874520" y="4937760"/>
            <a:ext cx="3017520" cy="320040"/>
          </a:xfrm>
          <a:prstGeom prst="rect">
            <a:avLst/>
          </a:prstGeom>
          <a:noFill/>
        </p:spPr>
        <p:txBody>
          <a:bodyPr wrap="square" lIns="0" rIns="0" tIns="0" bIns="0" anchor="t">
            <a:spAutoFit/>
          </a:bodyPr>
          <a:lstStyle/>
          <a:p>
            <a:pPr algn="l">
              <a:lnSpc>
                <a:spcPct val="108000"/>
              </a:lnSpc>
              <a:spcAft>
                <a:spcPts val="400"/>
              </a:spcAft>
            </a:pPr>
            <a:r>
              <a:rPr sz="1200" b="0" i="0">
                <a:solidFill>
                  <a:srgbClr val="475569"/>
                </a:solidFill>
                <a:latin typeface="Calibri"/>
              </a:rPr>
              <a:t>10 story</a:t>
            </a:r>
          </a:p>
        </p:txBody>
      </p:sp>
      <p:sp>
        <p:nvSpPr>
          <p:cNvPr id="26" name="TextBox 25"/>
          <p:cNvSpPr txBox="1"/>
          <p:nvPr/>
        </p:nvSpPr>
        <p:spPr>
          <a:xfrm>
            <a:off x="4892040" y="4736592"/>
            <a:ext cx="1051560" cy="365760"/>
          </a:xfrm>
          <a:prstGeom prst="rect">
            <a:avLst/>
          </a:prstGeom>
          <a:noFill/>
        </p:spPr>
        <p:txBody>
          <a:bodyPr wrap="square" lIns="0" rIns="0" tIns="0" bIns="0" anchor="t">
            <a:spAutoFit/>
          </a:bodyPr>
          <a:lstStyle/>
          <a:p>
            <a:pPr algn="r">
              <a:lnSpc>
                <a:spcPct val="108000"/>
              </a:lnSpc>
              <a:spcAft>
                <a:spcPts val="400"/>
              </a:spcAft>
            </a:pPr>
            <a:r>
              <a:rPr sz="1600" b="1" i="0">
                <a:solidFill>
                  <a:srgbClr val="0F766E"/>
                </a:solidFill>
                <a:latin typeface="Calibri"/>
              </a:rPr>
              <a:t>42 pt</a:t>
            </a:r>
          </a:p>
        </p:txBody>
      </p:sp>
      <p:sp>
        <p:nvSpPr>
          <p:cNvPr id="27" name="Rounded Rectangle 26"/>
          <p:cNvSpPr/>
          <p:nvPr/>
        </p:nvSpPr>
        <p:spPr>
          <a:xfrm>
            <a:off x="548640" y="5431536"/>
            <a:ext cx="5532120" cy="768096"/>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676656" y="5559552"/>
            <a:ext cx="1051560" cy="512064"/>
          </a:xfrm>
          <a:prstGeom prst="roundRect">
            <a:avLst>
              <a:gd name="adj" fmla="val 30000"/>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Sprint 4</a:t>
            </a:r>
          </a:p>
        </p:txBody>
      </p:sp>
      <p:sp>
        <p:nvSpPr>
          <p:cNvPr id="29" name="TextBox 28"/>
          <p:cNvSpPr txBox="1"/>
          <p:nvPr/>
        </p:nvSpPr>
        <p:spPr>
          <a:xfrm>
            <a:off x="1874520" y="5522976"/>
            <a:ext cx="3017520" cy="274320"/>
          </a:xfrm>
          <a:prstGeom prst="rect">
            <a:avLst/>
          </a:prstGeom>
          <a:noFill/>
        </p:spPr>
        <p:txBody>
          <a:bodyPr wrap="square" lIns="0" rIns="0" tIns="0" bIns="0" anchor="t">
            <a:spAutoFit/>
          </a:bodyPr>
          <a:lstStyle/>
          <a:p>
            <a:pPr algn="l">
              <a:lnSpc>
                <a:spcPct val="108000"/>
              </a:lnSpc>
              <a:spcAft>
                <a:spcPts val="400"/>
              </a:spcAft>
            </a:pPr>
            <a:r>
              <a:rPr sz="1450" b="1" i="0">
                <a:solidFill>
                  <a:srgbClr val="0F172A"/>
                </a:solidFill>
                <a:latin typeface="Calibri"/>
              </a:rPr>
              <a:t>Thanh toán, đánh giá, báo cáo</a:t>
            </a:r>
          </a:p>
        </p:txBody>
      </p:sp>
      <p:sp>
        <p:nvSpPr>
          <p:cNvPr id="30" name="TextBox 29"/>
          <p:cNvSpPr txBox="1"/>
          <p:nvPr/>
        </p:nvSpPr>
        <p:spPr>
          <a:xfrm>
            <a:off x="1874520" y="5833872"/>
            <a:ext cx="3017520" cy="320040"/>
          </a:xfrm>
          <a:prstGeom prst="rect">
            <a:avLst/>
          </a:prstGeom>
          <a:noFill/>
        </p:spPr>
        <p:txBody>
          <a:bodyPr wrap="square" lIns="0" rIns="0" tIns="0" bIns="0" anchor="t">
            <a:spAutoFit/>
          </a:bodyPr>
          <a:lstStyle/>
          <a:p>
            <a:pPr algn="l">
              <a:lnSpc>
                <a:spcPct val="108000"/>
              </a:lnSpc>
              <a:spcAft>
                <a:spcPts val="400"/>
              </a:spcAft>
            </a:pPr>
            <a:r>
              <a:rPr sz="1200" b="0" i="0">
                <a:solidFill>
                  <a:srgbClr val="475569"/>
                </a:solidFill>
                <a:latin typeface="Calibri"/>
              </a:rPr>
              <a:t>10 story</a:t>
            </a:r>
          </a:p>
        </p:txBody>
      </p:sp>
      <p:sp>
        <p:nvSpPr>
          <p:cNvPr id="31" name="TextBox 30"/>
          <p:cNvSpPr txBox="1"/>
          <p:nvPr/>
        </p:nvSpPr>
        <p:spPr>
          <a:xfrm>
            <a:off x="4892040" y="5632704"/>
            <a:ext cx="1051560" cy="365760"/>
          </a:xfrm>
          <a:prstGeom prst="rect">
            <a:avLst/>
          </a:prstGeom>
          <a:noFill/>
        </p:spPr>
        <p:txBody>
          <a:bodyPr wrap="square" lIns="0" rIns="0" tIns="0" bIns="0" anchor="t">
            <a:spAutoFit/>
          </a:bodyPr>
          <a:lstStyle/>
          <a:p>
            <a:pPr algn="r">
              <a:lnSpc>
                <a:spcPct val="108000"/>
              </a:lnSpc>
              <a:spcAft>
                <a:spcPts val="400"/>
              </a:spcAft>
            </a:pPr>
            <a:r>
              <a:rPr sz="1600" b="1" i="0">
                <a:solidFill>
                  <a:srgbClr val="0F766E"/>
                </a:solidFill>
                <a:latin typeface="Calibri"/>
              </a:rPr>
              <a:t>41 pt</a:t>
            </a:r>
          </a:p>
        </p:txBody>
      </p:sp>
      <p:sp>
        <p:nvSpPr>
          <p:cNvPr id="32" name="Rounded Rectangle 31"/>
          <p:cNvSpPr/>
          <p:nvPr/>
        </p:nvSpPr>
        <p:spPr>
          <a:xfrm>
            <a:off x="6446520" y="1463040"/>
            <a:ext cx="5193792" cy="475488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33" name="Chart 32"/>
          <p:cNvGraphicFramePr>
            <a:graphicFrameLocks noGrp="1"/>
          </p:cNvGraphicFramePr>
          <p:nvPr/>
        </p:nvGraphicFramePr>
        <p:xfrm>
          <a:off x="6629400" y="1920240"/>
          <a:ext cx="4846320" cy="4160520"/>
        </p:xfrm>
        <a:graphic>
          <a:graphicData uri="http://schemas.openxmlformats.org/drawingml/2006/chart">
            <c:chart xmlns:c="http://schemas.openxmlformats.org/drawingml/2006/chart" r:id="rId2"/>
          </a:graphicData>
        </a:graphic>
      </p:graphicFrame>
      <p:sp>
        <p:nvSpPr>
          <p:cNvPr id="34" name="TextBox 33"/>
          <p:cNvSpPr txBox="1"/>
          <p:nvPr/>
        </p:nvSpPr>
        <p:spPr>
          <a:xfrm>
            <a:off x="6720840" y="1600200"/>
            <a:ext cx="4572000" cy="320040"/>
          </a:xfrm>
          <a:prstGeom prst="rect">
            <a:avLst/>
          </a:prstGeom>
          <a:noFill/>
        </p:spPr>
        <p:txBody>
          <a:bodyPr wrap="square" lIns="0" rIns="0" tIns="0" bIns="0" anchor="t">
            <a:spAutoFit/>
          </a:bodyPr>
          <a:lstStyle/>
          <a:p>
            <a:pPr algn="l">
              <a:lnSpc>
                <a:spcPct val="108000"/>
              </a:lnSpc>
              <a:spcAft>
                <a:spcPts val="400"/>
              </a:spcAft>
            </a:pPr>
            <a:r>
              <a:rPr sz="1500" b="1" i="0">
                <a:solidFill>
                  <a:srgbClr val="0F172A"/>
                </a:solidFill>
                <a:latin typeface="Calibri"/>
              </a:rPr>
              <a:t>Story Point theo Epic</a:t>
            </a:r>
          </a:p>
        </p:txBody>
      </p:sp>
      <p:sp>
        <p:nvSpPr>
          <p:cNvPr id="35" name="TextBox 34"/>
          <p:cNvSpPr txBox="1"/>
          <p:nvPr/>
        </p:nvSpPr>
        <p:spPr>
          <a:xfrm>
            <a:off x="548640" y="6446520"/>
            <a:ext cx="7315200" cy="228600"/>
          </a:xfrm>
          <a:prstGeom prst="rect">
            <a:avLst/>
          </a:prstGeom>
          <a:noFill/>
        </p:spPr>
        <p:txBody>
          <a:bodyPr wrap="square" lIns="0" rIns="0" tIns="0" bIns="0" anchor="t">
            <a:spAutoFit/>
          </a:bodyPr>
          <a:lstStyle/>
          <a:p>
            <a:pPr algn="l">
              <a:lnSpc>
                <a:spcPct val="108000"/>
              </a:lnSpc>
              <a:spcAft>
                <a:spcPts val="400"/>
              </a:spcAft>
            </a:pPr>
            <a:r>
              <a:rPr sz="1000" b="0" i="0">
                <a:solidFill>
                  <a:srgbClr val="94A3B8"/>
                </a:solidFill>
                <a:latin typeface="Calibri"/>
              </a:rPr>
              <a:t>Nhóm 3 · TTCS_T926_K2S3_N3 · Hệ thống Đặt lịch và Quản lý Vận hành Salon - Spa</a:t>
            </a:r>
          </a:p>
        </p:txBody>
      </p:sp>
      <p:sp>
        <p:nvSpPr>
          <p:cNvPr id="36" name="TextBox 35"/>
          <p:cNvSpPr txBox="1"/>
          <p:nvPr/>
        </p:nvSpPr>
        <p:spPr>
          <a:xfrm>
            <a:off x="10271455" y="6446520"/>
            <a:ext cx="1371600" cy="228600"/>
          </a:xfrm>
          <a:prstGeom prst="rect">
            <a:avLst/>
          </a:prstGeom>
          <a:noFill/>
        </p:spPr>
        <p:txBody>
          <a:bodyPr wrap="square" lIns="0" rIns="0" tIns="0" bIns="0" anchor="t">
            <a:spAutoFit/>
          </a:bodyPr>
          <a:lstStyle/>
          <a:p>
            <a:pPr algn="r">
              <a:lnSpc>
                <a:spcPct val="108000"/>
              </a:lnSpc>
              <a:spcAft>
                <a:spcPts val="400"/>
              </a:spcAft>
            </a:pPr>
            <a:r>
              <a:rPr sz="1000" b="0" i="0">
                <a:solidFill>
                  <a:srgbClr val="94A3B8"/>
                </a:solidFill>
                <a:latin typeface="Calibri"/>
              </a:rPr>
              <a:t>4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0D9488"/>
                </a:solidFill>
                <a:latin typeface="Calibri"/>
              </a:rPr>
              <a:t>05  ·  ĐIỂM SÁNG CÔNG NGHỆ 1</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lnSpc>
                <a:spcPct val="108000"/>
              </a:lnSpc>
              <a:spcAft>
                <a:spcPts val="400"/>
              </a:spcAft>
            </a:pPr>
            <a:r>
              <a:rPr sz="3200" b="1" i="0">
                <a:solidFill>
                  <a:srgbClr val="0F172A"/>
                </a:solidFill>
                <a:latin typeface="Calibri"/>
              </a:rPr>
              <a:t>Đặt lịch 4 bước &amp; bộ tính khung giờ trống 15 phút</a:t>
            </a:r>
          </a:p>
        </p:txBody>
      </p:sp>
      <p:pic>
        <p:nvPicPr>
          <p:cNvPr id="4" name="Picture 3" descr="02_booking_step1.jpg"/>
          <p:cNvPicPr>
            <a:picLocks noChangeAspect="1"/>
          </p:cNvPicPr>
          <p:nvPr/>
        </p:nvPicPr>
        <p:blipFill>
          <a:blip r:embed="rId2"/>
          <a:srcRect l="11186" r="28765"/>
          <a:stretch>
            <a:fillRect/>
          </a:stretch>
        </p:blipFill>
        <p:spPr>
          <a:xfrm>
            <a:off x="548640" y="1554480"/>
            <a:ext cx="4480560" cy="4663440"/>
          </a:xfrm>
          <a:prstGeom prst="roundRect">
            <a:avLst>
              <a:gd name="adj" fmla="val 3500"/>
            </a:avLst>
          </a:prstGeom>
          <a:ln w="12700">
            <a:solidFill>
              <a:srgbClr val="E2E8F0"/>
            </a:solidFill>
          </a:ln>
          <a:effectLst>
            <a:outerShdw blurRad="203200" dist="50800" dir="5400000" algn="t" rotWithShape="0">
              <a:srgbClr val="0F172A">
                <a:alpha val="16000"/>
              </a:srgbClr>
            </a:outerShdw>
          </a:effectLst>
        </p:spPr>
      </p:pic>
      <p:pic>
        <p:nvPicPr>
          <p:cNvPr id="5" name="Picture 4" descr="03_booking_mobile.jpg"/>
          <p:cNvPicPr>
            <a:picLocks noChangeAspect="1"/>
          </p:cNvPicPr>
          <p:nvPr/>
        </p:nvPicPr>
        <p:blipFill>
          <a:blip r:embed="rId3"/>
          <a:srcRect l="2262" r="2262"/>
          <a:stretch>
            <a:fillRect/>
          </a:stretch>
        </p:blipFill>
        <p:spPr>
          <a:xfrm>
            <a:off x="5212080" y="1554480"/>
            <a:ext cx="2057400" cy="4663440"/>
          </a:xfrm>
          <a:prstGeom prst="roundRect">
            <a:avLst>
              <a:gd name="adj" fmla="val 3500"/>
            </a:avLst>
          </a:prstGeom>
          <a:ln w="12700">
            <a:solidFill>
              <a:srgbClr val="E2E8F0"/>
            </a:solidFill>
          </a:ln>
          <a:effectLst>
            <a:outerShdw blurRad="203200" dist="50800" dir="5400000" algn="t" rotWithShape="0">
              <a:srgbClr val="0F172A">
                <a:alpha val="16000"/>
              </a:srgbClr>
            </a:outerShdw>
          </a:effectLst>
        </p:spPr>
      </p:pic>
      <p:sp>
        <p:nvSpPr>
          <p:cNvPr id="6" name="TextBox 5"/>
          <p:cNvSpPr txBox="1"/>
          <p:nvPr/>
        </p:nvSpPr>
        <p:spPr>
          <a:xfrm>
            <a:off x="7589520" y="1554480"/>
            <a:ext cx="4023360" cy="365760"/>
          </a:xfrm>
          <a:prstGeom prst="rect">
            <a:avLst/>
          </a:prstGeom>
          <a:noFill/>
        </p:spPr>
        <p:txBody>
          <a:bodyPr wrap="square" lIns="0" rIns="0" tIns="0" bIns="0" anchor="t">
            <a:spAutoFit/>
          </a:bodyPr>
          <a:lstStyle/>
          <a:p>
            <a:pPr algn="l">
              <a:lnSpc>
                <a:spcPct val="108000"/>
              </a:lnSpc>
              <a:spcAft>
                <a:spcPts val="400"/>
              </a:spcAft>
            </a:pPr>
            <a:r>
              <a:rPr sz="1600" b="1" i="0">
                <a:solidFill>
                  <a:srgbClr val="0F172A"/>
                </a:solidFill>
                <a:latin typeface="Calibri"/>
              </a:rPr>
              <a:t>Giải thuật (hàm thuần, 35 ca kiểm thử)</a:t>
            </a:r>
          </a:p>
        </p:txBody>
      </p:sp>
      <p:sp>
        <p:nvSpPr>
          <p:cNvPr id="7" name="Oval 6"/>
          <p:cNvSpPr/>
          <p:nvPr/>
        </p:nvSpPr>
        <p:spPr>
          <a:xfrm>
            <a:off x="7589520" y="2011680"/>
            <a:ext cx="420624" cy="420624"/>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8" name="TextBox 7"/>
          <p:cNvSpPr txBox="1"/>
          <p:nvPr/>
        </p:nvSpPr>
        <p:spPr>
          <a:xfrm>
            <a:off x="8183880" y="1984248"/>
            <a:ext cx="3429000" cy="274320"/>
          </a:xfrm>
          <a:prstGeom prst="rect">
            <a:avLst/>
          </a:prstGeom>
          <a:noFill/>
        </p:spPr>
        <p:txBody>
          <a:bodyPr wrap="square" lIns="0" rIns="0" tIns="0" bIns="0" anchor="t">
            <a:spAutoFit/>
          </a:bodyPr>
          <a:lstStyle/>
          <a:p>
            <a:pPr algn="l">
              <a:lnSpc>
                <a:spcPct val="108000"/>
              </a:lnSpc>
              <a:spcAft>
                <a:spcPts val="400"/>
              </a:spcAft>
            </a:pPr>
            <a:r>
              <a:rPr sz="1450" b="1" i="0">
                <a:solidFill>
                  <a:srgbClr val="0F172A"/>
                </a:solidFill>
                <a:latin typeface="Calibri"/>
              </a:rPr>
              <a:t>Khoảng làm việc</a:t>
            </a:r>
          </a:p>
        </p:txBody>
      </p:sp>
      <p:sp>
        <p:nvSpPr>
          <p:cNvPr id="9" name="TextBox 8"/>
          <p:cNvSpPr txBox="1"/>
          <p:nvPr/>
        </p:nvSpPr>
        <p:spPr>
          <a:xfrm>
            <a:off x="8183880" y="2286000"/>
            <a:ext cx="3429000" cy="502920"/>
          </a:xfrm>
          <a:prstGeom prst="rect">
            <a:avLst/>
          </a:prstGeom>
          <a:noFill/>
        </p:spPr>
        <p:txBody>
          <a:bodyPr wrap="square" lIns="0" rIns="0" tIns="0" bIns="0" anchor="t">
            <a:spAutoFit/>
          </a:bodyPr>
          <a:lstStyle/>
          <a:p>
            <a:pPr algn="l">
              <a:lnSpc>
                <a:spcPct val="108000"/>
              </a:lnSpc>
              <a:spcAft>
                <a:spcPts val="400"/>
              </a:spcAft>
            </a:pPr>
            <a:r>
              <a:rPr sz="1250" b="0" i="0">
                <a:solidFill>
                  <a:srgbClr val="475569"/>
                </a:solidFill>
                <a:latin typeface="Calibri"/>
              </a:rPr>
              <a:t>Giao ca làm của thợ với giờ mở cửa</a:t>
            </a:r>
          </a:p>
        </p:txBody>
      </p:sp>
      <p:sp>
        <p:nvSpPr>
          <p:cNvPr id="10" name="Oval 9"/>
          <p:cNvSpPr/>
          <p:nvPr/>
        </p:nvSpPr>
        <p:spPr>
          <a:xfrm>
            <a:off x="7589520" y="2834640"/>
            <a:ext cx="420624" cy="420624"/>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1" name="TextBox 10"/>
          <p:cNvSpPr txBox="1"/>
          <p:nvPr/>
        </p:nvSpPr>
        <p:spPr>
          <a:xfrm>
            <a:off x="8183880" y="2807208"/>
            <a:ext cx="3429000" cy="274320"/>
          </a:xfrm>
          <a:prstGeom prst="rect">
            <a:avLst/>
          </a:prstGeom>
          <a:noFill/>
        </p:spPr>
        <p:txBody>
          <a:bodyPr wrap="square" lIns="0" rIns="0" tIns="0" bIns="0" anchor="t">
            <a:spAutoFit/>
          </a:bodyPr>
          <a:lstStyle/>
          <a:p>
            <a:pPr algn="l">
              <a:lnSpc>
                <a:spcPct val="108000"/>
              </a:lnSpc>
              <a:spcAft>
                <a:spcPts val="400"/>
              </a:spcAft>
            </a:pPr>
            <a:r>
              <a:rPr sz="1450" b="1" i="0">
                <a:solidFill>
                  <a:srgbClr val="0F172A"/>
                </a:solidFill>
                <a:latin typeface="Calibri"/>
              </a:rPr>
              <a:t>Trừ khoảng bận</a:t>
            </a:r>
          </a:p>
        </p:txBody>
      </p:sp>
      <p:sp>
        <p:nvSpPr>
          <p:cNvPr id="12" name="TextBox 11"/>
          <p:cNvSpPr txBox="1"/>
          <p:nvPr/>
        </p:nvSpPr>
        <p:spPr>
          <a:xfrm>
            <a:off x="8183880" y="3108960"/>
            <a:ext cx="3429000" cy="502920"/>
          </a:xfrm>
          <a:prstGeom prst="rect">
            <a:avLst/>
          </a:prstGeom>
          <a:noFill/>
        </p:spPr>
        <p:txBody>
          <a:bodyPr wrap="square" lIns="0" rIns="0" tIns="0" bIns="0" anchor="t">
            <a:spAutoFit/>
          </a:bodyPr>
          <a:lstStyle/>
          <a:p>
            <a:pPr algn="l">
              <a:lnSpc>
                <a:spcPct val="108000"/>
              </a:lnSpc>
              <a:spcAft>
                <a:spcPts val="400"/>
              </a:spcAft>
            </a:pPr>
            <a:r>
              <a:rPr sz="1250" b="0" i="0">
                <a:solidFill>
                  <a:srgbClr val="475569"/>
                </a:solidFill>
                <a:latin typeface="Calibri"/>
              </a:rPr>
              <a:t>Nghỉ giữa ca, lịch đã có, ngày nghỉ tiệm / thợ</a:t>
            </a:r>
          </a:p>
        </p:txBody>
      </p:sp>
      <p:sp>
        <p:nvSpPr>
          <p:cNvPr id="13" name="Oval 12"/>
          <p:cNvSpPr/>
          <p:nvPr/>
        </p:nvSpPr>
        <p:spPr>
          <a:xfrm>
            <a:off x="7589520" y="3657600"/>
            <a:ext cx="420624" cy="420624"/>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4" name="TextBox 13"/>
          <p:cNvSpPr txBox="1"/>
          <p:nvPr/>
        </p:nvSpPr>
        <p:spPr>
          <a:xfrm>
            <a:off x="8183880" y="3630168"/>
            <a:ext cx="3429000" cy="274320"/>
          </a:xfrm>
          <a:prstGeom prst="rect">
            <a:avLst/>
          </a:prstGeom>
          <a:noFill/>
        </p:spPr>
        <p:txBody>
          <a:bodyPr wrap="square" lIns="0" rIns="0" tIns="0" bIns="0" anchor="t">
            <a:spAutoFit/>
          </a:bodyPr>
          <a:lstStyle/>
          <a:p>
            <a:pPr algn="l">
              <a:lnSpc>
                <a:spcPct val="108000"/>
              </a:lnSpc>
              <a:spcAft>
                <a:spcPts val="400"/>
              </a:spcAft>
            </a:pPr>
            <a:r>
              <a:rPr sz="1450" b="1" i="0">
                <a:solidFill>
                  <a:srgbClr val="0F172A"/>
                </a:solidFill>
                <a:latin typeface="Calibri"/>
              </a:rPr>
              <a:t>Sinh mốc 15 phút</a:t>
            </a:r>
          </a:p>
        </p:txBody>
      </p:sp>
      <p:sp>
        <p:nvSpPr>
          <p:cNvPr id="15" name="TextBox 14"/>
          <p:cNvSpPr txBox="1"/>
          <p:nvPr/>
        </p:nvSpPr>
        <p:spPr>
          <a:xfrm>
            <a:off x="8183880" y="3931920"/>
            <a:ext cx="3429000" cy="502920"/>
          </a:xfrm>
          <a:prstGeom prst="rect">
            <a:avLst/>
          </a:prstGeom>
          <a:noFill/>
        </p:spPr>
        <p:txBody>
          <a:bodyPr wrap="square" lIns="0" rIns="0" tIns="0" bIns="0" anchor="t">
            <a:spAutoFit/>
          </a:bodyPr>
          <a:lstStyle/>
          <a:p>
            <a:pPr algn="l">
              <a:lnSpc>
                <a:spcPct val="108000"/>
              </a:lnSpc>
              <a:spcAft>
                <a:spcPts val="400"/>
              </a:spcAft>
            </a:pPr>
            <a:r>
              <a:rPr sz="1250" b="0" i="0">
                <a:solidFill>
                  <a:srgbClr val="475569"/>
                </a:solidFill>
                <a:latin typeface="Calibri"/>
              </a:rPr>
              <a:t>Nhận t nếu [t, t + D) nằm trọn trong khoảng rảnh</a:t>
            </a:r>
          </a:p>
        </p:txBody>
      </p:sp>
      <p:sp>
        <p:nvSpPr>
          <p:cNvPr id="16" name="Oval 15"/>
          <p:cNvSpPr/>
          <p:nvPr/>
        </p:nvSpPr>
        <p:spPr>
          <a:xfrm>
            <a:off x="7589520" y="4480560"/>
            <a:ext cx="420624" cy="420624"/>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7" name="TextBox 16"/>
          <p:cNvSpPr txBox="1"/>
          <p:nvPr/>
        </p:nvSpPr>
        <p:spPr>
          <a:xfrm>
            <a:off x="8183880" y="4453128"/>
            <a:ext cx="3429000" cy="274320"/>
          </a:xfrm>
          <a:prstGeom prst="rect">
            <a:avLst/>
          </a:prstGeom>
          <a:noFill/>
        </p:spPr>
        <p:txBody>
          <a:bodyPr wrap="square" lIns="0" rIns="0" tIns="0" bIns="0" anchor="t">
            <a:spAutoFit/>
          </a:bodyPr>
          <a:lstStyle/>
          <a:p>
            <a:pPr algn="l">
              <a:lnSpc>
                <a:spcPct val="108000"/>
              </a:lnSpc>
              <a:spcAft>
                <a:spcPts val="400"/>
              </a:spcAft>
            </a:pPr>
            <a:r>
              <a:rPr sz="1450" b="1" i="0">
                <a:solidFill>
                  <a:srgbClr val="0F172A"/>
                </a:solidFill>
                <a:latin typeface="Calibri"/>
              </a:rPr>
              <a:t>Lọc thời điểm</a:t>
            </a:r>
          </a:p>
        </p:txBody>
      </p:sp>
      <p:sp>
        <p:nvSpPr>
          <p:cNvPr id="18" name="TextBox 17"/>
          <p:cNvSpPr txBox="1"/>
          <p:nvPr/>
        </p:nvSpPr>
        <p:spPr>
          <a:xfrm>
            <a:off x="8183880" y="4754880"/>
            <a:ext cx="3429000" cy="502920"/>
          </a:xfrm>
          <a:prstGeom prst="rect">
            <a:avLst/>
          </a:prstGeom>
          <a:noFill/>
        </p:spPr>
        <p:txBody>
          <a:bodyPr wrap="square" lIns="0" rIns="0" tIns="0" bIns="0" anchor="t">
            <a:spAutoFit/>
          </a:bodyPr>
          <a:lstStyle/>
          <a:p>
            <a:pPr algn="l">
              <a:lnSpc>
                <a:spcPct val="108000"/>
              </a:lnSpc>
              <a:spcAft>
                <a:spcPts val="400"/>
              </a:spcAft>
            </a:pPr>
            <a:r>
              <a:rPr sz="1250" b="0" i="0">
                <a:solidFill>
                  <a:srgbClr val="475569"/>
                </a:solidFill>
                <a:latin typeface="Calibri"/>
              </a:rPr>
              <a:t>Bỏ quá khứ và mốc cách hiện tại &lt; 60 phút</a:t>
            </a:r>
          </a:p>
        </p:txBody>
      </p:sp>
      <p:sp>
        <p:nvSpPr>
          <p:cNvPr id="19" name="Oval 18"/>
          <p:cNvSpPr/>
          <p:nvPr/>
        </p:nvSpPr>
        <p:spPr>
          <a:xfrm>
            <a:off x="7589520" y="5303520"/>
            <a:ext cx="420624" cy="420624"/>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20" name="TextBox 19"/>
          <p:cNvSpPr txBox="1"/>
          <p:nvPr/>
        </p:nvSpPr>
        <p:spPr>
          <a:xfrm>
            <a:off x="8183880" y="5276088"/>
            <a:ext cx="3429000" cy="274320"/>
          </a:xfrm>
          <a:prstGeom prst="rect">
            <a:avLst/>
          </a:prstGeom>
          <a:noFill/>
        </p:spPr>
        <p:txBody>
          <a:bodyPr wrap="square" lIns="0" rIns="0" tIns="0" bIns="0" anchor="t">
            <a:spAutoFit/>
          </a:bodyPr>
          <a:lstStyle/>
          <a:p>
            <a:pPr algn="l">
              <a:lnSpc>
                <a:spcPct val="108000"/>
              </a:lnSpc>
              <a:spcAft>
                <a:spcPts val="400"/>
              </a:spcAft>
            </a:pPr>
            <a:r>
              <a:rPr sz="1450" b="1" i="0">
                <a:solidFill>
                  <a:srgbClr val="0F172A"/>
                </a:solidFill>
                <a:latin typeface="Calibri"/>
              </a:rPr>
              <a:t>Thợ bất kỳ</a:t>
            </a:r>
          </a:p>
        </p:txBody>
      </p:sp>
      <p:sp>
        <p:nvSpPr>
          <p:cNvPr id="21" name="TextBox 20"/>
          <p:cNvSpPr txBox="1"/>
          <p:nvPr/>
        </p:nvSpPr>
        <p:spPr>
          <a:xfrm>
            <a:off x="8183880" y="5577840"/>
            <a:ext cx="3429000" cy="502920"/>
          </a:xfrm>
          <a:prstGeom prst="rect">
            <a:avLst/>
          </a:prstGeom>
          <a:noFill/>
        </p:spPr>
        <p:txBody>
          <a:bodyPr wrap="square" lIns="0" rIns="0" tIns="0" bIns="0" anchor="t">
            <a:spAutoFit/>
          </a:bodyPr>
          <a:lstStyle/>
          <a:p>
            <a:pPr algn="l">
              <a:lnSpc>
                <a:spcPct val="108000"/>
              </a:lnSpc>
              <a:spcAft>
                <a:spcPts val="400"/>
              </a:spcAft>
            </a:pPr>
            <a:r>
              <a:rPr sz="1250" b="0" i="0">
                <a:solidFill>
                  <a:srgbClr val="475569"/>
                </a:solidFill>
                <a:latin typeface="Calibri"/>
              </a:rPr>
              <a:t>Hợp thợ đủ kỹ năng, ưu tiên thợ ít lịch; gợi ý 2 ngày còn chỗ</a:t>
            </a:r>
          </a:p>
        </p:txBody>
      </p:sp>
      <p:sp>
        <p:nvSpPr>
          <p:cNvPr id="22" name="TextBox 21"/>
          <p:cNvSpPr txBox="1"/>
          <p:nvPr/>
        </p:nvSpPr>
        <p:spPr>
          <a:xfrm>
            <a:off x="548640" y="6446520"/>
            <a:ext cx="7315200" cy="228600"/>
          </a:xfrm>
          <a:prstGeom prst="rect">
            <a:avLst/>
          </a:prstGeom>
          <a:noFill/>
        </p:spPr>
        <p:txBody>
          <a:bodyPr wrap="square" lIns="0" rIns="0" tIns="0" bIns="0" anchor="t">
            <a:spAutoFit/>
          </a:bodyPr>
          <a:lstStyle/>
          <a:p>
            <a:pPr algn="l">
              <a:lnSpc>
                <a:spcPct val="108000"/>
              </a:lnSpc>
              <a:spcAft>
                <a:spcPts val="400"/>
              </a:spcAft>
            </a:pPr>
            <a:r>
              <a:rPr sz="1000" b="0" i="0">
                <a:solidFill>
                  <a:srgbClr val="94A3B8"/>
                </a:solidFill>
                <a:latin typeface="Calibri"/>
              </a:rPr>
              <a:t>Nhóm 3 · TTCS_T926_K2S3_N3 · Hệ thống Đặt lịch và Quản lý Vận hành Salon - Spa</a:t>
            </a:r>
          </a:p>
        </p:txBody>
      </p:sp>
      <p:sp>
        <p:nvSpPr>
          <p:cNvPr id="23" name="TextBox 22"/>
          <p:cNvSpPr txBox="1"/>
          <p:nvPr/>
        </p:nvSpPr>
        <p:spPr>
          <a:xfrm>
            <a:off x="10271455" y="6446520"/>
            <a:ext cx="1371600" cy="228600"/>
          </a:xfrm>
          <a:prstGeom prst="rect">
            <a:avLst/>
          </a:prstGeom>
          <a:noFill/>
        </p:spPr>
        <p:txBody>
          <a:bodyPr wrap="square" lIns="0" rIns="0" tIns="0" bIns="0" anchor="t">
            <a:spAutoFit/>
          </a:bodyPr>
          <a:lstStyle/>
          <a:p>
            <a:pPr algn="r">
              <a:lnSpc>
                <a:spcPct val="108000"/>
              </a:lnSpc>
              <a:spcAft>
                <a:spcPts val="400"/>
              </a:spcAft>
            </a:pPr>
            <a:r>
              <a:rPr sz="1000" b="0" i="0">
                <a:solidFill>
                  <a:srgbClr val="94A3B8"/>
                </a:solidFill>
                <a:latin typeface="Calibri"/>
              </a:rPr>
              <a:t>5 /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0D9488"/>
                </a:solidFill>
                <a:latin typeface="Calibri"/>
              </a:rPr>
              <a:t>06  ·  ĐIỂM SÁNG CÔNG NGHỆ 2</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lnSpc>
                <a:spcPct val="108000"/>
              </a:lnSpc>
              <a:spcAft>
                <a:spcPts val="400"/>
              </a:spcAft>
            </a:pPr>
            <a:r>
              <a:rPr sz="3200" b="1" i="0">
                <a:solidFill>
                  <a:srgbClr val="0F172A"/>
                </a:solidFill>
                <a:latin typeface="Calibri"/>
              </a:rPr>
              <a:t>Chống đặt trùng: SERIALIZABLE + FOR UPDATE + EXCLUDE</a:t>
            </a:r>
          </a:p>
        </p:txBody>
      </p:sp>
      <p:sp>
        <p:nvSpPr>
          <p:cNvPr id="4" name="Rounded Rectangle 3"/>
          <p:cNvSpPr/>
          <p:nvPr/>
        </p:nvSpPr>
        <p:spPr>
          <a:xfrm>
            <a:off x="548640" y="1554480"/>
            <a:ext cx="7818120" cy="3977639"/>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lock.png"/>
          <p:cNvPicPr>
            <a:picLocks noChangeAspect="1"/>
          </p:cNvPicPr>
          <p:nvPr/>
        </p:nvPicPr>
        <p:blipFill>
          <a:blip r:embed="rId2"/>
          <a:stretch>
            <a:fillRect/>
          </a:stretch>
        </p:blipFill>
        <p:spPr>
          <a:xfrm>
            <a:off x="685800" y="1936787"/>
            <a:ext cx="7543800" cy="3203881"/>
          </a:xfrm>
          <a:prstGeom prst="rect">
            <a:avLst/>
          </a:prstGeom>
        </p:spPr>
      </p:pic>
      <p:sp>
        <p:nvSpPr>
          <p:cNvPr id="6" name="Rounded Rectangle 5"/>
          <p:cNvSpPr/>
          <p:nvPr/>
        </p:nvSpPr>
        <p:spPr>
          <a:xfrm>
            <a:off x="8641080" y="1554480"/>
            <a:ext cx="2999232" cy="3977639"/>
          </a:xfrm>
          <a:prstGeom prst="roundRect">
            <a:avLst>
              <a:gd name="adj" fmla="val 8000"/>
            </a:avLst>
          </a:prstGeom>
          <a:solidFill>
            <a:srgbClr val="0F172A"/>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915400" y="1783080"/>
            <a:ext cx="2468880" cy="274320"/>
          </a:xfrm>
          <a:prstGeom prst="rect">
            <a:avLst/>
          </a:prstGeom>
          <a:noFill/>
        </p:spPr>
        <p:txBody>
          <a:bodyPr wrap="square" lIns="0" rIns="0" tIns="0" bIns="0" anchor="t">
            <a:spAutoFit/>
          </a:bodyPr>
          <a:lstStyle/>
          <a:p>
            <a:pPr algn="l">
              <a:lnSpc>
                <a:spcPct val="108000"/>
              </a:lnSpc>
              <a:spcAft>
                <a:spcPts val="400"/>
              </a:spcAft>
            </a:pPr>
            <a:r>
              <a:rPr sz="1150" b="1" i="0">
                <a:solidFill>
                  <a:srgbClr val="5EEAD4"/>
                </a:solidFill>
                <a:latin typeface="Calibri"/>
              </a:rPr>
              <a:t>KIỂM THỬ E2E ĐỒNG THỜI</a:t>
            </a:r>
          </a:p>
        </p:txBody>
      </p:sp>
      <p:sp>
        <p:nvSpPr>
          <p:cNvPr id="8" name="TextBox 7"/>
          <p:cNvSpPr txBox="1"/>
          <p:nvPr/>
        </p:nvSpPr>
        <p:spPr>
          <a:xfrm>
            <a:off x="8915400" y="2103120"/>
            <a:ext cx="2468880" cy="822960"/>
          </a:xfrm>
          <a:prstGeom prst="rect">
            <a:avLst/>
          </a:prstGeom>
          <a:noFill/>
        </p:spPr>
        <p:txBody>
          <a:bodyPr wrap="square" lIns="0" rIns="0" tIns="0" bIns="0" anchor="t">
            <a:spAutoFit/>
          </a:bodyPr>
          <a:lstStyle/>
          <a:p>
            <a:pPr algn="l">
              <a:lnSpc>
                <a:spcPct val="108000"/>
              </a:lnSpc>
              <a:spcAft>
                <a:spcPts val="400"/>
              </a:spcAft>
            </a:pPr>
            <a:r>
              <a:rPr sz="6000" b="1" i="0">
                <a:solidFill>
                  <a:srgbClr val="FFFFFF"/>
                </a:solidFill>
                <a:latin typeface="Calibri"/>
              </a:rPr>
              <a:t>20</a:t>
            </a:r>
          </a:p>
        </p:txBody>
      </p:sp>
      <p:sp>
        <p:nvSpPr>
          <p:cNvPr id="9" name="TextBox 8"/>
          <p:cNvSpPr txBox="1"/>
          <p:nvPr/>
        </p:nvSpPr>
        <p:spPr>
          <a:xfrm>
            <a:off x="8915400" y="2971800"/>
            <a:ext cx="2468880" cy="365760"/>
          </a:xfrm>
          <a:prstGeom prst="rect">
            <a:avLst/>
          </a:prstGeom>
          <a:noFill/>
        </p:spPr>
        <p:txBody>
          <a:bodyPr wrap="square" lIns="0" rIns="0" tIns="0" bIns="0" anchor="t">
            <a:spAutoFit/>
          </a:bodyPr>
          <a:lstStyle/>
          <a:p>
            <a:pPr algn="l">
              <a:lnSpc>
                <a:spcPct val="108000"/>
              </a:lnSpc>
              <a:spcAft>
                <a:spcPts val="400"/>
              </a:spcAft>
            </a:pPr>
            <a:r>
              <a:rPr sz="1300" b="0" i="0">
                <a:solidFill>
                  <a:srgbClr val="CBD5E1"/>
                </a:solidFill>
                <a:latin typeface="Calibri"/>
              </a:rPr>
              <a:t>yêu cầu cùng khung giờ, cùng thợ</a:t>
            </a:r>
          </a:p>
        </p:txBody>
      </p:sp>
      <p:sp>
        <p:nvSpPr>
          <p:cNvPr id="10" name="TextBox 9"/>
          <p:cNvSpPr txBox="1"/>
          <p:nvPr/>
        </p:nvSpPr>
        <p:spPr>
          <a:xfrm>
            <a:off x="8915400" y="3566160"/>
            <a:ext cx="2468880" cy="548640"/>
          </a:xfrm>
          <a:prstGeom prst="rect">
            <a:avLst/>
          </a:prstGeom>
          <a:noFill/>
        </p:spPr>
        <p:txBody>
          <a:bodyPr wrap="square" lIns="0" rIns="0" tIns="0" bIns="0" anchor="t">
            <a:spAutoFit/>
          </a:bodyPr>
          <a:lstStyle/>
          <a:p>
            <a:pPr algn="l">
              <a:lnSpc>
                <a:spcPct val="108000"/>
              </a:lnSpc>
              <a:spcAft>
                <a:spcPts val="400"/>
              </a:spcAft>
            </a:pPr>
            <a:r>
              <a:rPr sz="3400" b="1" i="0">
                <a:solidFill>
                  <a:srgbClr val="5EEAD4"/>
                </a:solidFill>
                <a:latin typeface="Calibri"/>
              </a:rPr>
              <a:t>1</a:t>
            </a:r>
            <a:r>
              <a:rPr sz="1400" b="0" i="0">
                <a:solidFill>
                  <a:srgbClr val="FFFFFF"/>
                </a:solidFill>
                <a:latin typeface="Calibri"/>
              </a:rPr>
              <a:t> thành công (201)</a:t>
            </a:r>
          </a:p>
        </p:txBody>
      </p:sp>
      <p:sp>
        <p:nvSpPr>
          <p:cNvPr id="11" name="TextBox 10"/>
          <p:cNvSpPr txBox="1"/>
          <p:nvPr/>
        </p:nvSpPr>
        <p:spPr>
          <a:xfrm>
            <a:off x="8915400" y="4206240"/>
            <a:ext cx="2468880" cy="548640"/>
          </a:xfrm>
          <a:prstGeom prst="rect">
            <a:avLst/>
          </a:prstGeom>
          <a:noFill/>
        </p:spPr>
        <p:txBody>
          <a:bodyPr wrap="square" lIns="0" rIns="0" tIns="0" bIns="0" anchor="t">
            <a:spAutoFit/>
          </a:bodyPr>
          <a:lstStyle/>
          <a:p>
            <a:pPr algn="l">
              <a:lnSpc>
                <a:spcPct val="108000"/>
              </a:lnSpc>
              <a:spcAft>
                <a:spcPts val="400"/>
              </a:spcAft>
            </a:pPr>
            <a:r>
              <a:rPr sz="3400" b="1" i="0">
                <a:solidFill>
                  <a:srgbClr val="FDA4AF"/>
                </a:solidFill>
                <a:latin typeface="Calibri"/>
              </a:rPr>
              <a:t>19</a:t>
            </a:r>
            <a:r>
              <a:rPr sz="1400" b="0" i="0">
                <a:solidFill>
                  <a:srgbClr val="FFFFFF"/>
                </a:solidFill>
                <a:latin typeface="Calibri"/>
              </a:rPr>
              <a:t> nhận 409</a:t>
            </a:r>
          </a:p>
        </p:txBody>
      </p:sp>
      <p:sp>
        <p:nvSpPr>
          <p:cNvPr id="12" name="TextBox 11"/>
          <p:cNvSpPr txBox="1"/>
          <p:nvPr/>
        </p:nvSpPr>
        <p:spPr>
          <a:xfrm>
            <a:off x="8915400" y="4892040"/>
            <a:ext cx="2468880" cy="548640"/>
          </a:xfrm>
          <a:prstGeom prst="rect">
            <a:avLst/>
          </a:prstGeom>
          <a:noFill/>
        </p:spPr>
        <p:txBody>
          <a:bodyPr wrap="square" lIns="0" rIns="0" tIns="0" bIns="0" anchor="t">
            <a:spAutoFit/>
          </a:bodyPr>
          <a:lstStyle/>
          <a:p>
            <a:pPr algn="l">
              <a:lnSpc>
                <a:spcPct val="108000"/>
              </a:lnSpc>
              <a:spcAft>
                <a:spcPts val="400"/>
              </a:spcAft>
            </a:pPr>
            <a:r>
              <a:rPr sz="1200" b="0" i="0">
                <a:solidFill>
                  <a:srgbClr val="94A3B8"/>
                </a:solidFill>
                <a:latin typeface="Calibri"/>
              </a:rPr>
              <a:t>Kết quả ổn định qua mọi lần chạy</a:t>
            </a:r>
          </a:p>
        </p:txBody>
      </p:sp>
      <p:sp>
        <p:nvSpPr>
          <p:cNvPr id="13" name="Rounded Rectangle 12"/>
          <p:cNvSpPr/>
          <p:nvPr/>
        </p:nvSpPr>
        <p:spPr>
          <a:xfrm>
            <a:off x="548640" y="5669280"/>
            <a:ext cx="3566160" cy="658368"/>
          </a:xfrm>
          <a:prstGeom prst="roundRect">
            <a:avLst>
              <a:gd name="adj" fmla="val 8000"/>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76656" y="5769864"/>
            <a:ext cx="457200" cy="45720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lock_w.png"/>
          <p:cNvPicPr>
            <a:picLocks noChangeAspect="1"/>
          </p:cNvPicPr>
          <p:nvPr/>
        </p:nvPicPr>
        <p:blipFill>
          <a:blip r:embed="rId3"/>
          <a:stretch>
            <a:fillRect/>
          </a:stretch>
        </p:blipFill>
        <p:spPr>
          <a:xfrm>
            <a:off x="786384" y="5879592"/>
            <a:ext cx="237744" cy="237744"/>
          </a:xfrm>
          <a:prstGeom prst="rect">
            <a:avLst/>
          </a:prstGeom>
        </p:spPr>
      </p:pic>
      <p:sp>
        <p:nvSpPr>
          <p:cNvPr id="16" name="TextBox 15"/>
          <p:cNvSpPr txBox="1"/>
          <p:nvPr/>
        </p:nvSpPr>
        <p:spPr>
          <a:xfrm>
            <a:off x="1261872" y="5733288"/>
            <a:ext cx="2788920" cy="274320"/>
          </a:xfrm>
          <a:prstGeom prst="rect">
            <a:avLst/>
          </a:prstGeom>
          <a:noFill/>
        </p:spPr>
        <p:txBody>
          <a:bodyPr wrap="square" lIns="0" rIns="0" tIns="0" bIns="0" anchor="t">
            <a:spAutoFit/>
          </a:bodyPr>
          <a:lstStyle/>
          <a:p>
            <a:pPr algn="l">
              <a:lnSpc>
                <a:spcPct val="108000"/>
              </a:lnSpc>
              <a:spcAft>
                <a:spcPts val="400"/>
              </a:spcAft>
            </a:pPr>
            <a:r>
              <a:rPr sz="1350" b="1" i="0">
                <a:solidFill>
                  <a:srgbClr val="0F766E"/>
                </a:solidFill>
                <a:latin typeface="Calibri"/>
              </a:rPr>
              <a:t>Lớp 1 · SERIALIZABLE</a:t>
            </a:r>
          </a:p>
        </p:txBody>
      </p:sp>
      <p:sp>
        <p:nvSpPr>
          <p:cNvPr id="17" name="TextBox 16"/>
          <p:cNvSpPr txBox="1"/>
          <p:nvPr/>
        </p:nvSpPr>
        <p:spPr>
          <a:xfrm>
            <a:off x="1261872" y="5989320"/>
            <a:ext cx="2788920" cy="274320"/>
          </a:xfrm>
          <a:prstGeom prst="rect">
            <a:avLst/>
          </a:prstGeom>
          <a:noFill/>
        </p:spPr>
        <p:txBody>
          <a:bodyPr wrap="square" lIns="0" rIns="0" tIns="0" bIns="0" anchor="t">
            <a:spAutoFit/>
          </a:bodyPr>
          <a:lstStyle/>
          <a:p>
            <a:pPr algn="l">
              <a:lnSpc>
                <a:spcPct val="108000"/>
              </a:lnSpc>
              <a:spcAft>
                <a:spcPts val="400"/>
              </a:spcAft>
            </a:pPr>
            <a:r>
              <a:rPr sz="1150" b="0" i="0">
                <a:solidFill>
                  <a:srgbClr val="475569"/>
                </a:solidFill>
                <a:latin typeface="Calibri"/>
              </a:rPr>
              <a:t>Xung đột 40001 → tự chạy lại ≤ 3 lần</a:t>
            </a:r>
          </a:p>
        </p:txBody>
      </p:sp>
      <p:sp>
        <p:nvSpPr>
          <p:cNvPr id="18" name="Rounded Rectangle 17"/>
          <p:cNvSpPr/>
          <p:nvPr/>
        </p:nvSpPr>
        <p:spPr>
          <a:xfrm>
            <a:off x="4315968" y="5669280"/>
            <a:ext cx="3566160" cy="658368"/>
          </a:xfrm>
          <a:prstGeom prst="roundRect">
            <a:avLst>
              <a:gd name="adj" fmla="val 8000"/>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4443984" y="5769864"/>
            <a:ext cx="457200" cy="45720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key_w.png"/>
          <p:cNvPicPr>
            <a:picLocks noChangeAspect="1"/>
          </p:cNvPicPr>
          <p:nvPr/>
        </p:nvPicPr>
        <p:blipFill>
          <a:blip r:embed="rId4"/>
          <a:stretch>
            <a:fillRect/>
          </a:stretch>
        </p:blipFill>
        <p:spPr>
          <a:xfrm>
            <a:off x="4553712" y="5879592"/>
            <a:ext cx="237744" cy="237744"/>
          </a:xfrm>
          <a:prstGeom prst="rect">
            <a:avLst/>
          </a:prstGeom>
        </p:spPr>
      </p:pic>
      <p:sp>
        <p:nvSpPr>
          <p:cNvPr id="21" name="TextBox 20"/>
          <p:cNvSpPr txBox="1"/>
          <p:nvPr/>
        </p:nvSpPr>
        <p:spPr>
          <a:xfrm>
            <a:off x="5029200" y="5733288"/>
            <a:ext cx="2788920" cy="274320"/>
          </a:xfrm>
          <a:prstGeom prst="rect">
            <a:avLst/>
          </a:prstGeom>
          <a:noFill/>
        </p:spPr>
        <p:txBody>
          <a:bodyPr wrap="square" lIns="0" rIns="0" tIns="0" bIns="0" anchor="t">
            <a:spAutoFit/>
          </a:bodyPr>
          <a:lstStyle/>
          <a:p>
            <a:pPr algn="l">
              <a:lnSpc>
                <a:spcPct val="108000"/>
              </a:lnSpc>
              <a:spcAft>
                <a:spcPts val="400"/>
              </a:spcAft>
            </a:pPr>
            <a:r>
              <a:rPr sz="1350" b="1" i="0">
                <a:solidFill>
                  <a:srgbClr val="0F766E"/>
                </a:solidFill>
                <a:latin typeface="Calibri"/>
              </a:rPr>
              <a:t>Lớp 2 · FOR UPDATE</a:t>
            </a:r>
          </a:p>
        </p:txBody>
      </p:sp>
      <p:sp>
        <p:nvSpPr>
          <p:cNvPr id="22" name="TextBox 21"/>
          <p:cNvSpPr txBox="1"/>
          <p:nvPr/>
        </p:nvSpPr>
        <p:spPr>
          <a:xfrm>
            <a:off x="5029200" y="5989320"/>
            <a:ext cx="2788920" cy="274320"/>
          </a:xfrm>
          <a:prstGeom prst="rect">
            <a:avLst/>
          </a:prstGeom>
          <a:noFill/>
        </p:spPr>
        <p:txBody>
          <a:bodyPr wrap="square" lIns="0" rIns="0" tIns="0" bIns="0" anchor="t">
            <a:spAutoFit/>
          </a:bodyPr>
          <a:lstStyle/>
          <a:p>
            <a:pPr algn="l">
              <a:lnSpc>
                <a:spcPct val="108000"/>
              </a:lnSpc>
              <a:spcAft>
                <a:spcPts val="400"/>
              </a:spcAft>
            </a:pPr>
            <a:r>
              <a:rPr sz="1150" b="0" i="0">
                <a:solidFill>
                  <a:srgbClr val="475569"/>
                </a:solidFill>
                <a:latin typeface="Calibri"/>
              </a:rPr>
              <a:t>Khoá dòng thợ: yêu cầu xếp hàng</a:t>
            </a:r>
          </a:p>
        </p:txBody>
      </p:sp>
      <p:sp>
        <p:nvSpPr>
          <p:cNvPr id="23" name="Rounded Rectangle 22"/>
          <p:cNvSpPr/>
          <p:nvPr/>
        </p:nvSpPr>
        <p:spPr>
          <a:xfrm>
            <a:off x="8083296" y="5669280"/>
            <a:ext cx="3566160" cy="658368"/>
          </a:xfrm>
          <a:prstGeom prst="roundRect">
            <a:avLst>
              <a:gd name="adj" fmla="val 8000"/>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8211312" y="5769864"/>
            <a:ext cx="457200" cy="45720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shield_w.png"/>
          <p:cNvPicPr>
            <a:picLocks noChangeAspect="1"/>
          </p:cNvPicPr>
          <p:nvPr/>
        </p:nvPicPr>
        <p:blipFill>
          <a:blip r:embed="rId5"/>
          <a:stretch>
            <a:fillRect/>
          </a:stretch>
        </p:blipFill>
        <p:spPr>
          <a:xfrm>
            <a:off x="8321040" y="5879592"/>
            <a:ext cx="237744" cy="237744"/>
          </a:xfrm>
          <a:prstGeom prst="rect">
            <a:avLst/>
          </a:prstGeom>
        </p:spPr>
      </p:pic>
      <p:sp>
        <p:nvSpPr>
          <p:cNvPr id="26" name="TextBox 25"/>
          <p:cNvSpPr txBox="1"/>
          <p:nvPr/>
        </p:nvSpPr>
        <p:spPr>
          <a:xfrm>
            <a:off x="8796528" y="5733288"/>
            <a:ext cx="2788920" cy="274320"/>
          </a:xfrm>
          <a:prstGeom prst="rect">
            <a:avLst/>
          </a:prstGeom>
          <a:noFill/>
        </p:spPr>
        <p:txBody>
          <a:bodyPr wrap="square" lIns="0" rIns="0" tIns="0" bIns="0" anchor="t">
            <a:spAutoFit/>
          </a:bodyPr>
          <a:lstStyle/>
          <a:p>
            <a:pPr algn="l">
              <a:lnSpc>
                <a:spcPct val="108000"/>
              </a:lnSpc>
              <a:spcAft>
                <a:spcPts val="400"/>
              </a:spcAft>
            </a:pPr>
            <a:r>
              <a:rPr sz="1350" b="1" i="0">
                <a:solidFill>
                  <a:srgbClr val="0F766E"/>
                </a:solidFill>
                <a:latin typeface="Calibri"/>
              </a:rPr>
              <a:t>Lớp 3 · EXCLUDE gist</a:t>
            </a:r>
          </a:p>
        </p:txBody>
      </p:sp>
      <p:sp>
        <p:nvSpPr>
          <p:cNvPr id="27" name="TextBox 26"/>
          <p:cNvSpPr txBox="1"/>
          <p:nvPr/>
        </p:nvSpPr>
        <p:spPr>
          <a:xfrm>
            <a:off x="8796528" y="5989320"/>
            <a:ext cx="2788920" cy="274320"/>
          </a:xfrm>
          <a:prstGeom prst="rect">
            <a:avLst/>
          </a:prstGeom>
          <a:noFill/>
        </p:spPr>
        <p:txBody>
          <a:bodyPr wrap="square" lIns="0" rIns="0" tIns="0" bIns="0" anchor="t">
            <a:spAutoFit/>
          </a:bodyPr>
          <a:lstStyle/>
          <a:p>
            <a:pPr algn="l">
              <a:lnSpc>
                <a:spcPct val="108000"/>
              </a:lnSpc>
              <a:spcAft>
                <a:spcPts val="400"/>
              </a:spcAft>
            </a:pPr>
            <a:r>
              <a:rPr sz="1150" b="0" i="0">
                <a:solidFill>
                  <a:srgbClr val="475569"/>
                </a:solidFill>
                <a:latin typeface="Calibri"/>
              </a:rPr>
              <a:t>CSDL chặn cả khi ghi thẳng bảng</a:t>
            </a:r>
          </a:p>
        </p:txBody>
      </p:sp>
      <p:sp>
        <p:nvSpPr>
          <p:cNvPr id="28" name="TextBox 27"/>
          <p:cNvSpPr txBox="1"/>
          <p:nvPr/>
        </p:nvSpPr>
        <p:spPr>
          <a:xfrm>
            <a:off x="548640" y="6446520"/>
            <a:ext cx="7315200" cy="228600"/>
          </a:xfrm>
          <a:prstGeom prst="rect">
            <a:avLst/>
          </a:prstGeom>
          <a:noFill/>
        </p:spPr>
        <p:txBody>
          <a:bodyPr wrap="square" lIns="0" rIns="0" tIns="0" bIns="0" anchor="t">
            <a:spAutoFit/>
          </a:bodyPr>
          <a:lstStyle/>
          <a:p>
            <a:pPr algn="l">
              <a:lnSpc>
                <a:spcPct val="108000"/>
              </a:lnSpc>
              <a:spcAft>
                <a:spcPts val="400"/>
              </a:spcAft>
            </a:pPr>
            <a:r>
              <a:rPr sz="1000" b="0" i="0">
                <a:solidFill>
                  <a:srgbClr val="94A3B8"/>
                </a:solidFill>
                <a:latin typeface="Calibri"/>
              </a:rPr>
              <a:t>Nhóm 3 · TTCS_T926_K2S3_N3 · Hệ thống Đặt lịch và Quản lý Vận hành Salon - Spa</a:t>
            </a:r>
          </a:p>
        </p:txBody>
      </p:sp>
      <p:sp>
        <p:nvSpPr>
          <p:cNvPr id="29" name="TextBox 28"/>
          <p:cNvSpPr txBox="1"/>
          <p:nvPr/>
        </p:nvSpPr>
        <p:spPr>
          <a:xfrm>
            <a:off x="10271455" y="6446520"/>
            <a:ext cx="1371600" cy="228600"/>
          </a:xfrm>
          <a:prstGeom prst="rect">
            <a:avLst/>
          </a:prstGeom>
          <a:noFill/>
        </p:spPr>
        <p:txBody>
          <a:bodyPr wrap="square" lIns="0" rIns="0" tIns="0" bIns="0" anchor="t">
            <a:spAutoFit/>
          </a:bodyPr>
          <a:lstStyle/>
          <a:p>
            <a:pPr algn="r">
              <a:lnSpc>
                <a:spcPct val="108000"/>
              </a:lnSpc>
              <a:spcAft>
                <a:spcPts val="400"/>
              </a:spcAft>
            </a:pPr>
            <a:r>
              <a:rPr sz="1000" b="0" i="0">
                <a:solidFill>
                  <a:srgbClr val="94A3B8"/>
                </a:solidFill>
                <a:latin typeface="Calibri"/>
              </a:rPr>
              <a:t>6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0D9488"/>
                </a:solidFill>
                <a:latin typeface="Calibri"/>
              </a:rPr>
              <a:t>07  ·  NGHIỆP VỤ LỄ TÂN</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lnSpc>
                <a:spcPct val="108000"/>
              </a:lnSpc>
              <a:spcAft>
                <a:spcPts val="400"/>
              </a:spcAft>
            </a:pPr>
            <a:r>
              <a:rPr sz="3200" b="1" i="0">
                <a:solidFill>
                  <a:srgbClr val="0F172A"/>
                </a:solidFill>
                <a:latin typeface="Calibri"/>
              </a:rPr>
              <a:t>Lịch ngày trực quan, check-in 1 chạm, chuyển thợ hàng loạt</a:t>
            </a:r>
          </a:p>
        </p:txBody>
      </p:sp>
      <p:pic>
        <p:nvPicPr>
          <p:cNvPr id="4" name="Picture 3" descr="05_timeline.jpg"/>
          <p:cNvPicPr>
            <a:picLocks noChangeAspect="1"/>
          </p:cNvPicPr>
          <p:nvPr/>
        </p:nvPicPr>
        <p:blipFill>
          <a:blip r:embed="rId2"/>
          <a:srcRect/>
          <a:stretch>
            <a:fillRect/>
          </a:stretch>
        </p:blipFill>
        <p:spPr>
          <a:xfrm>
            <a:off x="548640" y="1554480"/>
            <a:ext cx="6949440" cy="4343400"/>
          </a:xfrm>
          <a:prstGeom prst="roundRect">
            <a:avLst>
              <a:gd name="adj" fmla="val 3500"/>
            </a:avLst>
          </a:prstGeom>
          <a:ln w="12700">
            <a:solidFill>
              <a:srgbClr val="E2E8F0"/>
            </a:solidFill>
          </a:ln>
          <a:effectLst>
            <a:outerShdw blurRad="203200" dist="50800" dir="5400000" algn="t" rotWithShape="0">
              <a:srgbClr val="0F172A">
                <a:alpha val="16000"/>
              </a:srgbClr>
            </a:outerShdw>
          </a:effectLst>
        </p:spPr>
      </p:pic>
      <p:sp>
        <p:nvSpPr>
          <p:cNvPr id="5" name="Oval 4"/>
          <p:cNvSpPr/>
          <p:nvPr/>
        </p:nvSpPr>
        <p:spPr>
          <a:xfrm>
            <a:off x="7818120" y="1554480"/>
            <a:ext cx="493776" cy="493776"/>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imeline_w.png"/>
          <p:cNvPicPr>
            <a:picLocks noChangeAspect="1"/>
          </p:cNvPicPr>
          <p:nvPr/>
        </p:nvPicPr>
        <p:blipFill>
          <a:blip r:embed="rId3"/>
          <a:stretch>
            <a:fillRect/>
          </a:stretch>
        </p:blipFill>
        <p:spPr>
          <a:xfrm>
            <a:off x="7936626" y="1672986"/>
            <a:ext cx="256764" cy="256764"/>
          </a:xfrm>
          <a:prstGeom prst="rect">
            <a:avLst/>
          </a:prstGeom>
        </p:spPr>
      </p:pic>
      <p:sp>
        <p:nvSpPr>
          <p:cNvPr id="7" name="TextBox 6"/>
          <p:cNvSpPr txBox="1"/>
          <p:nvPr/>
        </p:nvSpPr>
        <p:spPr>
          <a:xfrm>
            <a:off x="8476488" y="1536192"/>
            <a:ext cx="3154680" cy="274320"/>
          </a:xfrm>
          <a:prstGeom prst="rect">
            <a:avLst/>
          </a:prstGeom>
          <a:noFill/>
        </p:spPr>
        <p:txBody>
          <a:bodyPr wrap="square" lIns="0" rIns="0" tIns="0" bIns="0" anchor="t">
            <a:spAutoFit/>
          </a:bodyPr>
          <a:lstStyle/>
          <a:p>
            <a:pPr algn="l">
              <a:lnSpc>
                <a:spcPct val="108000"/>
              </a:lnSpc>
              <a:spcAft>
                <a:spcPts val="400"/>
              </a:spcAft>
            </a:pPr>
            <a:r>
              <a:rPr sz="1550" b="1" i="0">
                <a:solidFill>
                  <a:srgbClr val="0F172A"/>
                </a:solidFill>
                <a:latin typeface="Calibri"/>
              </a:rPr>
              <a:t>Timeline 15 phút</a:t>
            </a:r>
          </a:p>
        </p:txBody>
      </p:sp>
      <p:sp>
        <p:nvSpPr>
          <p:cNvPr id="8" name="TextBox 7"/>
          <p:cNvSpPr txBox="1"/>
          <p:nvPr/>
        </p:nvSpPr>
        <p:spPr>
          <a:xfrm>
            <a:off x="8476488" y="1847088"/>
            <a:ext cx="3154680" cy="777240"/>
          </a:xfrm>
          <a:prstGeom prst="rect">
            <a:avLst/>
          </a:prstGeom>
          <a:noFill/>
        </p:spPr>
        <p:txBody>
          <a:bodyPr wrap="square" lIns="0" rIns="0" tIns="0" bIns="0" anchor="t">
            <a:spAutoFit/>
          </a:bodyPr>
          <a:lstStyle/>
          <a:p>
            <a:pPr algn="l">
              <a:lnSpc>
                <a:spcPct val="108000"/>
              </a:lnSpc>
              <a:spcAft>
                <a:spcPts val="400"/>
              </a:spcAft>
            </a:pPr>
            <a:r>
              <a:rPr sz="1250" b="0" i="0">
                <a:solidFill>
                  <a:srgbClr val="475569"/>
                </a:solidFill>
                <a:latin typeface="Calibri"/>
              </a:rPr>
              <a:t>Mỗi thợ một cột, vạch đỏ giờ hiện tại, vùng ngoài ca tô sọc; bấm lịch để thao tác.</a:t>
            </a:r>
          </a:p>
        </p:txBody>
      </p:sp>
      <p:sp>
        <p:nvSpPr>
          <p:cNvPr id="9" name="Oval 8"/>
          <p:cNvSpPr/>
          <p:nvPr/>
        </p:nvSpPr>
        <p:spPr>
          <a:xfrm>
            <a:off x="7818120" y="2651760"/>
            <a:ext cx="493776" cy="493776"/>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w.png"/>
          <p:cNvPicPr>
            <a:picLocks noChangeAspect="1"/>
          </p:cNvPicPr>
          <p:nvPr/>
        </p:nvPicPr>
        <p:blipFill>
          <a:blip r:embed="rId4"/>
          <a:stretch>
            <a:fillRect/>
          </a:stretch>
        </p:blipFill>
        <p:spPr>
          <a:xfrm>
            <a:off x="7936626" y="2770266"/>
            <a:ext cx="256764" cy="256764"/>
          </a:xfrm>
          <a:prstGeom prst="rect">
            <a:avLst/>
          </a:prstGeom>
        </p:spPr>
      </p:pic>
      <p:sp>
        <p:nvSpPr>
          <p:cNvPr id="11" name="TextBox 10"/>
          <p:cNvSpPr txBox="1"/>
          <p:nvPr/>
        </p:nvSpPr>
        <p:spPr>
          <a:xfrm>
            <a:off x="8476488" y="2633472"/>
            <a:ext cx="3154680" cy="274320"/>
          </a:xfrm>
          <a:prstGeom prst="rect">
            <a:avLst/>
          </a:prstGeom>
          <a:noFill/>
        </p:spPr>
        <p:txBody>
          <a:bodyPr wrap="square" lIns="0" rIns="0" tIns="0" bIns="0" anchor="t">
            <a:spAutoFit/>
          </a:bodyPr>
          <a:lstStyle/>
          <a:p>
            <a:pPr algn="l">
              <a:lnSpc>
                <a:spcPct val="108000"/>
              </a:lnSpc>
              <a:spcAft>
                <a:spcPts val="400"/>
              </a:spcAft>
            </a:pPr>
            <a:r>
              <a:rPr sz="1550" b="1" i="0">
                <a:solidFill>
                  <a:srgbClr val="0F172A"/>
                </a:solidFill>
                <a:latin typeface="Calibri"/>
              </a:rPr>
              <a:t>Check-in 1 chạm</a:t>
            </a:r>
          </a:p>
        </p:txBody>
      </p:sp>
      <p:sp>
        <p:nvSpPr>
          <p:cNvPr id="12" name="TextBox 11"/>
          <p:cNvSpPr txBox="1"/>
          <p:nvPr/>
        </p:nvSpPr>
        <p:spPr>
          <a:xfrm>
            <a:off x="8476488" y="2944368"/>
            <a:ext cx="3154680" cy="777240"/>
          </a:xfrm>
          <a:prstGeom prst="rect">
            <a:avLst/>
          </a:prstGeom>
          <a:noFill/>
        </p:spPr>
        <p:txBody>
          <a:bodyPr wrap="square" lIns="0" rIns="0" tIns="0" bIns="0" anchor="t">
            <a:spAutoFit/>
          </a:bodyPr>
          <a:lstStyle/>
          <a:p>
            <a:pPr algn="l">
              <a:lnSpc>
                <a:spcPct val="108000"/>
              </a:lnSpc>
              <a:spcAft>
                <a:spcPts val="400"/>
              </a:spcAft>
            </a:pPr>
            <a:r>
              <a:rPr sz="1250" b="0" i="0">
                <a:solidFill>
                  <a:srgbClr val="475569"/>
                </a:solidFill>
                <a:latin typeface="Calibri"/>
              </a:rPr>
              <a:t>Cửa sổ ±60 phút, tự đánh dấu đến muộn &gt; 15 phút, báo ngay cho thợ.</a:t>
            </a:r>
          </a:p>
        </p:txBody>
      </p:sp>
      <p:sp>
        <p:nvSpPr>
          <p:cNvPr id="13" name="Oval 12"/>
          <p:cNvSpPr/>
          <p:nvPr/>
        </p:nvSpPr>
        <p:spPr>
          <a:xfrm>
            <a:off x="7818120" y="3749040"/>
            <a:ext cx="493776" cy="493776"/>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users_w.png"/>
          <p:cNvPicPr>
            <a:picLocks noChangeAspect="1"/>
          </p:cNvPicPr>
          <p:nvPr/>
        </p:nvPicPr>
        <p:blipFill>
          <a:blip r:embed="rId5"/>
          <a:stretch>
            <a:fillRect/>
          </a:stretch>
        </p:blipFill>
        <p:spPr>
          <a:xfrm>
            <a:off x="7936626" y="3867546"/>
            <a:ext cx="256764" cy="256764"/>
          </a:xfrm>
          <a:prstGeom prst="rect">
            <a:avLst/>
          </a:prstGeom>
        </p:spPr>
      </p:pic>
      <p:sp>
        <p:nvSpPr>
          <p:cNvPr id="15" name="TextBox 14"/>
          <p:cNvSpPr txBox="1"/>
          <p:nvPr/>
        </p:nvSpPr>
        <p:spPr>
          <a:xfrm>
            <a:off x="8476488" y="3730752"/>
            <a:ext cx="3154680" cy="274320"/>
          </a:xfrm>
          <a:prstGeom prst="rect">
            <a:avLst/>
          </a:prstGeom>
          <a:noFill/>
        </p:spPr>
        <p:txBody>
          <a:bodyPr wrap="square" lIns="0" rIns="0" tIns="0" bIns="0" anchor="t">
            <a:spAutoFit/>
          </a:bodyPr>
          <a:lstStyle/>
          <a:p>
            <a:pPr algn="l">
              <a:lnSpc>
                <a:spcPct val="108000"/>
              </a:lnSpc>
              <a:spcAft>
                <a:spcPts val="400"/>
              </a:spcAft>
            </a:pPr>
            <a:r>
              <a:rPr sz="1550" b="1" i="0">
                <a:solidFill>
                  <a:srgbClr val="0F172A"/>
                </a:solidFill>
                <a:latin typeface="Calibri"/>
              </a:rPr>
              <a:t>Khách vãng lai</a:t>
            </a:r>
          </a:p>
        </p:txBody>
      </p:sp>
      <p:sp>
        <p:nvSpPr>
          <p:cNvPr id="16" name="TextBox 15"/>
          <p:cNvSpPr txBox="1"/>
          <p:nvPr/>
        </p:nvSpPr>
        <p:spPr>
          <a:xfrm>
            <a:off x="8476488" y="4041648"/>
            <a:ext cx="3154680" cy="777240"/>
          </a:xfrm>
          <a:prstGeom prst="rect">
            <a:avLst/>
          </a:prstGeom>
          <a:noFill/>
        </p:spPr>
        <p:txBody>
          <a:bodyPr wrap="square" lIns="0" rIns="0" tIns="0" bIns="0" anchor="t">
            <a:spAutoFit/>
          </a:bodyPr>
          <a:lstStyle/>
          <a:p>
            <a:pPr algn="l">
              <a:lnSpc>
                <a:spcPct val="108000"/>
              </a:lnSpc>
              <a:spcAft>
                <a:spcPts val="400"/>
              </a:spcAft>
            </a:pPr>
            <a:r>
              <a:rPr sz="1250" b="0" i="0">
                <a:solidFill>
                  <a:srgbClr val="475569"/>
                </a:solidFill>
                <a:latin typeface="Calibri"/>
              </a:rPr>
              <a:t>Gõ SĐT tự điền hồ sơ; lịch tại quầy vào thẳng Đã xác nhận.</a:t>
            </a:r>
          </a:p>
        </p:txBody>
      </p:sp>
      <p:sp>
        <p:nvSpPr>
          <p:cNvPr id="17" name="Oval 16"/>
          <p:cNvSpPr/>
          <p:nvPr/>
        </p:nvSpPr>
        <p:spPr>
          <a:xfrm>
            <a:off x="7818120" y="4846320"/>
            <a:ext cx="493776" cy="493776"/>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wap_w.png"/>
          <p:cNvPicPr>
            <a:picLocks noChangeAspect="1"/>
          </p:cNvPicPr>
          <p:nvPr/>
        </p:nvPicPr>
        <p:blipFill>
          <a:blip r:embed="rId6"/>
          <a:stretch>
            <a:fillRect/>
          </a:stretch>
        </p:blipFill>
        <p:spPr>
          <a:xfrm>
            <a:off x="7936626" y="4964826"/>
            <a:ext cx="256764" cy="256764"/>
          </a:xfrm>
          <a:prstGeom prst="rect">
            <a:avLst/>
          </a:prstGeom>
        </p:spPr>
      </p:pic>
      <p:sp>
        <p:nvSpPr>
          <p:cNvPr id="19" name="TextBox 18"/>
          <p:cNvSpPr txBox="1"/>
          <p:nvPr/>
        </p:nvSpPr>
        <p:spPr>
          <a:xfrm>
            <a:off x="8476488" y="4828032"/>
            <a:ext cx="3154680" cy="274320"/>
          </a:xfrm>
          <a:prstGeom prst="rect">
            <a:avLst/>
          </a:prstGeom>
          <a:noFill/>
        </p:spPr>
        <p:txBody>
          <a:bodyPr wrap="square" lIns="0" rIns="0" tIns="0" bIns="0" anchor="t">
            <a:spAutoFit/>
          </a:bodyPr>
          <a:lstStyle/>
          <a:p>
            <a:pPr algn="l">
              <a:lnSpc>
                <a:spcPct val="108000"/>
              </a:lnSpc>
              <a:spcAft>
                <a:spcPts val="400"/>
              </a:spcAft>
            </a:pPr>
            <a:r>
              <a:rPr sz="1550" b="1" i="0">
                <a:solidFill>
                  <a:srgbClr val="0F172A"/>
                </a:solidFill>
                <a:latin typeface="Calibri"/>
              </a:rPr>
              <a:t>Chuyển lịch hàng loạt</a:t>
            </a:r>
          </a:p>
        </p:txBody>
      </p:sp>
      <p:sp>
        <p:nvSpPr>
          <p:cNvPr id="20" name="TextBox 19"/>
          <p:cNvSpPr txBox="1"/>
          <p:nvPr/>
        </p:nvSpPr>
        <p:spPr>
          <a:xfrm>
            <a:off x="8476488" y="5138928"/>
            <a:ext cx="3154680" cy="777240"/>
          </a:xfrm>
          <a:prstGeom prst="rect">
            <a:avLst/>
          </a:prstGeom>
          <a:noFill/>
        </p:spPr>
        <p:txBody>
          <a:bodyPr wrap="square" lIns="0" rIns="0" tIns="0" bIns="0" anchor="t">
            <a:spAutoFit/>
          </a:bodyPr>
          <a:lstStyle/>
          <a:p>
            <a:pPr algn="l">
              <a:lnSpc>
                <a:spcPct val="108000"/>
              </a:lnSpc>
              <a:spcAft>
                <a:spcPts val="400"/>
              </a:spcAft>
            </a:pPr>
            <a:r>
              <a:rPr sz="1250" b="0" i="0">
                <a:solidFill>
                  <a:srgbClr val="475569"/>
                </a:solidFill>
                <a:latin typeface="Calibri"/>
              </a:rPr>
              <a:t>Thợ nghỉ đột xuất → gợi ý thợ thay thế đủ kỹ năng hoặc dời giờ; lỗi một lịch không hỏng cả lô.</a:t>
            </a:r>
          </a:p>
        </p:txBody>
      </p:sp>
      <p:sp>
        <p:nvSpPr>
          <p:cNvPr id="21" name="TextBox 20"/>
          <p:cNvSpPr txBox="1"/>
          <p:nvPr/>
        </p:nvSpPr>
        <p:spPr>
          <a:xfrm>
            <a:off x="548640" y="5989320"/>
            <a:ext cx="6949440" cy="274320"/>
          </a:xfrm>
          <a:prstGeom prst="rect">
            <a:avLst/>
          </a:prstGeom>
          <a:noFill/>
        </p:spPr>
        <p:txBody>
          <a:bodyPr wrap="square" lIns="0" rIns="0" tIns="0" bIns="0" anchor="t">
            <a:spAutoFit/>
          </a:bodyPr>
          <a:lstStyle/>
          <a:p>
            <a:pPr algn="l">
              <a:lnSpc>
                <a:spcPct val="108000"/>
              </a:lnSpc>
              <a:spcAft>
                <a:spcPts val="400"/>
              </a:spcAft>
            </a:pPr>
            <a:r>
              <a:rPr sz="1150" b="0" i="0">
                <a:solidFill>
                  <a:srgbClr val="94A3B8"/>
                </a:solidFill>
                <a:latin typeface="Calibri"/>
              </a:rPr>
              <a:t>Màn hình Lịch ngày – trang đích của Lễ tân sau khi đăng nhập</a:t>
            </a:r>
          </a:p>
        </p:txBody>
      </p:sp>
      <p:sp>
        <p:nvSpPr>
          <p:cNvPr id="22" name="TextBox 21"/>
          <p:cNvSpPr txBox="1"/>
          <p:nvPr/>
        </p:nvSpPr>
        <p:spPr>
          <a:xfrm>
            <a:off x="548640" y="6446520"/>
            <a:ext cx="7315200" cy="228600"/>
          </a:xfrm>
          <a:prstGeom prst="rect">
            <a:avLst/>
          </a:prstGeom>
          <a:noFill/>
        </p:spPr>
        <p:txBody>
          <a:bodyPr wrap="square" lIns="0" rIns="0" tIns="0" bIns="0" anchor="t">
            <a:spAutoFit/>
          </a:bodyPr>
          <a:lstStyle/>
          <a:p>
            <a:pPr algn="l">
              <a:lnSpc>
                <a:spcPct val="108000"/>
              </a:lnSpc>
              <a:spcAft>
                <a:spcPts val="400"/>
              </a:spcAft>
            </a:pPr>
            <a:r>
              <a:rPr sz="1000" b="0" i="0">
                <a:solidFill>
                  <a:srgbClr val="94A3B8"/>
                </a:solidFill>
                <a:latin typeface="Calibri"/>
              </a:rPr>
              <a:t>Nhóm 3 · TTCS_T926_K2S3_N3 · Hệ thống Đặt lịch và Quản lý Vận hành Salon - Spa</a:t>
            </a:r>
          </a:p>
        </p:txBody>
      </p:sp>
      <p:sp>
        <p:nvSpPr>
          <p:cNvPr id="23" name="TextBox 22"/>
          <p:cNvSpPr txBox="1"/>
          <p:nvPr/>
        </p:nvSpPr>
        <p:spPr>
          <a:xfrm>
            <a:off x="10271455" y="6446520"/>
            <a:ext cx="1371600" cy="228600"/>
          </a:xfrm>
          <a:prstGeom prst="rect">
            <a:avLst/>
          </a:prstGeom>
          <a:noFill/>
        </p:spPr>
        <p:txBody>
          <a:bodyPr wrap="square" lIns="0" rIns="0" tIns="0" bIns="0" anchor="t">
            <a:spAutoFit/>
          </a:bodyPr>
          <a:lstStyle/>
          <a:p>
            <a:pPr algn="r">
              <a:lnSpc>
                <a:spcPct val="108000"/>
              </a:lnSpc>
              <a:spcAft>
                <a:spcPts val="400"/>
              </a:spcAft>
            </a:pPr>
            <a:r>
              <a:rPr sz="1000" b="0" i="0">
                <a:solidFill>
                  <a:srgbClr val="94A3B8"/>
                </a:solidFill>
                <a:latin typeface="Calibri"/>
              </a:rPr>
              <a:t>7 /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0D9488"/>
                </a:solidFill>
                <a:latin typeface="Calibri"/>
              </a:rPr>
              <a:t>08  ·  NGHIỆP VỤ THỢ &amp; KHÁCH HÀNG</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lnSpc>
                <a:spcPct val="108000"/>
              </a:lnSpc>
              <a:spcAft>
                <a:spcPts val="400"/>
              </a:spcAft>
            </a:pPr>
            <a:r>
              <a:rPr sz="3200" b="1" i="0">
                <a:solidFill>
                  <a:srgbClr val="0F172A"/>
                </a:solidFill>
                <a:latin typeface="Calibri"/>
              </a:rPr>
              <a:t>Lịch riêng tư, bảo mật thông tin khách, CRM tích hợp</a:t>
            </a:r>
          </a:p>
        </p:txBody>
      </p:sp>
      <p:pic>
        <p:nvPicPr>
          <p:cNvPr id="4" name="Picture 3" descr="11_stylist.jpg"/>
          <p:cNvPicPr>
            <a:picLocks noChangeAspect="1"/>
          </p:cNvPicPr>
          <p:nvPr/>
        </p:nvPicPr>
        <p:blipFill>
          <a:blip r:embed="rId2"/>
          <a:srcRect l="417" r="417"/>
          <a:stretch>
            <a:fillRect/>
          </a:stretch>
        </p:blipFill>
        <p:spPr>
          <a:xfrm>
            <a:off x="548640" y="1554480"/>
            <a:ext cx="5440680" cy="3429000"/>
          </a:xfrm>
          <a:prstGeom prst="roundRect">
            <a:avLst>
              <a:gd name="adj" fmla="val 3500"/>
            </a:avLst>
          </a:prstGeom>
          <a:ln w="12700">
            <a:solidFill>
              <a:srgbClr val="E2E8F0"/>
            </a:solidFill>
          </a:ln>
          <a:effectLst>
            <a:outerShdw blurRad="203200" dist="50800" dir="5400000" algn="t" rotWithShape="0">
              <a:srgbClr val="0F172A">
                <a:alpha val="16000"/>
              </a:srgbClr>
            </a:outerShdw>
          </a:effectLst>
        </p:spPr>
      </p:pic>
      <p:pic>
        <p:nvPicPr>
          <p:cNvPr id="5" name="Picture 4" descr="10_customers.jpg"/>
          <p:cNvPicPr>
            <a:picLocks noChangeAspect="1"/>
          </p:cNvPicPr>
          <p:nvPr/>
        </p:nvPicPr>
        <p:blipFill>
          <a:blip r:embed="rId3"/>
          <a:srcRect l="417" r="417"/>
          <a:stretch>
            <a:fillRect/>
          </a:stretch>
        </p:blipFill>
        <p:spPr>
          <a:xfrm>
            <a:off x="6199632" y="1554480"/>
            <a:ext cx="5440680" cy="3429000"/>
          </a:xfrm>
          <a:prstGeom prst="roundRect">
            <a:avLst>
              <a:gd name="adj" fmla="val 3500"/>
            </a:avLst>
          </a:prstGeom>
          <a:ln w="12700">
            <a:solidFill>
              <a:srgbClr val="E2E8F0"/>
            </a:solidFill>
          </a:ln>
          <a:effectLst>
            <a:outerShdw blurRad="203200" dist="50800" dir="5400000" algn="t" rotWithShape="0">
              <a:srgbClr val="0F172A">
                <a:alpha val="16000"/>
              </a:srgbClr>
            </a:outerShdw>
          </a:effectLst>
        </p:spPr>
      </p:pic>
      <p:sp>
        <p:nvSpPr>
          <p:cNvPr id="6" name="Rounded Rectangle 5"/>
          <p:cNvSpPr/>
          <p:nvPr/>
        </p:nvSpPr>
        <p:spPr>
          <a:xfrm>
            <a:off x="548640" y="5138928"/>
            <a:ext cx="2651760" cy="118872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31520" y="5285232"/>
            <a:ext cx="420624" cy="420624"/>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cissors_w.png"/>
          <p:cNvPicPr>
            <a:picLocks noChangeAspect="1"/>
          </p:cNvPicPr>
          <p:nvPr/>
        </p:nvPicPr>
        <p:blipFill>
          <a:blip r:embed="rId4"/>
          <a:stretch>
            <a:fillRect/>
          </a:stretch>
        </p:blipFill>
        <p:spPr>
          <a:xfrm>
            <a:off x="832469" y="5386181"/>
            <a:ext cx="218726" cy="218726"/>
          </a:xfrm>
          <a:prstGeom prst="rect">
            <a:avLst/>
          </a:prstGeom>
        </p:spPr>
      </p:pic>
      <p:sp>
        <p:nvSpPr>
          <p:cNvPr id="9" name="TextBox 8"/>
          <p:cNvSpPr txBox="1"/>
          <p:nvPr/>
        </p:nvSpPr>
        <p:spPr>
          <a:xfrm>
            <a:off x="1261872" y="5303520"/>
            <a:ext cx="1828800" cy="320040"/>
          </a:xfrm>
          <a:prstGeom prst="rect">
            <a:avLst/>
          </a:prstGeom>
          <a:noFill/>
        </p:spPr>
        <p:txBody>
          <a:bodyPr wrap="square" lIns="0" rIns="0" tIns="0" bIns="0" anchor="t">
            <a:spAutoFit/>
          </a:bodyPr>
          <a:lstStyle/>
          <a:p>
            <a:pPr algn="l">
              <a:lnSpc>
                <a:spcPct val="108000"/>
              </a:lnSpc>
              <a:spcAft>
                <a:spcPts val="400"/>
              </a:spcAft>
            </a:pPr>
            <a:r>
              <a:rPr sz="1400" b="1" i="0">
                <a:solidFill>
                  <a:srgbClr val="0F172A"/>
                </a:solidFill>
                <a:latin typeface="Calibri"/>
              </a:rPr>
              <a:t>Lịch của tôi</a:t>
            </a:r>
          </a:p>
        </p:txBody>
      </p:sp>
      <p:sp>
        <p:nvSpPr>
          <p:cNvPr id="10" name="TextBox 9"/>
          <p:cNvSpPr txBox="1"/>
          <p:nvPr/>
        </p:nvSpPr>
        <p:spPr>
          <a:xfrm>
            <a:off x="731520" y="5760720"/>
            <a:ext cx="2286000" cy="548640"/>
          </a:xfrm>
          <a:prstGeom prst="rect">
            <a:avLst/>
          </a:prstGeom>
          <a:noFill/>
        </p:spPr>
        <p:txBody>
          <a:bodyPr wrap="square" lIns="0" rIns="0" tIns="0" bIns="0" anchor="t">
            <a:spAutoFit/>
          </a:bodyPr>
          <a:lstStyle/>
          <a:p>
            <a:pPr algn="l">
              <a:lnSpc>
                <a:spcPct val="108000"/>
              </a:lnSpc>
              <a:spcAft>
                <a:spcPts val="400"/>
              </a:spcAft>
            </a:pPr>
            <a:r>
              <a:rPr sz="1100" b="0" i="0">
                <a:solidFill>
                  <a:srgbClr val="475569"/>
                </a:solidFill>
                <a:latin typeface="Calibri"/>
              </a:rPr>
              <a:t>Thợ chỉ thấy lịch của mình; Bắt đầu / Hoàn tất; cảnh báo khi vượt 20 phút.</a:t>
            </a:r>
          </a:p>
        </p:txBody>
      </p:sp>
      <p:sp>
        <p:nvSpPr>
          <p:cNvPr id="11" name="Rounded Rectangle 10"/>
          <p:cNvSpPr/>
          <p:nvPr/>
        </p:nvSpPr>
        <p:spPr>
          <a:xfrm>
            <a:off x="3367735" y="5138928"/>
            <a:ext cx="2651760" cy="118872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3550615" y="5285232"/>
            <a:ext cx="420624" cy="420624"/>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eye_w.png"/>
          <p:cNvPicPr>
            <a:picLocks noChangeAspect="1"/>
          </p:cNvPicPr>
          <p:nvPr/>
        </p:nvPicPr>
        <p:blipFill>
          <a:blip r:embed="rId5"/>
          <a:stretch>
            <a:fillRect/>
          </a:stretch>
        </p:blipFill>
        <p:spPr>
          <a:xfrm>
            <a:off x="3651564" y="5386181"/>
            <a:ext cx="218726" cy="218726"/>
          </a:xfrm>
          <a:prstGeom prst="rect">
            <a:avLst/>
          </a:prstGeom>
        </p:spPr>
      </p:pic>
      <p:sp>
        <p:nvSpPr>
          <p:cNvPr id="14" name="TextBox 13"/>
          <p:cNvSpPr txBox="1"/>
          <p:nvPr/>
        </p:nvSpPr>
        <p:spPr>
          <a:xfrm>
            <a:off x="4080967" y="5303520"/>
            <a:ext cx="1828800" cy="320040"/>
          </a:xfrm>
          <a:prstGeom prst="rect">
            <a:avLst/>
          </a:prstGeom>
          <a:noFill/>
        </p:spPr>
        <p:txBody>
          <a:bodyPr wrap="square" lIns="0" rIns="0" tIns="0" bIns="0" anchor="t">
            <a:spAutoFit/>
          </a:bodyPr>
          <a:lstStyle/>
          <a:p>
            <a:pPr algn="l">
              <a:lnSpc>
                <a:spcPct val="108000"/>
              </a:lnSpc>
              <a:spcAft>
                <a:spcPts val="400"/>
              </a:spcAft>
            </a:pPr>
            <a:r>
              <a:rPr sz="1400" b="1" i="0">
                <a:solidFill>
                  <a:srgbClr val="0F172A"/>
                </a:solidFill>
                <a:latin typeface="Calibri"/>
              </a:rPr>
              <a:t>SĐT luôn được che</a:t>
            </a:r>
          </a:p>
        </p:txBody>
      </p:sp>
      <p:sp>
        <p:nvSpPr>
          <p:cNvPr id="15" name="TextBox 14"/>
          <p:cNvSpPr txBox="1"/>
          <p:nvPr/>
        </p:nvSpPr>
        <p:spPr>
          <a:xfrm>
            <a:off x="3550615" y="5760720"/>
            <a:ext cx="2286000" cy="548640"/>
          </a:xfrm>
          <a:prstGeom prst="rect">
            <a:avLst/>
          </a:prstGeom>
          <a:noFill/>
        </p:spPr>
        <p:txBody>
          <a:bodyPr wrap="square" lIns="0" rIns="0" tIns="0" bIns="0" anchor="t">
            <a:spAutoFit/>
          </a:bodyPr>
          <a:lstStyle/>
          <a:p>
            <a:pPr algn="l">
              <a:lnSpc>
                <a:spcPct val="108000"/>
              </a:lnSpc>
              <a:spcAft>
                <a:spcPts val="400"/>
              </a:spcAft>
            </a:pPr>
            <a:r>
              <a:rPr sz="1100" b="0" i="0">
                <a:solidFill>
                  <a:srgbClr val="475569"/>
                </a:solidFill>
                <a:latin typeface="Calibri"/>
              </a:rPr>
              <a:t>maskPhone ở backend: 098***1234 — số thật không bao giờ tới trình duyệt của thợ.</a:t>
            </a:r>
          </a:p>
        </p:txBody>
      </p:sp>
      <p:sp>
        <p:nvSpPr>
          <p:cNvPr id="16" name="Rounded Rectangle 15"/>
          <p:cNvSpPr/>
          <p:nvPr/>
        </p:nvSpPr>
        <p:spPr>
          <a:xfrm>
            <a:off x="6186830" y="5138928"/>
            <a:ext cx="2651760" cy="118872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369710" y="5285232"/>
            <a:ext cx="420624" cy="420624"/>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note_w.png"/>
          <p:cNvPicPr>
            <a:picLocks noChangeAspect="1"/>
          </p:cNvPicPr>
          <p:nvPr/>
        </p:nvPicPr>
        <p:blipFill>
          <a:blip r:embed="rId6"/>
          <a:stretch>
            <a:fillRect/>
          </a:stretch>
        </p:blipFill>
        <p:spPr>
          <a:xfrm>
            <a:off x="6470659" y="5386181"/>
            <a:ext cx="218726" cy="218726"/>
          </a:xfrm>
          <a:prstGeom prst="rect">
            <a:avLst/>
          </a:prstGeom>
        </p:spPr>
      </p:pic>
      <p:sp>
        <p:nvSpPr>
          <p:cNvPr id="19" name="TextBox 18"/>
          <p:cNvSpPr txBox="1"/>
          <p:nvPr/>
        </p:nvSpPr>
        <p:spPr>
          <a:xfrm>
            <a:off x="6900062" y="5303520"/>
            <a:ext cx="1828800" cy="320040"/>
          </a:xfrm>
          <a:prstGeom prst="rect">
            <a:avLst/>
          </a:prstGeom>
          <a:noFill/>
        </p:spPr>
        <p:txBody>
          <a:bodyPr wrap="square" lIns="0" rIns="0" tIns="0" bIns="0" anchor="t">
            <a:spAutoFit/>
          </a:bodyPr>
          <a:lstStyle/>
          <a:p>
            <a:pPr algn="l">
              <a:lnSpc>
                <a:spcPct val="108000"/>
              </a:lnSpc>
              <a:spcAft>
                <a:spcPts val="400"/>
              </a:spcAft>
            </a:pPr>
            <a:r>
              <a:rPr sz="1400" b="1" i="0">
                <a:solidFill>
                  <a:srgbClr val="0F172A"/>
                </a:solidFill>
                <a:latin typeface="Calibri"/>
              </a:rPr>
              <a:t>Ghi chú kỹ thuật</a:t>
            </a:r>
          </a:p>
        </p:txBody>
      </p:sp>
      <p:sp>
        <p:nvSpPr>
          <p:cNvPr id="20" name="TextBox 19"/>
          <p:cNvSpPr txBox="1"/>
          <p:nvPr/>
        </p:nvSpPr>
        <p:spPr>
          <a:xfrm>
            <a:off x="6369710" y="5760720"/>
            <a:ext cx="2286000" cy="548640"/>
          </a:xfrm>
          <a:prstGeom prst="rect">
            <a:avLst/>
          </a:prstGeom>
          <a:noFill/>
        </p:spPr>
        <p:txBody>
          <a:bodyPr wrap="square" lIns="0" rIns="0" tIns="0" bIns="0" anchor="t">
            <a:spAutoFit/>
          </a:bodyPr>
          <a:lstStyle/>
          <a:p>
            <a:pPr algn="l">
              <a:lnSpc>
                <a:spcPct val="108000"/>
              </a:lnSpc>
              <a:spcAft>
                <a:spcPts val="400"/>
              </a:spcAft>
            </a:pPr>
            <a:r>
              <a:rPr sz="1100" b="0" i="0">
                <a:solidFill>
                  <a:srgbClr val="475569"/>
                </a:solidFill>
                <a:latin typeface="Calibri"/>
              </a:rPr>
              <a:t>≤ 500 ký tự: sản phẩm, thời gian ủ… chỉ nhân sự nội bộ xem.</a:t>
            </a:r>
          </a:p>
        </p:txBody>
      </p:sp>
      <p:sp>
        <p:nvSpPr>
          <p:cNvPr id="21" name="Rounded Rectangle 20"/>
          <p:cNvSpPr/>
          <p:nvPr/>
        </p:nvSpPr>
        <p:spPr>
          <a:xfrm>
            <a:off x="9005925" y="5138928"/>
            <a:ext cx="2651760" cy="118872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9188805" y="5285232"/>
            <a:ext cx="420624" cy="420624"/>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users_w.png"/>
          <p:cNvPicPr>
            <a:picLocks noChangeAspect="1"/>
          </p:cNvPicPr>
          <p:nvPr/>
        </p:nvPicPr>
        <p:blipFill>
          <a:blip r:embed="rId7"/>
          <a:stretch>
            <a:fillRect/>
          </a:stretch>
        </p:blipFill>
        <p:spPr>
          <a:xfrm>
            <a:off x="9289754" y="5386181"/>
            <a:ext cx="218726" cy="218726"/>
          </a:xfrm>
          <a:prstGeom prst="rect">
            <a:avLst/>
          </a:prstGeom>
        </p:spPr>
      </p:pic>
      <p:sp>
        <p:nvSpPr>
          <p:cNvPr id="24" name="TextBox 23"/>
          <p:cNvSpPr txBox="1"/>
          <p:nvPr/>
        </p:nvSpPr>
        <p:spPr>
          <a:xfrm>
            <a:off x="9719157" y="5303520"/>
            <a:ext cx="1828800" cy="320040"/>
          </a:xfrm>
          <a:prstGeom prst="rect">
            <a:avLst/>
          </a:prstGeom>
          <a:noFill/>
        </p:spPr>
        <p:txBody>
          <a:bodyPr wrap="square" lIns="0" rIns="0" tIns="0" bIns="0" anchor="t">
            <a:spAutoFit/>
          </a:bodyPr>
          <a:lstStyle/>
          <a:p>
            <a:pPr algn="l">
              <a:lnSpc>
                <a:spcPct val="108000"/>
              </a:lnSpc>
              <a:spcAft>
                <a:spcPts val="400"/>
              </a:spcAft>
            </a:pPr>
            <a:r>
              <a:rPr sz="1400" b="1" i="0">
                <a:solidFill>
                  <a:srgbClr val="0F172A"/>
                </a:solidFill>
                <a:latin typeface="Calibri"/>
              </a:rPr>
              <a:t>CRM theo SĐT</a:t>
            </a:r>
          </a:p>
        </p:txBody>
      </p:sp>
      <p:sp>
        <p:nvSpPr>
          <p:cNvPr id="25" name="TextBox 24"/>
          <p:cNvSpPr txBox="1"/>
          <p:nvPr/>
        </p:nvSpPr>
        <p:spPr>
          <a:xfrm>
            <a:off x="9188805" y="5760720"/>
            <a:ext cx="2286000" cy="548640"/>
          </a:xfrm>
          <a:prstGeom prst="rect">
            <a:avLst/>
          </a:prstGeom>
          <a:noFill/>
        </p:spPr>
        <p:txBody>
          <a:bodyPr wrap="square" lIns="0" rIns="0" tIns="0" bIns="0" anchor="t">
            <a:spAutoFit/>
          </a:bodyPr>
          <a:lstStyle/>
          <a:p>
            <a:pPr algn="l">
              <a:lnSpc>
                <a:spcPct val="108000"/>
              </a:lnSpc>
              <a:spcAft>
                <a:spcPts val="400"/>
              </a:spcAft>
            </a:pPr>
            <a:r>
              <a:rPr sz="1100" b="0" i="0">
                <a:solidFill>
                  <a:srgbClr val="475569"/>
                </a:solidFill>
                <a:latin typeface="Calibri"/>
              </a:rPr>
              <a:t>Gộp hồ sơ, 10 lượt gần nhất, số lần không đến; SĐT mới luôn 0 lượt.</a:t>
            </a:r>
          </a:p>
        </p:txBody>
      </p:sp>
      <p:sp>
        <p:nvSpPr>
          <p:cNvPr id="26" name="TextBox 25"/>
          <p:cNvSpPr txBox="1"/>
          <p:nvPr/>
        </p:nvSpPr>
        <p:spPr>
          <a:xfrm>
            <a:off x="548640" y="6446520"/>
            <a:ext cx="7315200" cy="228600"/>
          </a:xfrm>
          <a:prstGeom prst="rect">
            <a:avLst/>
          </a:prstGeom>
          <a:noFill/>
        </p:spPr>
        <p:txBody>
          <a:bodyPr wrap="square" lIns="0" rIns="0" tIns="0" bIns="0" anchor="t">
            <a:spAutoFit/>
          </a:bodyPr>
          <a:lstStyle/>
          <a:p>
            <a:pPr algn="l">
              <a:lnSpc>
                <a:spcPct val="108000"/>
              </a:lnSpc>
              <a:spcAft>
                <a:spcPts val="400"/>
              </a:spcAft>
            </a:pPr>
            <a:r>
              <a:rPr sz="1000" b="0" i="0">
                <a:solidFill>
                  <a:srgbClr val="94A3B8"/>
                </a:solidFill>
                <a:latin typeface="Calibri"/>
              </a:rPr>
              <a:t>Nhóm 3 · TTCS_T926_K2S3_N3 · Hệ thống Đặt lịch và Quản lý Vận hành Salon - Spa</a:t>
            </a:r>
          </a:p>
        </p:txBody>
      </p:sp>
      <p:sp>
        <p:nvSpPr>
          <p:cNvPr id="27" name="TextBox 26"/>
          <p:cNvSpPr txBox="1"/>
          <p:nvPr/>
        </p:nvSpPr>
        <p:spPr>
          <a:xfrm>
            <a:off x="10271455" y="6446520"/>
            <a:ext cx="1371600" cy="228600"/>
          </a:xfrm>
          <a:prstGeom prst="rect">
            <a:avLst/>
          </a:prstGeom>
          <a:noFill/>
        </p:spPr>
        <p:txBody>
          <a:bodyPr wrap="square" lIns="0" rIns="0" tIns="0" bIns="0" anchor="t">
            <a:spAutoFit/>
          </a:bodyPr>
          <a:lstStyle/>
          <a:p>
            <a:pPr algn="r">
              <a:lnSpc>
                <a:spcPct val="108000"/>
              </a:lnSpc>
              <a:spcAft>
                <a:spcPts val="400"/>
              </a:spcAft>
            </a:pPr>
            <a:r>
              <a:rPr sz="1000" b="0" i="0">
                <a:solidFill>
                  <a:srgbClr val="94A3B8"/>
                </a:solidFill>
                <a:latin typeface="Calibri"/>
              </a:rPr>
              <a:t>8 /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0D9488"/>
                </a:solidFill>
                <a:latin typeface="Calibri"/>
              </a:rPr>
              <a:t>09  ·  NGHIỆP VỤ CHỦ TIỆM &amp; QUẢN TRỊ</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lnSpc>
                <a:spcPct val="108000"/>
              </a:lnSpc>
              <a:spcAft>
                <a:spcPts val="400"/>
              </a:spcAft>
            </a:pPr>
            <a:r>
              <a:rPr sz="3200" b="1" i="0">
                <a:solidFill>
                  <a:srgbClr val="0F172A"/>
                </a:solidFill>
                <a:latin typeface="Calibri"/>
              </a:rPr>
              <a:t>Hoá đơn – voucher, doanh thu realtime, 4 vai trò nhân sự + khách</a:t>
            </a:r>
          </a:p>
        </p:txBody>
      </p:sp>
      <p:pic>
        <p:nvPicPr>
          <p:cNvPr id="4" name="Picture 3" descr="13_revenue.jpg"/>
          <p:cNvPicPr>
            <a:picLocks noChangeAspect="1"/>
          </p:cNvPicPr>
          <p:nvPr/>
        </p:nvPicPr>
        <p:blipFill>
          <a:blip r:embed="rId2"/>
          <a:srcRect b="12000"/>
          <a:stretch>
            <a:fillRect/>
          </a:stretch>
        </p:blipFill>
        <p:spPr>
          <a:xfrm>
            <a:off x="548640" y="1554480"/>
            <a:ext cx="5486400" cy="3017520"/>
          </a:xfrm>
          <a:prstGeom prst="roundRect">
            <a:avLst>
              <a:gd name="adj" fmla="val 3500"/>
            </a:avLst>
          </a:prstGeom>
          <a:ln w="12700">
            <a:solidFill>
              <a:srgbClr val="E2E8F0"/>
            </a:solidFill>
          </a:ln>
          <a:effectLst>
            <a:outerShdw blurRad="203200" dist="50800" dir="5400000" algn="t" rotWithShape="0">
              <a:srgbClr val="0F172A">
                <a:alpha val="16000"/>
              </a:srgbClr>
            </a:outerShdw>
          </a:effectLst>
        </p:spPr>
      </p:pic>
      <p:sp>
        <p:nvSpPr>
          <p:cNvPr id="5" name="TextBox 4"/>
          <p:cNvSpPr txBox="1"/>
          <p:nvPr/>
        </p:nvSpPr>
        <p:spPr>
          <a:xfrm>
            <a:off x="548640" y="4754880"/>
            <a:ext cx="5486400" cy="1554480"/>
          </a:xfrm>
          <a:prstGeom prst="rect">
            <a:avLst/>
          </a:prstGeom>
          <a:noFill/>
        </p:spPr>
        <p:txBody>
          <a:bodyPr wrap="square" lIns="0" rIns="0" tIns="0" bIns="0">
            <a:spAutoFit/>
          </a:bodyPr>
          <a:lstStyle/>
          <a:p>
            <a:pPr marL="256032" indent="-256032">
              <a:lnSpc>
                <a:spcPct val="105000"/>
              </a:lnSpc>
              <a:spcAft>
                <a:spcPts val="600"/>
              </a:spcAft>
              <a:buClr>
                <a:srgbClr val="0D9488"/>
              </a:buClr>
              <a:buFont typeface="Arial"/>
              <a:buChar char="•"/>
            </a:pPr>
            <a:r>
              <a:rPr sz="1350" b="1">
                <a:solidFill>
                  <a:srgbClr val="0F172A"/>
                </a:solidFill>
                <a:latin typeface="Calibri"/>
              </a:rPr>
              <a:t>Phiếu tính tiền: </a:t>
            </a:r>
            <a:r>
              <a:rPr sz="1350" b="0">
                <a:solidFill>
                  <a:srgbClr val="0F172A"/>
                </a:solidFill>
                <a:latin typeface="Calibri"/>
              </a:rPr>
              <a:t>giá snapshot, dịch vụ phát sinh, 1 mã giảm giá / phiếu; phiếu đóng bị khoá.</a:t>
            </a:r>
          </a:p>
          <a:p>
            <a:pPr marL="256032" indent="-256032">
              <a:lnSpc>
                <a:spcPct val="105000"/>
              </a:lnSpc>
              <a:spcAft>
                <a:spcPts val="600"/>
              </a:spcAft>
              <a:buClr>
                <a:srgbClr val="0D9488"/>
              </a:buClr>
              <a:buFont typeface="Arial"/>
              <a:buChar char="•"/>
            </a:pPr>
            <a:r>
              <a:rPr sz="1350" b="1">
                <a:solidFill>
                  <a:srgbClr val="0F172A"/>
                </a:solidFill>
                <a:latin typeface="Calibri"/>
              </a:rPr>
              <a:t>Tổng quan hôm nay </a:t>
            </a:r>
            <a:r>
              <a:rPr sz="1350" b="0">
                <a:solidFill>
                  <a:srgbClr val="0F172A"/>
                </a:solidFill>
                <a:latin typeface="Calibri"/>
              </a:rPr>
              <a:t>tự làm mới 60 giây; doanh thu theo thợ / dịch vụ; CSV UTF-8 mở đúng trên Excel.</a:t>
            </a:r>
          </a:p>
          <a:p>
            <a:pPr marL="256032" indent="-256032">
              <a:lnSpc>
                <a:spcPct val="105000"/>
              </a:lnSpc>
              <a:spcAft>
                <a:spcPts val="600"/>
              </a:spcAft>
              <a:buClr>
                <a:srgbClr val="0D9488"/>
              </a:buClr>
              <a:buFont typeface="Arial"/>
              <a:buChar char="•"/>
            </a:pPr>
            <a:r>
              <a:rPr sz="1350" b="1">
                <a:solidFill>
                  <a:srgbClr val="0F172A"/>
                </a:solidFill>
                <a:latin typeface="Calibri"/>
              </a:rPr>
              <a:t>Nhật ký chỉ đọc: </a:t>
            </a:r>
            <a:r>
              <a:rPr sz="1350" b="0">
                <a:solidFill>
                  <a:srgbClr val="0F172A"/>
                </a:solidFill>
                <a:latin typeface="Calibri"/>
              </a:rPr>
              <a:t>trigger CSDL chặn mọi UPDATE / DELETE.</a:t>
            </a:r>
          </a:p>
        </p:txBody>
      </p:sp>
      <p:sp>
        <p:nvSpPr>
          <p:cNvPr id="6" name="Rounded Rectangle 5"/>
          <p:cNvSpPr/>
          <p:nvPr/>
        </p:nvSpPr>
        <p:spPr>
          <a:xfrm>
            <a:off x="6355080" y="1554480"/>
            <a:ext cx="5285232" cy="475488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583680" y="1719072"/>
            <a:ext cx="4846320" cy="320040"/>
          </a:xfrm>
          <a:prstGeom prst="rect">
            <a:avLst/>
          </a:prstGeom>
          <a:noFill/>
        </p:spPr>
        <p:txBody>
          <a:bodyPr wrap="square" lIns="0" rIns="0" tIns="0" bIns="0" anchor="t">
            <a:spAutoFit/>
          </a:bodyPr>
          <a:lstStyle/>
          <a:p>
            <a:pPr algn="l">
              <a:lnSpc>
                <a:spcPct val="108000"/>
              </a:lnSpc>
              <a:spcAft>
                <a:spcPts val="400"/>
              </a:spcAft>
            </a:pPr>
            <a:r>
              <a:rPr sz="1500" b="1" i="0">
                <a:solidFill>
                  <a:srgbClr val="0F172A"/>
                </a:solidFill>
                <a:latin typeface="Calibri"/>
              </a:rPr>
              <a:t>Ma trận phân quyền (RBAC)</a:t>
            </a:r>
          </a:p>
        </p:txBody>
      </p:sp>
      <p:graphicFrame>
        <p:nvGraphicFramePr>
          <p:cNvPr id="8" name="Table 7"/>
          <p:cNvGraphicFramePr>
            <a:graphicFrameLocks noGrp="1"/>
          </p:cNvGraphicFramePr>
          <p:nvPr/>
        </p:nvGraphicFramePr>
        <p:xfrm>
          <a:off x="6537960" y="2121408"/>
          <a:ext cx="4919471" cy="3749039"/>
        </p:xfrm>
        <a:graphic>
          <a:graphicData uri="http://schemas.openxmlformats.org/drawingml/2006/table">
            <a:tbl>
              <a:tblPr firstRow="1" bandRow="0">
                <a:tableStyleId>{5C22544A-7EE6-4342-B048-85BDC9FD1C3A}</a:tableStyleId>
              </a:tblPr>
              <a:tblGrid>
                <a:gridCol w="1856231"/>
                <a:gridCol w="612648"/>
                <a:gridCol w="612648"/>
                <a:gridCol w="612648"/>
                <a:gridCol w="612648"/>
                <a:gridCol w="612648"/>
              </a:tblGrid>
              <a:tr h="416559">
                <a:tc>
                  <a:txBody>
                    <a:bodyPr/>
                    <a:lstStyle/>
                    <a:p>
                      <a:pPr algn="l"/>
                      <a:r>
                        <a:rPr sz="1100" b="1">
                          <a:solidFill>
                            <a:srgbClr val="FFFFFF"/>
                          </a:solidFill>
                          <a:latin typeface="Calibri"/>
                        </a:rPr>
                        <a:t>Chức năng</a:t>
                      </a:r>
                    </a:p>
                  </a:txBody>
                  <a:tcPr marL="45720" marR="45720" marT="27432" marB="27432" anchor="ctr">
                    <a:solidFill>
                      <a:srgbClr val="0F172A"/>
                    </a:solidFill>
                  </a:tcPr>
                </a:tc>
                <a:tc>
                  <a:txBody>
                    <a:bodyPr/>
                    <a:lstStyle/>
                    <a:p>
                      <a:pPr algn="ctr"/>
                      <a:r>
                        <a:rPr sz="950" b="1">
                          <a:solidFill>
                            <a:srgbClr val="FFFFFF"/>
                          </a:solidFill>
                          <a:latin typeface="Calibri"/>
                        </a:rPr>
                        <a:t>Khách</a:t>
                      </a:r>
                    </a:p>
                  </a:txBody>
                  <a:tcPr marL="45720" marR="45720" marT="27432" marB="27432" anchor="ctr">
                    <a:solidFill>
                      <a:srgbClr val="0F172A"/>
                    </a:solidFill>
                  </a:tcPr>
                </a:tc>
                <a:tc>
                  <a:txBody>
                    <a:bodyPr/>
                    <a:lstStyle/>
                    <a:p>
                      <a:pPr algn="ctr"/>
                      <a:r>
                        <a:rPr sz="950" b="1">
                          <a:solidFill>
                            <a:srgbClr val="FFFFFF"/>
                          </a:solidFill>
                          <a:latin typeface="Calibri"/>
                        </a:rPr>
                        <a:t>Thợ</a:t>
                      </a:r>
                    </a:p>
                  </a:txBody>
                  <a:tcPr marL="45720" marR="45720" marT="27432" marB="27432" anchor="ctr">
                    <a:solidFill>
                      <a:srgbClr val="0F172A"/>
                    </a:solidFill>
                  </a:tcPr>
                </a:tc>
                <a:tc>
                  <a:txBody>
                    <a:bodyPr/>
                    <a:lstStyle/>
                    <a:p>
                      <a:pPr algn="ctr"/>
                      <a:r>
                        <a:rPr sz="950" b="1">
                          <a:solidFill>
                            <a:srgbClr val="FFFFFF"/>
                          </a:solidFill>
                          <a:latin typeface="Calibri"/>
                        </a:rPr>
                        <a:t>Lễ tân</a:t>
                      </a:r>
                    </a:p>
                  </a:txBody>
                  <a:tcPr marL="45720" marR="45720" marT="27432" marB="27432" anchor="ctr">
                    <a:solidFill>
                      <a:srgbClr val="0F172A"/>
                    </a:solidFill>
                  </a:tcPr>
                </a:tc>
                <a:tc>
                  <a:txBody>
                    <a:bodyPr/>
                    <a:lstStyle/>
                    <a:p>
                      <a:pPr algn="ctr"/>
                      <a:r>
                        <a:rPr sz="950" b="1">
                          <a:solidFill>
                            <a:srgbClr val="FFFFFF"/>
                          </a:solidFill>
                          <a:latin typeface="Calibri"/>
                        </a:rPr>
                        <a:t>Chủ tiệm</a:t>
                      </a:r>
                    </a:p>
                  </a:txBody>
                  <a:tcPr marL="45720" marR="45720" marT="27432" marB="27432" anchor="ctr">
                    <a:solidFill>
                      <a:srgbClr val="0F172A"/>
                    </a:solidFill>
                  </a:tcPr>
                </a:tc>
                <a:tc>
                  <a:txBody>
                    <a:bodyPr/>
                    <a:lstStyle/>
                    <a:p>
                      <a:pPr algn="ctr"/>
                      <a:r>
                        <a:rPr sz="950" b="1">
                          <a:solidFill>
                            <a:srgbClr val="FFFFFF"/>
                          </a:solidFill>
                          <a:latin typeface="Calibri"/>
                        </a:rPr>
                        <a:t>Quản trị</a:t>
                      </a:r>
                    </a:p>
                  </a:txBody>
                  <a:tcPr marL="45720" marR="45720" marT="27432" marB="27432" anchor="ctr">
                    <a:solidFill>
                      <a:srgbClr val="0F172A"/>
                    </a:solidFill>
                  </a:tcPr>
                </a:tc>
              </a:tr>
              <a:tr h="416559">
                <a:tc>
                  <a:txBody>
                    <a:bodyPr/>
                    <a:lstStyle/>
                    <a:p>
                      <a:pPr algn="l"/>
                      <a:r>
                        <a:rPr sz="1100" b="0">
                          <a:solidFill>
                            <a:srgbClr val="0F172A"/>
                          </a:solidFill>
                          <a:latin typeface="Calibri"/>
                        </a:rPr>
                        <a:t>Tài khoản &amp; phân quyền</a:t>
                      </a:r>
                    </a:p>
                  </a:txBody>
                  <a:tcPr marL="45720" marR="45720" marT="27432" marB="27432" anchor="ctr">
                    <a:solidFill>
                      <a:srgbClr val="FFFFFF"/>
                    </a:solidFill>
                  </a:tcPr>
                </a:tc>
                <a:tc>
                  <a:txBody>
                    <a:bodyPr/>
                    <a:lstStyle/>
                    <a:p>
                      <a:pPr algn="ctr"/>
                      <a:r>
                        <a:rPr sz="1150" b="0">
                          <a:solidFill>
                            <a:srgbClr val="94A3B8"/>
                          </a:solidFill>
                          <a:latin typeface="Calibri"/>
                        </a:rPr>
                        <a:t>–</a:t>
                      </a:r>
                    </a:p>
                  </a:txBody>
                  <a:tcPr marL="45720" marR="45720" marT="27432" marB="27432" anchor="ctr">
                    <a:solidFill>
                      <a:srgbClr val="FFFFFF"/>
                    </a:solidFill>
                  </a:tcPr>
                </a:tc>
                <a:tc>
                  <a:txBody>
                    <a:bodyPr/>
                    <a:lstStyle/>
                    <a:p>
                      <a:pPr algn="ctr"/>
                      <a:r>
                        <a:rPr sz="1150" b="0">
                          <a:solidFill>
                            <a:srgbClr val="94A3B8"/>
                          </a:solidFill>
                          <a:latin typeface="Calibri"/>
                        </a:rPr>
                        <a:t>–</a:t>
                      </a:r>
                    </a:p>
                  </a:txBody>
                  <a:tcPr marL="45720" marR="45720" marT="27432" marB="27432" anchor="ctr">
                    <a:solidFill>
                      <a:srgbClr val="FFFFFF"/>
                    </a:solidFill>
                  </a:tcPr>
                </a:tc>
                <a:tc>
                  <a:txBody>
                    <a:bodyPr/>
                    <a:lstStyle/>
                    <a:p>
                      <a:pPr algn="ctr"/>
                      <a:r>
                        <a:rPr sz="1150" b="0">
                          <a:solidFill>
                            <a:srgbClr val="94A3B8"/>
                          </a:solidFill>
                          <a:latin typeface="Calibri"/>
                        </a:rPr>
                        <a:t>–</a:t>
                      </a:r>
                    </a:p>
                  </a:txBody>
                  <a:tcPr marL="45720" marR="45720" marT="27432" marB="27432" anchor="ctr">
                    <a:solidFill>
                      <a:srgbClr val="FFFFFF"/>
                    </a:solidFill>
                  </a:tcPr>
                </a:tc>
                <a:tc>
                  <a:txBody>
                    <a:bodyPr/>
                    <a:lstStyle/>
                    <a:p>
                      <a:pPr algn="ctr"/>
                      <a:r>
                        <a:rPr sz="1150" b="0">
                          <a:solidFill>
                            <a:srgbClr val="475569"/>
                          </a:solidFill>
                          <a:latin typeface="Calibri"/>
                        </a:rPr>
                        <a:t>R</a:t>
                      </a:r>
                    </a:p>
                  </a:txBody>
                  <a:tcPr marL="45720" marR="45720" marT="27432" marB="27432" anchor="ctr">
                    <a:solidFill>
                      <a:srgbClr val="F1F5F9"/>
                    </a:solidFill>
                  </a:tcPr>
                </a:tc>
                <a:tc>
                  <a:txBody>
                    <a:bodyPr/>
                    <a:lstStyle/>
                    <a:p>
                      <a:pPr algn="ctr"/>
                      <a:r>
                        <a:rPr sz="1150" b="1">
                          <a:solidFill>
                            <a:srgbClr val="FFFFFF"/>
                          </a:solidFill>
                          <a:latin typeface="Calibri"/>
                        </a:rPr>
                        <a:t>F</a:t>
                      </a:r>
                    </a:p>
                  </a:txBody>
                  <a:tcPr marL="45720" marR="45720" marT="27432" marB="27432" anchor="ctr">
                    <a:solidFill>
                      <a:srgbClr val="0D9488"/>
                    </a:solidFill>
                  </a:tcPr>
                </a:tc>
              </a:tr>
              <a:tr h="416559">
                <a:tc>
                  <a:txBody>
                    <a:bodyPr/>
                    <a:lstStyle/>
                    <a:p>
                      <a:pPr algn="l"/>
                      <a:r>
                        <a:rPr sz="1100" b="0">
                          <a:solidFill>
                            <a:srgbClr val="0F172A"/>
                          </a:solidFill>
                          <a:latin typeface="Calibri"/>
                        </a:rPr>
                        <a:t>Dịch vụ &amp; bảng giá</a:t>
                      </a:r>
                    </a:p>
                  </a:txBody>
                  <a:tcPr marL="45720" marR="45720" marT="27432" marB="27432" anchor="ctr">
                    <a:solidFill>
                      <a:srgbClr val="FFFFFF"/>
                    </a:solidFill>
                  </a:tcPr>
                </a:tc>
                <a:tc>
                  <a:txBody>
                    <a:bodyPr/>
                    <a:lstStyle/>
                    <a:p>
                      <a:pPr algn="ctr"/>
                      <a:r>
                        <a:rPr sz="1150" b="0">
                          <a:solidFill>
                            <a:srgbClr val="475569"/>
                          </a:solidFill>
                          <a:latin typeface="Calibri"/>
                        </a:rPr>
                        <a:t>R</a:t>
                      </a:r>
                    </a:p>
                  </a:txBody>
                  <a:tcPr marL="45720" marR="45720" marT="27432" marB="27432" anchor="ctr">
                    <a:solidFill>
                      <a:srgbClr val="F1F5F9"/>
                    </a:solidFill>
                  </a:tcPr>
                </a:tc>
                <a:tc>
                  <a:txBody>
                    <a:bodyPr/>
                    <a:lstStyle/>
                    <a:p>
                      <a:pPr algn="ctr"/>
                      <a:r>
                        <a:rPr sz="1150" b="0">
                          <a:solidFill>
                            <a:srgbClr val="475569"/>
                          </a:solidFill>
                          <a:latin typeface="Calibri"/>
                        </a:rPr>
                        <a:t>R</a:t>
                      </a:r>
                    </a:p>
                  </a:txBody>
                  <a:tcPr marL="45720" marR="45720" marT="27432" marB="27432" anchor="ctr">
                    <a:solidFill>
                      <a:srgbClr val="F1F5F9"/>
                    </a:solidFill>
                  </a:tcPr>
                </a:tc>
                <a:tc>
                  <a:txBody>
                    <a:bodyPr/>
                    <a:lstStyle/>
                    <a:p>
                      <a:pPr algn="ctr"/>
                      <a:r>
                        <a:rPr sz="1150" b="0">
                          <a:solidFill>
                            <a:srgbClr val="475569"/>
                          </a:solidFill>
                          <a:latin typeface="Calibri"/>
                        </a:rPr>
                        <a:t>R</a:t>
                      </a:r>
                    </a:p>
                  </a:txBody>
                  <a:tcPr marL="45720" marR="45720" marT="27432" marB="27432" anchor="ctr">
                    <a:solidFill>
                      <a:srgbClr val="F1F5F9"/>
                    </a:solidFill>
                  </a:tcPr>
                </a:tc>
                <a:tc>
                  <a:txBody>
                    <a:bodyPr/>
                    <a:lstStyle/>
                    <a:p>
                      <a:pPr algn="ctr"/>
                      <a:r>
                        <a:rPr sz="1150" b="1">
                          <a:solidFill>
                            <a:srgbClr val="FFFFFF"/>
                          </a:solidFill>
                          <a:latin typeface="Calibri"/>
                        </a:rPr>
                        <a:t>F</a:t>
                      </a:r>
                    </a:p>
                  </a:txBody>
                  <a:tcPr marL="45720" marR="45720" marT="27432" marB="27432" anchor="ctr">
                    <a:solidFill>
                      <a:srgbClr val="0D9488"/>
                    </a:solidFill>
                  </a:tcPr>
                </a:tc>
                <a:tc>
                  <a:txBody>
                    <a:bodyPr/>
                    <a:lstStyle/>
                    <a:p>
                      <a:pPr algn="ctr"/>
                      <a:r>
                        <a:rPr sz="1150" b="0">
                          <a:solidFill>
                            <a:srgbClr val="475569"/>
                          </a:solidFill>
                          <a:latin typeface="Calibri"/>
                        </a:rPr>
                        <a:t>R</a:t>
                      </a:r>
                    </a:p>
                  </a:txBody>
                  <a:tcPr marL="45720" marR="45720" marT="27432" marB="27432" anchor="ctr">
                    <a:solidFill>
                      <a:srgbClr val="F1F5F9"/>
                    </a:solidFill>
                  </a:tcPr>
                </a:tc>
              </a:tr>
              <a:tr h="416559">
                <a:tc>
                  <a:txBody>
                    <a:bodyPr/>
                    <a:lstStyle/>
                    <a:p>
                      <a:pPr algn="l"/>
                      <a:r>
                        <a:rPr sz="1100" b="0">
                          <a:solidFill>
                            <a:srgbClr val="0F172A"/>
                          </a:solidFill>
                          <a:latin typeface="Calibri"/>
                        </a:rPr>
                        <a:t>Thợ &amp; ca làm việc</a:t>
                      </a:r>
                    </a:p>
                  </a:txBody>
                  <a:tcPr marL="45720" marR="45720" marT="27432" marB="27432" anchor="ctr">
                    <a:solidFill>
                      <a:srgbClr val="FFFFFF"/>
                    </a:solidFill>
                  </a:tcPr>
                </a:tc>
                <a:tc>
                  <a:txBody>
                    <a:bodyPr/>
                    <a:lstStyle/>
                    <a:p>
                      <a:pPr algn="ctr"/>
                      <a:r>
                        <a:rPr sz="1150" b="0">
                          <a:solidFill>
                            <a:srgbClr val="475569"/>
                          </a:solidFill>
                          <a:latin typeface="Calibri"/>
                        </a:rPr>
                        <a:t>R</a:t>
                      </a:r>
                    </a:p>
                  </a:txBody>
                  <a:tcPr marL="45720" marR="45720" marT="27432" marB="27432" anchor="ctr">
                    <a:solidFill>
                      <a:srgbClr val="F1F5F9"/>
                    </a:solidFill>
                  </a:tcPr>
                </a:tc>
                <a:tc>
                  <a:txBody>
                    <a:bodyPr/>
                    <a:lstStyle/>
                    <a:p>
                      <a:pPr algn="ctr"/>
                      <a:r>
                        <a:rPr sz="1150" b="0">
                          <a:solidFill>
                            <a:srgbClr val="475569"/>
                          </a:solidFill>
                          <a:latin typeface="Calibri"/>
                        </a:rPr>
                        <a:t>R</a:t>
                      </a:r>
                    </a:p>
                  </a:txBody>
                  <a:tcPr marL="45720" marR="45720" marT="27432" marB="27432" anchor="ctr">
                    <a:solidFill>
                      <a:srgbClr val="F1F5F9"/>
                    </a:solidFill>
                  </a:tcPr>
                </a:tc>
                <a:tc>
                  <a:txBody>
                    <a:bodyPr/>
                    <a:lstStyle/>
                    <a:p>
                      <a:pPr algn="ctr"/>
                      <a:r>
                        <a:rPr sz="1150" b="0">
                          <a:solidFill>
                            <a:srgbClr val="0F766E"/>
                          </a:solidFill>
                          <a:latin typeface="Calibri"/>
                        </a:rPr>
                        <a:t>W</a:t>
                      </a:r>
                    </a:p>
                  </a:txBody>
                  <a:tcPr marL="45720" marR="45720" marT="27432" marB="27432" anchor="ctr">
                    <a:solidFill>
                      <a:srgbClr val="CCFBF1"/>
                    </a:solidFill>
                  </a:tcPr>
                </a:tc>
                <a:tc>
                  <a:txBody>
                    <a:bodyPr/>
                    <a:lstStyle/>
                    <a:p>
                      <a:pPr algn="ctr"/>
                      <a:r>
                        <a:rPr sz="1150" b="1">
                          <a:solidFill>
                            <a:srgbClr val="FFFFFF"/>
                          </a:solidFill>
                          <a:latin typeface="Calibri"/>
                        </a:rPr>
                        <a:t>F</a:t>
                      </a:r>
                    </a:p>
                  </a:txBody>
                  <a:tcPr marL="45720" marR="45720" marT="27432" marB="27432" anchor="ctr">
                    <a:solidFill>
                      <a:srgbClr val="0D9488"/>
                    </a:solidFill>
                  </a:tcPr>
                </a:tc>
                <a:tc>
                  <a:txBody>
                    <a:bodyPr/>
                    <a:lstStyle/>
                    <a:p>
                      <a:pPr algn="ctr"/>
                      <a:r>
                        <a:rPr sz="1150" b="0">
                          <a:solidFill>
                            <a:srgbClr val="475569"/>
                          </a:solidFill>
                          <a:latin typeface="Calibri"/>
                        </a:rPr>
                        <a:t>R</a:t>
                      </a:r>
                    </a:p>
                  </a:txBody>
                  <a:tcPr marL="45720" marR="45720" marT="27432" marB="27432" anchor="ctr">
                    <a:solidFill>
                      <a:srgbClr val="F1F5F9"/>
                    </a:solidFill>
                  </a:tcPr>
                </a:tc>
              </a:tr>
              <a:tr h="416559">
                <a:tc>
                  <a:txBody>
                    <a:bodyPr/>
                    <a:lstStyle/>
                    <a:p>
                      <a:pPr algn="l"/>
                      <a:r>
                        <a:rPr sz="1100" b="0">
                          <a:solidFill>
                            <a:srgbClr val="0F172A"/>
                          </a:solidFill>
                          <a:latin typeface="Calibri"/>
                        </a:rPr>
                        <a:t>Đặt lịch công khai</a:t>
                      </a:r>
                    </a:p>
                  </a:txBody>
                  <a:tcPr marL="45720" marR="45720" marT="27432" marB="27432" anchor="ctr">
                    <a:solidFill>
                      <a:srgbClr val="FFFFFF"/>
                    </a:solidFill>
                  </a:tcPr>
                </a:tc>
                <a:tc>
                  <a:txBody>
                    <a:bodyPr/>
                    <a:lstStyle/>
                    <a:p>
                      <a:pPr algn="ctr"/>
                      <a:r>
                        <a:rPr sz="1150" b="0">
                          <a:solidFill>
                            <a:srgbClr val="0F766E"/>
                          </a:solidFill>
                          <a:latin typeface="Calibri"/>
                        </a:rPr>
                        <a:t>W</a:t>
                      </a:r>
                    </a:p>
                  </a:txBody>
                  <a:tcPr marL="45720" marR="45720" marT="27432" marB="27432" anchor="ctr">
                    <a:solidFill>
                      <a:srgbClr val="CCFBF1"/>
                    </a:solidFill>
                  </a:tcPr>
                </a:tc>
                <a:tc>
                  <a:txBody>
                    <a:bodyPr/>
                    <a:lstStyle/>
                    <a:p>
                      <a:pPr algn="ctr"/>
                      <a:r>
                        <a:rPr sz="1150" b="0">
                          <a:solidFill>
                            <a:srgbClr val="94A3B8"/>
                          </a:solidFill>
                          <a:latin typeface="Calibri"/>
                        </a:rPr>
                        <a:t>–</a:t>
                      </a:r>
                    </a:p>
                  </a:txBody>
                  <a:tcPr marL="45720" marR="45720" marT="27432" marB="27432" anchor="ctr">
                    <a:solidFill>
                      <a:srgbClr val="FFFFFF"/>
                    </a:solidFill>
                  </a:tcPr>
                </a:tc>
                <a:tc>
                  <a:txBody>
                    <a:bodyPr/>
                    <a:lstStyle/>
                    <a:p>
                      <a:pPr algn="ctr"/>
                      <a:r>
                        <a:rPr sz="1150" b="1">
                          <a:solidFill>
                            <a:srgbClr val="FFFFFF"/>
                          </a:solidFill>
                          <a:latin typeface="Calibri"/>
                        </a:rPr>
                        <a:t>F</a:t>
                      </a:r>
                    </a:p>
                  </a:txBody>
                  <a:tcPr marL="45720" marR="45720" marT="27432" marB="27432" anchor="ctr">
                    <a:solidFill>
                      <a:srgbClr val="0D9488"/>
                    </a:solidFill>
                  </a:tcPr>
                </a:tc>
                <a:tc>
                  <a:txBody>
                    <a:bodyPr/>
                    <a:lstStyle/>
                    <a:p>
                      <a:pPr algn="ctr"/>
                      <a:r>
                        <a:rPr sz="1150" b="1">
                          <a:solidFill>
                            <a:srgbClr val="FFFFFF"/>
                          </a:solidFill>
                          <a:latin typeface="Calibri"/>
                        </a:rPr>
                        <a:t>F</a:t>
                      </a:r>
                    </a:p>
                  </a:txBody>
                  <a:tcPr marL="45720" marR="45720" marT="27432" marB="27432" anchor="ctr">
                    <a:solidFill>
                      <a:srgbClr val="0D9488"/>
                    </a:solidFill>
                  </a:tcPr>
                </a:tc>
                <a:tc>
                  <a:txBody>
                    <a:bodyPr/>
                    <a:lstStyle/>
                    <a:p>
                      <a:pPr algn="ctr"/>
                      <a:r>
                        <a:rPr sz="1150" b="0">
                          <a:solidFill>
                            <a:srgbClr val="475569"/>
                          </a:solidFill>
                          <a:latin typeface="Calibri"/>
                        </a:rPr>
                        <a:t>R</a:t>
                      </a:r>
                    </a:p>
                  </a:txBody>
                  <a:tcPr marL="45720" marR="45720" marT="27432" marB="27432" anchor="ctr">
                    <a:solidFill>
                      <a:srgbClr val="F1F5F9"/>
                    </a:solidFill>
                  </a:tcPr>
                </a:tc>
              </a:tr>
              <a:tr h="416559">
                <a:tc>
                  <a:txBody>
                    <a:bodyPr/>
                    <a:lstStyle/>
                    <a:p>
                      <a:pPr algn="l"/>
                      <a:r>
                        <a:rPr sz="1100" b="0">
                          <a:solidFill>
                            <a:srgbClr val="0F172A"/>
                          </a:solidFill>
                          <a:latin typeface="Calibri"/>
                        </a:rPr>
                        <a:t>Lịch hẹn &amp; check-in</a:t>
                      </a:r>
                    </a:p>
                  </a:txBody>
                  <a:tcPr marL="45720" marR="45720" marT="27432" marB="27432" anchor="ctr">
                    <a:solidFill>
                      <a:srgbClr val="FFFFFF"/>
                    </a:solidFill>
                  </a:tcPr>
                </a:tc>
                <a:tc>
                  <a:txBody>
                    <a:bodyPr/>
                    <a:lstStyle/>
                    <a:p>
                      <a:pPr algn="ctr"/>
                      <a:r>
                        <a:rPr sz="1150" b="0">
                          <a:solidFill>
                            <a:srgbClr val="475569"/>
                          </a:solidFill>
                          <a:latin typeface="Calibri"/>
                        </a:rPr>
                        <a:t>R</a:t>
                      </a:r>
                    </a:p>
                  </a:txBody>
                  <a:tcPr marL="45720" marR="45720" marT="27432" marB="27432" anchor="ctr">
                    <a:solidFill>
                      <a:srgbClr val="F1F5F9"/>
                    </a:solidFill>
                  </a:tcPr>
                </a:tc>
                <a:tc>
                  <a:txBody>
                    <a:bodyPr/>
                    <a:lstStyle/>
                    <a:p>
                      <a:pPr algn="ctr"/>
                      <a:r>
                        <a:rPr sz="1150" b="0">
                          <a:solidFill>
                            <a:srgbClr val="0F766E"/>
                          </a:solidFill>
                          <a:latin typeface="Calibri"/>
                        </a:rPr>
                        <a:t>W</a:t>
                      </a:r>
                    </a:p>
                  </a:txBody>
                  <a:tcPr marL="45720" marR="45720" marT="27432" marB="27432" anchor="ctr">
                    <a:solidFill>
                      <a:srgbClr val="CCFBF1"/>
                    </a:solidFill>
                  </a:tcPr>
                </a:tc>
                <a:tc>
                  <a:txBody>
                    <a:bodyPr/>
                    <a:lstStyle/>
                    <a:p>
                      <a:pPr algn="ctr"/>
                      <a:r>
                        <a:rPr sz="1150" b="1">
                          <a:solidFill>
                            <a:srgbClr val="FFFFFF"/>
                          </a:solidFill>
                          <a:latin typeface="Calibri"/>
                        </a:rPr>
                        <a:t>F</a:t>
                      </a:r>
                    </a:p>
                  </a:txBody>
                  <a:tcPr marL="45720" marR="45720" marT="27432" marB="27432" anchor="ctr">
                    <a:solidFill>
                      <a:srgbClr val="0D9488"/>
                    </a:solidFill>
                  </a:tcPr>
                </a:tc>
                <a:tc>
                  <a:txBody>
                    <a:bodyPr/>
                    <a:lstStyle/>
                    <a:p>
                      <a:pPr algn="ctr"/>
                      <a:r>
                        <a:rPr sz="1150" b="1">
                          <a:solidFill>
                            <a:srgbClr val="FFFFFF"/>
                          </a:solidFill>
                          <a:latin typeface="Calibri"/>
                        </a:rPr>
                        <a:t>F</a:t>
                      </a:r>
                    </a:p>
                  </a:txBody>
                  <a:tcPr marL="45720" marR="45720" marT="27432" marB="27432" anchor="ctr">
                    <a:solidFill>
                      <a:srgbClr val="0D9488"/>
                    </a:solidFill>
                  </a:tcPr>
                </a:tc>
                <a:tc>
                  <a:txBody>
                    <a:bodyPr/>
                    <a:lstStyle/>
                    <a:p>
                      <a:pPr algn="ctr"/>
                      <a:r>
                        <a:rPr sz="1150" b="0">
                          <a:solidFill>
                            <a:srgbClr val="475569"/>
                          </a:solidFill>
                          <a:latin typeface="Calibri"/>
                        </a:rPr>
                        <a:t>R</a:t>
                      </a:r>
                    </a:p>
                  </a:txBody>
                  <a:tcPr marL="45720" marR="45720" marT="27432" marB="27432" anchor="ctr">
                    <a:solidFill>
                      <a:srgbClr val="F1F5F9"/>
                    </a:solidFill>
                  </a:tcPr>
                </a:tc>
              </a:tr>
              <a:tr h="416559">
                <a:tc>
                  <a:txBody>
                    <a:bodyPr/>
                    <a:lstStyle/>
                    <a:p>
                      <a:pPr algn="l"/>
                      <a:r>
                        <a:rPr sz="1100" b="0">
                          <a:solidFill>
                            <a:srgbClr val="0F172A"/>
                          </a:solidFill>
                          <a:latin typeface="Calibri"/>
                        </a:rPr>
                        <a:t>Phiếu tính tiền</a:t>
                      </a:r>
                    </a:p>
                  </a:txBody>
                  <a:tcPr marL="45720" marR="45720" marT="27432" marB="27432" anchor="ctr">
                    <a:solidFill>
                      <a:srgbClr val="FFFFFF"/>
                    </a:solidFill>
                  </a:tcPr>
                </a:tc>
                <a:tc>
                  <a:txBody>
                    <a:bodyPr/>
                    <a:lstStyle/>
                    <a:p>
                      <a:pPr algn="ctr"/>
                      <a:r>
                        <a:rPr sz="1150" b="0">
                          <a:solidFill>
                            <a:srgbClr val="475569"/>
                          </a:solidFill>
                          <a:latin typeface="Calibri"/>
                        </a:rPr>
                        <a:t>R</a:t>
                      </a:r>
                    </a:p>
                  </a:txBody>
                  <a:tcPr marL="45720" marR="45720" marT="27432" marB="27432" anchor="ctr">
                    <a:solidFill>
                      <a:srgbClr val="F1F5F9"/>
                    </a:solidFill>
                  </a:tcPr>
                </a:tc>
                <a:tc>
                  <a:txBody>
                    <a:bodyPr/>
                    <a:lstStyle/>
                    <a:p>
                      <a:pPr algn="ctr"/>
                      <a:r>
                        <a:rPr sz="1150" b="0">
                          <a:solidFill>
                            <a:srgbClr val="475569"/>
                          </a:solidFill>
                          <a:latin typeface="Calibri"/>
                        </a:rPr>
                        <a:t>R</a:t>
                      </a:r>
                    </a:p>
                  </a:txBody>
                  <a:tcPr marL="45720" marR="45720" marT="27432" marB="27432" anchor="ctr">
                    <a:solidFill>
                      <a:srgbClr val="F1F5F9"/>
                    </a:solidFill>
                  </a:tcPr>
                </a:tc>
                <a:tc>
                  <a:txBody>
                    <a:bodyPr/>
                    <a:lstStyle/>
                    <a:p>
                      <a:pPr algn="ctr"/>
                      <a:r>
                        <a:rPr sz="1150" b="1">
                          <a:solidFill>
                            <a:srgbClr val="FFFFFF"/>
                          </a:solidFill>
                          <a:latin typeface="Calibri"/>
                        </a:rPr>
                        <a:t>F</a:t>
                      </a:r>
                    </a:p>
                  </a:txBody>
                  <a:tcPr marL="45720" marR="45720" marT="27432" marB="27432" anchor="ctr">
                    <a:solidFill>
                      <a:srgbClr val="0D9488"/>
                    </a:solidFill>
                  </a:tcPr>
                </a:tc>
                <a:tc>
                  <a:txBody>
                    <a:bodyPr/>
                    <a:lstStyle/>
                    <a:p>
                      <a:pPr algn="ctr"/>
                      <a:r>
                        <a:rPr sz="1150" b="1">
                          <a:solidFill>
                            <a:srgbClr val="FFFFFF"/>
                          </a:solidFill>
                          <a:latin typeface="Calibri"/>
                        </a:rPr>
                        <a:t>F</a:t>
                      </a:r>
                    </a:p>
                  </a:txBody>
                  <a:tcPr marL="45720" marR="45720" marT="27432" marB="27432" anchor="ctr">
                    <a:solidFill>
                      <a:srgbClr val="0D9488"/>
                    </a:solidFill>
                  </a:tcPr>
                </a:tc>
                <a:tc>
                  <a:txBody>
                    <a:bodyPr/>
                    <a:lstStyle/>
                    <a:p>
                      <a:pPr algn="ctr"/>
                      <a:r>
                        <a:rPr sz="1150" b="0">
                          <a:solidFill>
                            <a:srgbClr val="475569"/>
                          </a:solidFill>
                          <a:latin typeface="Calibri"/>
                        </a:rPr>
                        <a:t>R</a:t>
                      </a:r>
                    </a:p>
                  </a:txBody>
                  <a:tcPr marL="45720" marR="45720" marT="27432" marB="27432" anchor="ctr">
                    <a:solidFill>
                      <a:srgbClr val="F1F5F9"/>
                    </a:solidFill>
                  </a:tcPr>
                </a:tc>
              </a:tr>
              <a:tr h="416559">
                <a:tc>
                  <a:txBody>
                    <a:bodyPr/>
                    <a:lstStyle/>
                    <a:p>
                      <a:pPr algn="l"/>
                      <a:r>
                        <a:rPr sz="1100" b="0">
                          <a:solidFill>
                            <a:srgbClr val="0F172A"/>
                          </a:solidFill>
                          <a:latin typeface="Calibri"/>
                        </a:rPr>
                        <a:t>Hồ sơ khách</a:t>
                      </a:r>
                    </a:p>
                  </a:txBody>
                  <a:tcPr marL="45720" marR="45720" marT="27432" marB="27432" anchor="ctr">
                    <a:solidFill>
                      <a:srgbClr val="FFFFFF"/>
                    </a:solidFill>
                  </a:tcPr>
                </a:tc>
                <a:tc>
                  <a:txBody>
                    <a:bodyPr/>
                    <a:lstStyle/>
                    <a:p>
                      <a:pPr algn="ctr"/>
                      <a:r>
                        <a:rPr sz="1150" b="0">
                          <a:solidFill>
                            <a:srgbClr val="475569"/>
                          </a:solidFill>
                          <a:latin typeface="Calibri"/>
                        </a:rPr>
                        <a:t>R</a:t>
                      </a:r>
                    </a:p>
                  </a:txBody>
                  <a:tcPr marL="45720" marR="45720" marT="27432" marB="27432" anchor="ctr">
                    <a:solidFill>
                      <a:srgbClr val="F1F5F9"/>
                    </a:solidFill>
                  </a:tcPr>
                </a:tc>
                <a:tc>
                  <a:txBody>
                    <a:bodyPr/>
                    <a:lstStyle/>
                    <a:p>
                      <a:pPr algn="ctr"/>
                      <a:r>
                        <a:rPr sz="1150" b="0">
                          <a:solidFill>
                            <a:srgbClr val="475569"/>
                          </a:solidFill>
                          <a:latin typeface="Calibri"/>
                        </a:rPr>
                        <a:t>R</a:t>
                      </a:r>
                    </a:p>
                  </a:txBody>
                  <a:tcPr marL="45720" marR="45720" marT="27432" marB="27432" anchor="ctr">
                    <a:solidFill>
                      <a:srgbClr val="F1F5F9"/>
                    </a:solidFill>
                  </a:tcPr>
                </a:tc>
                <a:tc>
                  <a:txBody>
                    <a:bodyPr/>
                    <a:lstStyle/>
                    <a:p>
                      <a:pPr algn="ctr"/>
                      <a:r>
                        <a:rPr sz="1150" b="0">
                          <a:solidFill>
                            <a:srgbClr val="0F766E"/>
                          </a:solidFill>
                          <a:latin typeface="Calibri"/>
                        </a:rPr>
                        <a:t>W</a:t>
                      </a:r>
                    </a:p>
                  </a:txBody>
                  <a:tcPr marL="45720" marR="45720" marT="27432" marB="27432" anchor="ctr">
                    <a:solidFill>
                      <a:srgbClr val="CCFBF1"/>
                    </a:solidFill>
                  </a:tcPr>
                </a:tc>
                <a:tc>
                  <a:txBody>
                    <a:bodyPr/>
                    <a:lstStyle/>
                    <a:p>
                      <a:pPr algn="ctr"/>
                      <a:r>
                        <a:rPr sz="1150" b="1">
                          <a:solidFill>
                            <a:srgbClr val="FFFFFF"/>
                          </a:solidFill>
                          <a:latin typeface="Calibri"/>
                        </a:rPr>
                        <a:t>F</a:t>
                      </a:r>
                    </a:p>
                  </a:txBody>
                  <a:tcPr marL="45720" marR="45720" marT="27432" marB="27432" anchor="ctr">
                    <a:solidFill>
                      <a:srgbClr val="0D9488"/>
                    </a:solidFill>
                  </a:tcPr>
                </a:tc>
                <a:tc>
                  <a:txBody>
                    <a:bodyPr/>
                    <a:lstStyle/>
                    <a:p>
                      <a:pPr algn="ctr"/>
                      <a:r>
                        <a:rPr sz="1150" b="0">
                          <a:solidFill>
                            <a:srgbClr val="475569"/>
                          </a:solidFill>
                          <a:latin typeface="Calibri"/>
                        </a:rPr>
                        <a:t>R</a:t>
                      </a:r>
                    </a:p>
                  </a:txBody>
                  <a:tcPr marL="45720" marR="45720" marT="27432" marB="27432" anchor="ctr">
                    <a:solidFill>
                      <a:srgbClr val="F1F5F9"/>
                    </a:solidFill>
                  </a:tcPr>
                </a:tc>
              </a:tr>
              <a:tr h="416567">
                <a:tc>
                  <a:txBody>
                    <a:bodyPr/>
                    <a:lstStyle/>
                    <a:p>
                      <a:pPr algn="l"/>
                      <a:r>
                        <a:rPr sz="1100" b="0">
                          <a:solidFill>
                            <a:srgbClr val="0F172A"/>
                          </a:solidFill>
                          <a:latin typeface="Calibri"/>
                        </a:rPr>
                        <a:t>Doanh thu &amp; nhật ký</a:t>
                      </a:r>
                    </a:p>
                  </a:txBody>
                  <a:tcPr marL="45720" marR="45720" marT="27432" marB="27432" anchor="ctr">
                    <a:solidFill>
                      <a:srgbClr val="FFFFFF"/>
                    </a:solidFill>
                  </a:tcPr>
                </a:tc>
                <a:tc>
                  <a:txBody>
                    <a:bodyPr/>
                    <a:lstStyle/>
                    <a:p>
                      <a:pPr algn="ctr"/>
                      <a:r>
                        <a:rPr sz="1150" b="0">
                          <a:solidFill>
                            <a:srgbClr val="94A3B8"/>
                          </a:solidFill>
                          <a:latin typeface="Calibri"/>
                        </a:rPr>
                        <a:t>–</a:t>
                      </a:r>
                    </a:p>
                  </a:txBody>
                  <a:tcPr marL="45720" marR="45720" marT="27432" marB="27432" anchor="ctr">
                    <a:solidFill>
                      <a:srgbClr val="FFFFFF"/>
                    </a:solidFill>
                  </a:tcPr>
                </a:tc>
                <a:tc>
                  <a:txBody>
                    <a:bodyPr/>
                    <a:lstStyle/>
                    <a:p>
                      <a:pPr algn="ctr"/>
                      <a:r>
                        <a:rPr sz="1150" b="0">
                          <a:solidFill>
                            <a:srgbClr val="94A3B8"/>
                          </a:solidFill>
                          <a:latin typeface="Calibri"/>
                        </a:rPr>
                        <a:t>–</a:t>
                      </a:r>
                    </a:p>
                  </a:txBody>
                  <a:tcPr marL="45720" marR="45720" marT="27432" marB="27432" anchor="ctr">
                    <a:solidFill>
                      <a:srgbClr val="FFFFFF"/>
                    </a:solidFill>
                  </a:tcPr>
                </a:tc>
                <a:tc>
                  <a:txBody>
                    <a:bodyPr/>
                    <a:lstStyle/>
                    <a:p>
                      <a:pPr algn="ctr"/>
                      <a:r>
                        <a:rPr sz="1150" b="0">
                          <a:solidFill>
                            <a:srgbClr val="475569"/>
                          </a:solidFill>
                          <a:latin typeface="Calibri"/>
                        </a:rPr>
                        <a:t>R</a:t>
                      </a:r>
                    </a:p>
                  </a:txBody>
                  <a:tcPr marL="45720" marR="45720" marT="27432" marB="27432" anchor="ctr">
                    <a:solidFill>
                      <a:srgbClr val="F1F5F9"/>
                    </a:solidFill>
                  </a:tcPr>
                </a:tc>
                <a:tc>
                  <a:txBody>
                    <a:bodyPr/>
                    <a:lstStyle/>
                    <a:p>
                      <a:pPr algn="ctr"/>
                      <a:r>
                        <a:rPr sz="1150" b="1">
                          <a:solidFill>
                            <a:srgbClr val="FFFFFF"/>
                          </a:solidFill>
                          <a:latin typeface="Calibri"/>
                        </a:rPr>
                        <a:t>F</a:t>
                      </a:r>
                    </a:p>
                  </a:txBody>
                  <a:tcPr marL="45720" marR="45720" marT="27432" marB="27432" anchor="ctr">
                    <a:solidFill>
                      <a:srgbClr val="0D9488"/>
                    </a:solidFill>
                  </a:tcPr>
                </a:tc>
                <a:tc>
                  <a:txBody>
                    <a:bodyPr/>
                    <a:lstStyle/>
                    <a:p>
                      <a:pPr algn="ctr"/>
                      <a:r>
                        <a:rPr sz="1150" b="1">
                          <a:solidFill>
                            <a:srgbClr val="FFFFFF"/>
                          </a:solidFill>
                          <a:latin typeface="Calibri"/>
                        </a:rPr>
                        <a:t>F</a:t>
                      </a:r>
                    </a:p>
                  </a:txBody>
                  <a:tcPr marL="45720" marR="45720" marT="27432" marB="27432" anchor="ctr">
                    <a:solidFill>
                      <a:srgbClr val="0D9488"/>
                    </a:solidFill>
                  </a:tcPr>
                </a:tc>
              </a:tr>
            </a:tbl>
          </a:graphicData>
        </a:graphic>
      </p:graphicFrame>
      <p:sp>
        <p:nvSpPr>
          <p:cNvPr id="9" name="TextBox 8"/>
          <p:cNvSpPr txBox="1"/>
          <p:nvPr/>
        </p:nvSpPr>
        <p:spPr>
          <a:xfrm>
            <a:off x="6583680" y="5943600"/>
            <a:ext cx="4846320" cy="274320"/>
          </a:xfrm>
          <a:prstGeom prst="rect">
            <a:avLst/>
          </a:prstGeom>
          <a:noFill/>
        </p:spPr>
        <p:txBody>
          <a:bodyPr wrap="square" lIns="0" rIns="0" tIns="0" bIns="0" anchor="t">
            <a:spAutoFit/>
          </a:bodyPr>
          <a:lstStyle/>
          <a:p>
            <a:pPr algn="l">
              <a:lnSpc>
                <a:spcPct val="108000"/>
              </a:lnSpc>
              <a:spcAft>
                <a:spcPts val="400"/>
              </a:spcAft>
            </a:pPr>
            <a:r>
              <a:rPr sz="1050" b="0" i="0">
                <a:solidFill>
                  <a:srgbClr val="475569"/>
                </a:solidFill>
                <a:latin typeface="Calibri"/>
              </a:rPr>
              <a:t>F toàn quyền · W ghi trong phạm vi · R chỉ xem · – không truy cập</a:t>
            </a:r>
          </a:p>
        </p:txBody>
      </p:sp>
      <p:sp>
        <p:nvSpPr>
          <p:cNvPr id="10" name="TextBox 9"/>
          <p:cNvSpPr txBox="1"/>
          <p:nvPr/>
        </p:nvSpPr>
        <p:spPr>
          <a:xfrm>
            <a:off x="548640" y="6446520"/>
            <a:ext cx="7315200" cy="228600"/>
          </a:xfrm>
          <a:prstGeom prst="rect">
            <a:avLst/>
          </a:prstGeom>
          <a:noFill/>
        </p:spPr>
        <p:txBody>
          <a:bodyPr wrap="square" lIns="0" rIns="0" tIns="0" bIns="0" anchor="t">
            <a:spAutoFit/>
          </a:bodyPr>
          <a:lstStyle/>
          <a:p>
            <a:pPr algn="l">
              <a:lnSpc>
                <a:spcPct val="108000"/>
              </a:lnSpc>
              <a:spcAft>
                <a:spcPts val="400"/>
              </a:spcAft>
            </a:pPr>
            <a:r>
              <a:rPr sz="1000" b="0" i="0">
                <a:solidFill>
                  <a:srgbClr val="94A3B8"/>
                </a:solidFill>
                <a:latin typeface="Calibri"/>
              </a:rPr>
              <a:t>Nhóm 3 · TTCS_T926_K2S3_N3 · Hệ thống Đặt lịch và Quản lý Vận hành Salon - Spa</a:t>
            </a:r>
          </a:p>
        </p:txBody>
      </p:sp>
      <p:sp>
        <p:nvSpPr>
          <p:cNvPr id="11" name="TextBox 10"/>
          <p:cNvSpPr txBox="1"/>
          <p:nvPr/>
        </p:nvSpPr>
        <p:spPr>
          <a:xfrm>
            <a:off x="10271455" y="6446520"/>
            <a:ext cx="1371600" cy="228600"/>
          </a:xfrm>
          <a:prstGeom prst="rect">
            <a:avLst/>
          </a:prstGeom>
          <a:noFill/>
        </p:spPr>
        <p:txBody>
          <a:bodyPr wrap="square" lIns="0" rIns="0" tIns="0" bIns="0" anchor="t">
            <a:spAutoFit/>
          </a:bodyPr>
          <a:lstStyle/>
          <a:p>
            <a:pPr algn="r">
              <a:lnSpc>
                <a:spcPct val="108000"/>
              </a:lnSpc>
              <a:spcAft>
                <a:spcPts val="400"/>
              </a:spcAft>
            </a:pPr>
            <a:r>
              <a:rPr sz="1000" b="0" i="0">
                <a:solidFill>
                  <a:srgbClr val="94A3B8"/>
                </a:solidFill>
                <a:latin typeface="Calibri"/>
              </a:rPr>
              <a:t>9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0D9488"/>
                </a:solidFill>
                <a:latin typeface="Calibri"/>
              </a:rPr>
              <a:t>10  ·  HẠ TẦNG &amp; TỰ ĐỘNG HOÁ</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lnSpc>
                <a:spcPct val="108000"/>
              </a:lnSpc>
              <a:spcAft>
                <a:spcPts val="400"/>
              </a:spcAft>
            </a:pPr>
            <a:r>
              <a:rPr sz="3200" b="1" i="0">
                <a:solidFill>
                  <a:srgbClr val="0F172A"/>
                </a:solidFill>
                <a:latin typeface="Calibri"/>
              </a:rPr>
              <a:t>SSE · TypeORM Migration · cập nhật một chạm</a:t>
            </a:r>
          </a:p>
        </p:txBody>
      </p:sp>
      <p:sp>
        <p:nvSpPr>
          <p:cNvPr id="4" name="Rounded Rectangle 3"/>
          <p:cNvSpPr/>
          <p:nvPr/>
        </p:nvSpPr>
        <p:spPr>
          <a:xfrm>
            <a:off x="548640" y="1508760"/>
            <a:ext cx="2029968" cy="201168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49808" y="1691640"/>
            <a:ext cx="475488" cy="47548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eck_w.png"/>
          <p:cNvPicPr>
            <a:picLocks noChangeAspect="1"/>
          </p:cNvPicPr>
          <p:nvPr/>
        </p:nvPicPr>
        <p:blipFill>
          <a:blip r:embed="rId2"/>
          <a:stretch>
            <a:fillRect/>
          </a:stretch>
        </p:blipFill>
        <p:spPr>
          <a:xfrm>
            <a:off x="863925" y="1805757"/>
            <a:ext cx="247254" cy="247254"/>
          </a:xfrm>
          <a:prstGeom prst="rect">
            <a:avLst/>
          </a:prstGeom>
        </p:spPr>
      </p:pic>
      <p:sp>
        <p:nvSpPr>
          <p:cNvPr id="7" name="TextBox 6"/>
          <p:cNvSpPr txBox="1"/>
          <p:nvPr/>
        </p:nvSpPr>
        <p:spPr>
          <a:xfrm>
            <a:off x="1938528" y="1645920"/>
            <a:ext cx="457200" cy="457200"/>
          </a:xfrm>
          <a:prstGeom prst="rect">
            <a:avLst/>
          </a:prstGeom>
          <a:noFill/>
        </p:spPr>
        <p:txBody>
          <a:bodyPr wrap="square" lIns="0" rIns="0" tIns="0" bIns="0" anchor="t">
            <a:spAutoFit/>
          </a:bodyPr>
          <a:lstStyle/>
          <a:p>
            <a:pPr algn="r">
              <a:lnSpc>
                <a:spcPct val="108000"/>
              </a:lnSpc>
              <a:spcAft>
                <a:spcPts val="400"/>
              </a:spcAft>
            </a:pPr>
            <a:r>
              <a:rPr sz="2600" b="1" i="0">
                <a:solidFill>
                  <a:srgbClr val="CCFBF1"/>
                </a:solidFill>
                <a:latin typeface="Calibri"/>
              </a:rPr>
              <a:t>1</a:t>
            </a:r>
          </a:p>
        </p:txBody>
      </p:sp>
      <p:sp>
        <p:nvSpPr>
          <p:cNvPr id="8" name="TextBox 7"/>
          <p:cNvSpPr txBox="1"/>
          <p:nvPr/>
        </p:nvSpPr>
        <p:spPr>
          <a:xfrm>
            <a:off x="749808" y="2304288"/>
            <a:ext cx="1664208" cy="320040"/>
          </a:xfrm>
          <a:prstGeom prst="rect">
            <a:avLst/>
          </a:prstGeom>
          <a:noFill/>
        </p:spPr>
        <p:txBody>
          <a:bodyPr wrap="square" lIns="0" rIns="0" tIns="0" bIns="0" anchor="t">
            <a:spAutoFit/>
          </a:bodyPr>
          <a:lstStyle/>
          <a:p>
            <a:pPr algn="l">
              <a:lnSpc>
                <a:spcPct val="108000"/>
              </a:lnSpc>
              <a:spcAft>
                <a:spcPts val="400"/>
              </a:spcAft>
            </a:pPr>
            <a:r>
              <a:rPr sz="1550" b="1" i="0">
                <a:solidFill>
                  <a:srgbClr val="0F172A"/>
                </a:solidFill>
                <a:latin typeface="Calibri"/>
              </a:rPr>
              <a:t>Kiểm tra</a:t>
            </a:r>
          </a:p>
        </p:txBody>
      </p:sp>
      <p:sp>
        <p:nvSpPr>
          <p:cNvPr id="9" name="TextBox 8"/>
          <p:cNvSpPr txBox="1"/>
          <p:nvPr/>
        </p:nvSpPr>
        <p:spPr>
          <a:xfrm>
            <a:off x="749808" y="2651760"/>
            <a:ext cx="1664208" cy="822960"/>
          </a:xfrm>
          <a:prstGeom prst="rect">
            <a:avLst/>
          </a:prstGeom>
          <a:noFill/>
        </p:spPr>
        <p:txBody>
          <a:bodyPr wrap="square" lIns="0" rIns="0" tIns="0" bIns="0" anchor="t">
            <a:spAutoFit/>
          </a:bodyPr>
          <a:lstStyle/>
          <a:p>
            <a:pPr algn="l">
              <a:lnSpc>
                <a:spcPct val="108000"/>
              </a:lnSpc>
              <a:spcAft>
                <a:spcPts val="400"/>
              </a:spcAft>
            </a:pPr>
            <a:r>
              <a:rPr sz="1200" b="0" i="0">
                <a:solidFill>
                  <a:srgbClr val="475569"/>
                </a:solidFill>
                <a:latin typeface="Calibri"/>
              </a:rPr>
              <a:t>Node ≥ 20; chờ Docker Desktop ≤ 2 phút, tự mở</a:t>
            </a:r>
          </a:p>
        </p:txBody>
      </p:sp>
      <p:sp>
        <p:nvSpPr>
          <p:cNvPr id="10" name="TextBox 9"/>
          <p:cNvSpPr txBox="1"/>
          <p:nvPr/>
        </p:nvSpPr>
        <p:spPr>
          <a:xfrm>
            <a:off x="2578608" y="2286000"/>
            <a:ext cx="236143" cy="365760"/>
          </a:xfrm>
          <a:prstGeom prst="rect">
            <a:avLst/>
          </a:prstGeom>
          <a:noFill/>
        </p:spPr>
        <p:txBody>
          <a:bodyPr wrap="square" lIns="0" rIns="0" tIns="0" bIns="0" anchor="t">
            <a:spAutoFit/>
          </a:bodyPr>
          <a:lstStyle/>
          <a:p>
            <a:pPr algn="ctr">
              <a:lnSpc>
                <a:spcPct val="108000"/>
              </a:lnSpc>
              <a:spcAft>
                <a:spcPts val="400"/>
              </a:spcAft>
            </a:pPr>
            <a:r>
              <a:rPr sz="2400" b="1" i="0">
                <a:solidFill>
                  <a:srgbClr val="0D9488"/>
                </a:solidFill>
                <a:latin typeface="Calibri"/>
              </a:rPr>
              <a:t>›</a:t>
            </a:r>
          </a:p>
        </p:txBody>
      </p:sp>
      <p:sp>
        <p:nvSpPr>
          <p:cNvPr id="11" name="Rounded Rectangle 10"/>
          <p:cNvSpPr/>
          <p:nvPr/>
        </p:nvSpPr>
        <p:spPr>
          <a:xfrm>
            <a:off x="2814751" y="1508760"/>
            <a:ext cx="2029968" cy="201168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3015919" y="1691640"/>
            <a:ext cx="475488" cy="47548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docker_w.png"/>
          <p:cNvPicPr>
            <a:picLocks noChangeAspect="1"/>
          </p:cNvPicPr>
          <p:nvPr/>
        </p:nvPicPr>
        <p:blipFill>
          <a:blip r:embed="rId3"/>
          <a:stretch>
            <a:fillRect/>
          </a:stretch>
        </p:blipFill>
        <p:spPr>
          <a:xfrm>
            <a:off x="3130036" y="1805757"/>
            <a:ext cx="247254" cy="247254"/>
          </a:xfrm>
          <a:prstGeom prst="rect">
            <a:avLst/>
          </a:prstGeom>
        </p:spPr>
      </p:pic>
      <p:sp>
        <p:nvSpPr>
          <p:cNvPr id="14" name="TextBox 13"/>
          <p:cNvSpPr txBox="1"/>
          <p:nvPr/>
        </p:nvSpPr>
        <p:spPr>
          <a:xfrm>
            <a:off x="4204639" y="1645920"/>
            <a:ext cx="457200" cy="457200"/>
          </a:xfrm>
          <a:prstGeom prst="rect">
            <a:avLst/>
          </a:prstGeom>
          <a:noFill/>
        </p:spPr>
        <p:txBody>
          <a:bodyPr wrap="square" lIns="0" rIns="0" tIns="0" bIns="0" anchor="t">
            <a:spAutoFit/>
          </a:bodyPr>
          <a:lstStyle/>
          <a:p>
            <a:pPr algn="r">
              <a:lnSpc>
                <a:spcPct val="108000"/>
              </a:lnSpc>
              <a:spcAft>
                <a:spcPts val="400"/>
              </a:spcAft>
            </a:pPr>
            <a:r>
              <a:rPr sz="2600" b="1" i="0">
                <a:solidFill>
                  <a:srgbClr val="CCFBF1"/>
                </a:solidFill>
                <a:latin typeface="Calibri"/>
              </a:rPr>
              <a:t>2</a:t>
            </a:r>
          </a:p>
        </p:txBody>
      </p:sp>
      <p:sp>
        <p:nvSpPr>
          <p:cNvPr id="15" name="TextBox 14"/>
          <p:cNvSpPr txBox="1"/>
          <p:nvPr/>
        </p:nvSpPr>
        <p:spPr>
          <a:xfrm>
            <a:off x="3015919" y="2304288"/>
            <a:ext cx="1664208" cy="320040"/>
          </a:xfrm>
          <a:prstGeom prst="rect">
            <a:avLst/>
          </a:prstGeom>
          <a:noFill/>
        </p:spPr>
        <p:txBody>
          <a:bodyPr wrap="square" lIns="0" rIns="0" tIns="0" bIns="0" anchor="t">
            <a:spAutoFit/>
          </a:bodyPr>
          <a:lstStyle/>
          <a:p>
            <a:pPr algn="l">
              <a:lnSpc>
                <a:spcPct val="108000"/>
              </a:lnSpc>
              <a:spcAft>
                <a:spcPts val="400"/>
              </a:spcAft>
            </a:pPr>
            <a:r>
              <a:rPr sz="1550" b="1" i="0">
                <a:solidFill>
                  <a:srgbClr val="0F172A"/>
                </a:solidFill>
                <a:latin typeface="Calibri"/>
              </a:rPr>
              <a:t>Docker Compose</a:t>
            </a:r>
          </a:p>
        </p:txBody>
      </p:sp>
      <p:sp>
        <p:nvSpPr>
          <p:cNvPr id="16" name="TextBox 15"/>
          <p:cNvSpPr txBox="1"/>
          <p:nvPr/>
        </p:nvSpPr>
        <p:spPr>
          <a:xfrm>
            <a:off x="3015919" y="2651760"/>
            <a:ext cx="1664208" cy="822960"/>
          </a:xfrm>
          <a:prstGeom prst="rect">
            <a:avLst/>
          </a:prstGeom>
          <a:noFill/>
        </p:spPr>
        <p:txBody>
          <a:bodyPr wrap="square" lIns="0" rIns="0" tIns="0" bIns="0" anchor="t">
            <a:spAutoFit/>
          </a:bodyPr>
          <a:lstStyle/>
          <a:p>
            <a:pPr algn="l">
              <a:lnSpc>
                <a:spcPct val="108000"/>
              </a:lnSpc>
              <a:spcAft>
                <a:spcPts val="400"/>
              </a:spcAft>
            </a:pPr>
            <a:r>
              <a:rPr sz="1200" b="0" i="0">
                <a:solidFill>
                  <a:srgbClr val="475569"/>
                </a:solidFill>
                <a:latin typeface="Calibri"/>
              </a:rPr>
              <a:t>PostgreSQL 15 (healthcheck TCP), PgAdmin, Maildev</a:t>
            </a:r>
          </a:p>
        </p:txBody>
      </p:sp>
      <p:sp>
        <p:nvSpPr>
          <p:cNvPr id="17" name="TextBox 16"/>
          <p:cNvSpPr txBox="1"/>
          <p:nvPr/>
        </p:nvSpPr>
        <p:spPr>
          <a:xfrm>
            <a:off x="4844719" y="2286000"/>
            <a:ext cx="236143" cy="365760"/>
          </a:xfrm>
          <a:prstGeom prst="rect">
            <a:avLst/>
          </a:prstGeom>
          <a:noFill/>
        </p:spPr>
        <p:txBody>
          <a:bodyPr wrap="square" lIns="0" rIns="0" tIns="0" bIns="0" anchor="t">
            <a:spAutoFit/>
          </a:bodyPr>
          <a:lstStyle/>
          <a:p>
            <a:pPr algn="ctr">
              <a:lnSpc>
                <a:spcPct val="108000"/>
              </a:lnSpc>
              <a:spcAft>
                <a:spcPts val="400"/>
              </a:spcAft>
            </a:pPr>
            <a:r>
              <a:rPr sz="2400" b="1" i="0">
                <a:solidFill>
                  <a:srgbClr val="0D9488"/>
                </a:solidFill>
                <a:latin typeface="Calibri"/>
              </a:rPr>
              <a:t>›</a:t>
            </a:r>
          </a:p>
        </p:txBody>
      </p:sp>
      <p:sp>
        <p:nvSpPr>
          <p:cNvPr id="18" name="Rounded Rectangle 17"/>
          <p:cNvSpPr/>
          <p:nvPr/>
        </p:nvSpPr>
        <p:spPr>
          <a:xfrm>
            <a:off x="5080863" y="1508760"/>
            <a:ext cx="2029968" cy="201168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5282031" y="1691640"/>
            <a:ext cx="475488" cy="47548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ayers_w.png"/>
          <p:cNvPicPr>
            <a:picLocks noChangeAspect="1"/>
          </p:cNvPicPr>
          <p:nvPr/>
        </p:nvPicPr>
        <p:blipFill>
          <a:blip r:embed="rId4"/>
          <a:stretch>
            <a:fillRect/>
          </a:stretch>
        </p:blipFill>
        <p:spPr>
          <a:xfrm>
            <a:off x="5396148" y="1805757"/>
            <a:ext cx="247254" cy="247254"/>
          </a:xfrm>
          <a:prstGeom prst="rect">
            <a:avLst/>
          </a:prstGeom>
        </p:spPr>
      </p:pic>
      <p:sp>
        <p:nvSpPr>
          <p:cNvPr id="21" name="TextBox 20"/>
          <p:cNvSpPr txBox="1"/>
          <p:nvPr/>
        </p:nvSpPr>
        <p:spPr>
          <a:xfrm>
            <a:off x="6470751" y="1645920"/>
            <a:ext cx="457200" cy="457200"/>
          </a:xfrm>
          <a:prstGeom prst="rect">
            <a:avLst/>
          </a:prstGeom>
          <a:noFill/>
        </p:spPr>
        <p:txBody>
          <a:bodyPr wrap="square" lIns="0" rIns="0" tIns="0" bIns="0" anchor="t">
            <a:spAutoFit/>
          </a:bodyPr>
          <a:lstStyle/>
          <a:p>
            <a:pPr algn="r">
              <a:lnSpc>
                <a:spcPct val="108000"/>
              </a:lnSpc>
              <a:spcAft>
                <a:spcPts val="400"/>
              </a:spcAft>
            </a:pPr>
            <a:r>
              <a:rPr sz="2600" b="1" i="0">
                <a:solidFill>
                  <a:srgbClr val="CCFBF1"/>
                </a:solidFill>
                <a:latin typeface="Calibri"/>
              </a:rPr>
              <a:t>3</a:t>
            </a:r>
          </a:p>
        </p:txBody>
      </p:sp>
      <p:sp>
        <p:nvSpPr>
          <p:cNvPr id="22" name="TextBox 21"/>
          <p:cNvSpPr txBox="1"/>
          <p:nvPr/>
        </p:nvSpPr>
        <p:spPr>
          <a:xfrm>
            <a:off x="5282031" y="2304288"/>
            <a:ext cx="1664208" cy="320040"/>
          </a:xfrm>
          <a:prstGeom prst="rect">
            <a:avLst/>
          </a:prstGeom>
          <a:noFill/>
        </p:spPr>
        <p:txBody>
          <a:bodyPr wrap="square" lIns="0" rIns="0" tIns="0" bIns="0" anchor="t">
            <a:spAutoFit/>
          </a:bodyPr>
          <a:lstStyle/>
          <a:p>
            <a:pPr algn="l">
              <a:lnSpc>
                <a:spcPct val="108000"/>
              </a:lnSpc>
              <a:spcAft>
                <a:spcPts val="400"/>
              </a:spcAft>
            </a:pPr>
            <a:r>
              <a:rPr sz="1550" b="1" i="0">
                <a:solidFill>
                  <a:srgbClr val="0F172A"/>
                </a:solidFill>
                <a:latin typeface="Calibri"/>
              </a:rPr>
              <a:t>Chuẩn bị</a:t>
            </a:r>
          </a:p>
        </p:txBody>
      </p:sp>
      <p:sp>
        <p:nvSpPr>
          <p:cNvPr id="23" name="TextBox 22"/>
          <p:cNvSpPr txBox="1"/>
          <p:nvPr/>
        </p:nvSpPr>
        <p:spPr>
          <a:xfrm>
            <a:off x="5282031" y="2651760"/>
            <a:ext cx="1664208" cy="822960"/>
          </a:xfrm>
          <a:prstGeom prst="rect">
            <a:avLst/>
          </a:prstGeom>
          <a:noFill/>
        </p:spPr>
        <p:txBody>
          <a:bodyPr wrap="square" lIns="0" rIns="0" tIns="0" bIns="0" anchor="t">
            <a:spAutoFit/>
          </a:bodyPr>
          <a:lstStyle/>
          <a:p>
            <a:pPr algn="l">
              <a:lnSpc>
                <a:spcPct val="108000"/>
              </a:lnSpc>
              <a:spcAft>
                <a:spcPts val="400"/>
              </a:spcAft>
            </a:pPr>
            <a:r>
              <a:rPr sz="1200" b="0" i="0">
                <a:solidFill>
                  <a:srgbClr val="475569"/>
                </a:solidFill>
                <a:latin typeface="Calibri"/>
              </a:rPr>
              <a:t>Tạo .env, cài lại gói khi lockfile đổi, kiểm tra cổng</a:t>
            </a:r>
          </a:p>
        </p:txBody>
      </p:sp>
      <p:sp>
        <p:nvSpPr>
          <p:cNvPr id="24" name="TextBox 23"/>
          <p:cNvSpPr txBox="1"/>
          <p:nvPr/>
        </p:nvSpPr>
        <p:spPr>
          <a:xfrm>
            <a:off x="7110831" y="2286000"/>
            <a:ext cx="236143" cy="365760"/>
          </a:xfrm>
          <a:prstGeom prst="rect">
            <a:avLst/>
          </a:prstGeom>
          <a:noFill/>
        </p:spPr>
        <p:txBody>
          <a:bodyPr wrap="square" lIns="0" rIns="0" tIns="0" bIns="0" anchor="t">
            <a:spAutoFit/>
          </a:bodyPr>
          <a:lstStyle/>
          <a:p>
            <a:pPr algn="ctr">
              <a:lnSpc>
                <a:spcPct val="108000"/>
              </a:lnSpc>
              <a:spcAft>
                <a:spcPts val="400"/>
              </a:spcAft>
            </a:pPr>
            <a:r>
              <a:rPr sz="2400" b="1" i="0">
                <a:solidFill>
                  <a:srgbClr val="0D9488"/>
                </a:solidFill>
                <a:latin typeface="Calibri"/>
              </a:rPr>
              <a:t>›</a:t>
            </a:r>
          </a:p>
        </p:txBody>
      </p:sp>
      <p:sp>
        <p:nvSpPr>
          <p:cNvPr id="25" name="Rounded Rectangle 24"/>
          <p:cNvSpPr/>
          <p:nvPr/>
        </p:nvSpPr>
        <p:spPr>
          <a:xfrm>
            <a:off x="7346975" y="1508760"/>
            <a:ext cx="2029968" cy="201168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548143" y="1691640"/>
            <a:ext cx="475488" cy="47548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server_w.png"/>
          <p:cNvPicPr>
            <a:picLocks noChangeAspect="1"/>
          </p:cNvPicPr>
          <p:nvPr/>
        </p:nvPicPr>
        <p:blipFill>
          <a:blip r:embed="rId5"/>
          <a:stretch>
            <a:fillRect/>
          </a:stretch>
        </p:blipFill>
        <p:spPr>
          <a:xfrm>
            <a:off x="7662260" y="1805757"/>
            <a:ext cx="247254" cy="247254"/>
          </a:xfrm>
          <a:prstGeom prst="rect">
            <a:avLst/>
          </a:prstGeom>
        </p:spPr>
      </p:pic>
      <p:sp>
        <p:nvSpPr>
          <p:cNvPr id="28" name="TextBox 27"/>
          <p:cNvSpPr txBox="1"/>
          <p:nvPr/>
        </p:nvSpPr>
        <p:spPr>
          <a:xfrm>
            <a:off x="8736863" y="1645920"/>
            <a:ext cx="457200" cy="457200"/>
          </a:xfrm>
          <a:prstGeom prst="rect">
            <a:avLst/>
          </a:prstGeom>
          <a:noFill/>
        </p:spPr>
        <p:txBody>
          <a:bodyPr wrap="square" lIns="0" rIns="0" tIns="0" bIns="0" anchor="t">
            <a:spAutoFit/>
          </a:bodyPr>
          <a:lstStyle/>
          <a:p>
            <a:pPr algn="r">
              <a:lnSpc>
                <a:spcPct val="108000"/>
              </a:lnSpc>
              <a:spcAft>
                <a:spcPts val="400"/>
              </a:spcAft>
            </a:pPr>
            <a:r>
              <a:rPr sz="2600" b="1" i="0">
                <a:solidFill>
                  <a:srgbClr val="CCFBF1"/>
                </a:solidFill>
                <a:latin typeface="Calibri"/>
              </a:rPr>
              <a:t>4</a:t>
            </a:r>
          </a:p>
        </p:txBody>
      </p:sp>
      <p:sp>
        <p:nvSpPr>
          <p:cNvPr id="29" name="TextBox 28"/>
          <p:cNvSpPr txBox="1"/>
          <p:nvPr/>
        </p:nvSpPr>
        <p:spPr>
          <a:xfrm>
            <a:off x="7548143" y="2304288"/>
            <a:ext cx="1664208" cy="320040"/>
          </a:xfrm>
          <a:prstGeom prst="rect">
            <a:avLst/>
          </a:prstGeom>
          <a:noFill/>
        </p:spPr>
        <p:txBody>
          <a:bodyPr wrap="square" lIns="0" rIns="0" tIns="0" bIns="0" anchor="t">
            <a:spAutoFit/>
          </a:bodyPr>
          <a:lstStyle/>
          <a:p>
            <a:pPr algn="l">
              <a:lnSpc>
                <a:spcPct val="108000"/>
              </a:lnSpc>
              <a:spcAft>
                <a:spcPts val="400"/>
              </a:spcAft>
            </a:pPr>
            <a:r>
              <a:rPr sz="1550" b="1" i="0">
                <a:solidFill>
                  <a:srgbClr val="0F172A"/>
                </a:solidFill>
                <a:latin typeface="Calibri"/>
              </a:rPr>
              <a:t>Migration</a:t>
            </a:r>
          </a:p>
        </p:txBody>
      </p:sp>
      <p:sp>
        <p:nvSpPr>
          <p:cNvPr id="30" name="TextBox 29"/>
          <p:cNvSpPr txBox="1"/>
          <p:nvPr/>
        </p:nvSpPr>
        <p:spPr>
          <a:xfrm>
            <a:off x="7548143" y="2651760"/>
            <a:ext cx="1664208" cy="822960"/>
          </a:xfrm>
          <a:prstGeom prst="rect">
            <a:avLst/>
          </a:prstGeom>
          <a:noFill/>
        </p:spPr>
        <p:txBody>
          <a:bodyPr wrap="square" lIns="0" rIns="0" tIns="0" bIns="0" anchor="t">
            <a:spAutoFit/>
          </a:bodyPr>
          <a:lstStyle/>
          <a:p>
            <a:pPr algn="l">
              <a:lnSpc>
                <a:spcPct val="108000"/>
              </a:lnSpc>
              <a:spcAft>
                <a:spcPts val="400"/>
              </a:spcAft>
            </a:pPr>
            <a:r>
              <a:rPr sz="1200" b="0" i="0">
                <a:solidFill>
                  <a:srgbClr val="475569"/>
                </a:solidFill>
                <a:latin typeface="Calibri"/>
              </a:rPr>
              <a:t>Lược đồ có phiên bản; seed chỉ ở máy phát triển / QA</a:t>
            </a:r>
          </a:p>
        </p:txBody>
      </p:sp>
      <p:sp>
        <p:nvSpPr>
          <p:cNvPr id="31" name="TextBox 30"/>
          <p:cNvSpPr txBox="1"/>
          <p:nvPr/>
        </p:nvSpPr>
        <p:spPr>
          <a:xfrm>
            <a:off x="9376943" y="2286000"/>
            <a:ext cx="236143" cy="365760"/>
          </a:xfrm>
          <a:prstGeom prst="rect">
            <a:avLst/>
          </a:prstGeom>
          <a:noFill/>
        </p:spPr>
        <p:txBody>
          <a:bodyPr wrap="square" lIns="0" rIns="0" tIns="0" bIns="0" anchor="t">
            <a:spAutoFit/>
          </a:bodyPr>
          <a:lstStyle/>
          <a:p>
            <a:pPr algn="ctr">
              <a:lnSpc>
                <a:spcPct val="108000"/>
              </a:lnSpc>
              <a:spcAft>
                <a:spcPts val="400"/>
              </a:spcAft>
            </a:pPr>
            <a:r>
              <a:rPr sz="2400" b="1" i="0">
                <a:solidFill>
                  <a:srgbClr val="0D9488"/>
                </a:solidFill>
                <a:latin typeface="Calibri"/>
              </a:rPr>
              <a:t>›</a:t>
            </a:r>
          </a:p>
        </p:txBody>
      </p:sp>
      <p:sp>
        <p:nvSpPr>
          <p:cNvPr id="32" name="Rounded Rectangle 31"/>
          <p:cNvSpPr/>
          <p:nvPr/>
        </p:nvSpPr>
        <p:spPr>
          <a:xfrm>
            <a:off x="9613087" y="1508760"/>
            <a:ext cx="2029968" cy="2011680"/>
          </a:xfrm>
          <a:prstGeom prst="roundRect">
            <a:avLst>
              <a:gd name="adj" fmla="val 8000"/>
            </a:avLst>
          </a:prstGeom>
          <a:solidFill>
            <a:srgbClr val="0F172A"/>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9814255" y="1691640"/>
            <a:ext cx="475488" cy="47548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refresh_w.png"/>
          <p:cNvPicPr>
            <a:picLocks noChangeAspect="1"/>
          </p:cNvPicPr>
          <p:nvPr/>
        </p:nvPicPr>
        <p:blipFill>
          <a:blip r:embed="rId6"/>
          <a:stretch>
            <a:fillRect/>
          </a:stretch>
        </p:blipFill>
        <p:spPr>
          <a:xfrm>
            <a:off x="9928372" y="1805757"/>
            <a:ext cx="247254" cy="247254"/>
          </a:xfrm>
          <a:prstGeom prst="rect">
            <a:avLst/>
          </a:prstGeom>
        </p:spPr>
      </p:pic>
      <p:sp>
        <p:nvSpPr>
          <p:cNvPr id="35" name="TextBox 34"/>
          <p:cNvSpPr txBox="1"/>
          <p:nvPr/>
        </p:nvSpPr>
        <p:spPr>
          <a:xfrm>
            <a:off x="11002975" y="1645920"/>
            <a:ext cx="457200" cy="457200"/>
          </a:xfrm>
          <a:prstGeom prst="rect">
            <a:avLst/>
          </a:prstGeom>
          <a:noFill/>
        </p:spPr>
        <p:txBody>
          <a:bodyPr wrap="square" lIns="0" rIns="0" tIns="0" bIns="0" anchor="t">
            <a:spAutoFit/>
          </a:bodyPr>
          <a:lstStyle/>
          <a:p>
            <a:pPr algn="r">
              <a:lnSpc>
                <a:spcPct val="108000"/>
              </a:lnSpc>
              <a:spcAft>
                <a:spcPts val="400"/>
              </a:spcAft>
            </a:pPr>
            <a:r>
              <a:rPr sz="2600" b="1" i="0">
                <a:solidFill>
                  <a:srgbClr val="334155"/>
                </a:solidFill>
                <a:latin typeface="Calibri"/>
              </a:rPr>
              <a:t>5</a:t>
            </a:r>
          </a:p>
        </p:txBody>
      </p:sp>
      <p:sp>
        <p:nvSpPr>
          <p:cNvPr id="36" name="TextBox 35"/>
          <p:cNvSpPr txBox="1"/>
          <p:nvPr/>
        </p:nvSpPr>
        <p:spPr>
          <a:xfrm>
            <a:off x="9814255" y="2304288"/>
            <a:ext cx="1664208" cy="320040"/>
          </a:xfrm>
          <a:prstGeom prst="rect">
            <a:avLst/>
          </a:prstGeom>
          <a:noFill/>
        </p:spPr>
        <p:txBody>
          <a:bodyPr wrap="square" lIns="0" rIns="0" tIns="0" bIns="0" anchor="t">
            <a:spAutoFit/>
          </a:bodyPr>
          <a:lstStyle/>
          <a:p>
            <a:pPr algn="l">
              <a:lnSpc>
                <a:spcPct val="108000"/>
              </a:lnSpc>
              <a:spcAft>
                <a:spcPts val="400"/>
              </a:spcAft>
            </a:pPr>
            <a:r>
              <a:rPr sz="1550" b="1" i="0">
                <a:solidFill>
                  <a:srgbClr val="FFFFFF"/>
                </a:solidFill>
                <a:latin typeface="Calibri"/>
              </a:rPr>
              <a:t>Supervisor</a:t>
            </a:r>
          </a:p>
        </p:txBody>
      </p:sp>
      <p:sp>
        <p:nvSpPr>
          <p:cNvPr id="37" name="TextBox 36"/>
          <p:cNvSpPr txBox="1"/>
          <p:nvPr/>
        </p:nvSpPr>
        <p:spPr>
          <a:xfrm>
            <a:off x="9814255" y="2651760"/>
            <a:ext cx="1664208" cy="822960"/>
          </a:xfrm>
          <a:prstGeom prst="rect">
            <a:avLst/>
          </a:prstGeom>
          <a:noFill/>
        </p:spPr>
        <p:txBody>
          <a:bodyPr wrap="square" lIns="0" rIns="0" tIns="0" bIns="0" anchor="t">
            <a:spAutoFit/>
          </a:bodyPr>
          <a:lstStyle/>
          <a:p>
            <a:pPr algn="l">
              <a:lnSpc>
                <a:spcPct val="108000"/>
              </a:lnSpc>
              <a:spcAft>
                <a:spcPts val="400"/>
              </a:spcAft>
            </a:pPr>
            <a:r>
              <a:rPr sz="1200" b="0" i="0">
                <a:solidFill>
                  <a:srgbClr val="CBD5E1"/>
                </a:solidFill>
                <a:latin typeface="Calibri"/>
              </a:rPr>
              <a:t>Chạy API + WEB, chờ /health = 200 rồi mở trình duyệt</a:t>
            </a:r>
          </a:p>
        </p:txBody>
      </p:sp>
      <p:sp>
        <p:nvSpPr>
          <p:cNvPr id="38" name="Rounded Rectangle 37"/>
          <p:cNvSpPr/>
          <p:nvPr/>
        </p:nvSpPr>
        <p:spPr>
          <a:xfrm>
            <a:off x="548640" y="3749039"/>
            <a:ext cx="3566160" cy="132588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822960" y="3886200"/>
            <a:ext cx="3108960" cy="548640"/>
          </a:xfrm>
          <a:prstGeom prst="rect">
            <a:avLst/>
          </a:prstGeom>
          <a:noFill/>
        </p:spPr>
        <p:txBody>
          <a:bodyPr wrap="square" lIns="0" rIns="0" tIns="0" bIns="0" anchor="t">
            <a:spAutoFit/>
          </a:bodyPr>
          <a:lstStyle/>
          <a:p>
            <a:pPr algn="l">
              <a:lnSpc>
                <a:spcPct val="108000"/>
              </a:lnSpc>
              <a:spcAft>
                <a:spcPts val="400"/>
              </a:spcAft>
            </a:pPr>
            <a:r>
              <a:rPr sz="3000" b="1" i="0">
                <a:solidFill>
                  <a:srgbClr val="0D9488"/>
                </a:solidFill>
                <a:latin typeface="Calibri"/>
              </a:rPr>
              <a:t>SSE</a:t>
            </a:r>
          </a:p>
        </p:txBody>
      </p:sp>
      <p:sp>
        <p:nvSpPr>
          <p:cNvPr id="40" name="TextBox 39"/>
          <p:cNvSpPr txBox="1"/>
          <p:nvPr/>
        </p:nvSpPr>
        <p:spPr>
          <a:xfrm>
            <a:off x="822960" y="4480560"/>
            <a:ext cx="3108960" cy="548640"/>
          </a:xfrm>
          <a:prstGeom prst="rect">
            <a:avLst/>
          </a:prstGeom>
          <a:noFill/>
        </p:spPr>
        <p:txBody>
          <a:bodyPr wrap="square" lIns="0" rIns="0" tIns="0" bIns="0" anchor="t">
            <a:spAutoFit/>
          </a:bodyPr>
          <a:lstStyle/>
          <a:p>
            <a:pPr algn="l">
              <a:lnSpc>
                <a:spcPct val="108000"/>
              </a:lnSpc>
              <a:spcAft>
                <a:spcPts val="400"/>
              </a:spcAft>
            </a:pPr>
            <a:r>
              <a:rPr sz="1250" b="0" i="0">
                <a:solidFill>
                  <a:srgbClr val="475569"/>
                </a:solidFill>
                <a:latin typeface="Calibri"/>
              </a:rPr>
              <a:t>phát sự kiện sau commit, giao diện tải lại dữ liệu</a:t>
            </a:r>
          </a:p>
        </p:txBody>
      </p:sp>
      <p:sp>
        <p:nvSpPr>
          <p:cNvPr id="41" name="Rounded Rectangle 40"/>
          <p:cNvSpPr/>
          <p:nvPr/>
        </p:nvSpPr>
        <p:spPr>
          <a:xfrm>
            <a:off x="4315968" y="3749039"/>
            <a:ext cx="3566160" cy="132588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4590288" y="3886200"/>
            <a:ext cx="3108960" cy="548640"/>
          </a:xfrm>
          <a:prstGeom prst="rect">
            <a:avLst/>
          </a:prstGeom>
          <a:noFill/>
        </p:spPr>
        <p:txBody>
          <a:bodyPr wrap="square" lIns="0" rIns="0" tIns="0" bIns="0" anchor="t">
            <a:spAutoFit/>
          </a:bodyPr>
          <a:lstStyle/>
          <a:p>
            <a:pPr algn="l">
              <a:lnSpc>
                <a:spcPct val="108000"/>
              </a:lnSpc>
              <a:spcAft>
                <a:spcPts val="400"/>
              </a:spcAft>
            </a:pPr>
            <a:r>
              <a:rPr sz="3000" b="1" i="0">
                <a:solidFill>
                  <a:srgbClr val="0D9488"/>
                </a:solidFill>
                <a:latin typeface="Calibri"/>
              </a:rPr>
              <a:t>Migration</a:t>
            </a:r>
          </a:p>
        </p:txBody>
      </p:sp>
      <p:sp>
        <p:nvSpPr>
          <p:cNvPr id="43" name="TextBox 42"/>
          <p:cNvSpPr txBox="1"/>
          <p:nvPr/>
        </p:nvSpPr>
        <p:spPr>
          <a:xfrm>
            <a:off x="4590288" y="4480560"/>
            <a:ext cx="3108960" cy="548640"/>
          </a:xfrm>
          <a:prstGeom prst="rect">
            <a:avLst/>
          </a:prstGeom>
          <a:noFill/>
        </p:spPr>
        <p:txBody>
          <a:bodyPr wrap="square" lIns="0" rIns="0" tIns="0" bIns="0" anchor="t">
            <a:spAutoFit/>
          </a:bodyPr>
          <a:lstStyle/>
          <a:p>
            <a:pPr algn="l">
              <a:lnSpc>
                <a:spcPct val="108000"/>
              </a:lnSpc>
              <a:spcAft>
                <a:spcPts val="400"/>
              </a:spcAft>
            </a:pPr>
            <a:r>
              <a:rPr sz="1250" b="0" i="0">
                <a:solidFill>
                  <a:srgbClr val="475569"/>
                </a:solidFill>
                <a:latin typeface="Calibri"/>
              </a:rPr>
              <a:t>khoá nâng cấp; rollback bước lỗi; synchronize: false</a:t>
            </a:r>
          </a:p>
        </p:txBody>
      </p:sp>
      <p:sp>
        <p:nvSpPr>
          <p:cNvPr id="44" name="Rounded Rectangle 43"/>
          <p:cNvSpPr/>
          <p:nvPr/>
        </p:nvSpPr>
        <p:spPr>
          <a:xfrm>
            <a:off x="8083296" y="3749039"/>
            <a:ext cx="3566160" cy="132588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8357616" y="3886200"/>
            <a:ext cx="3108960" cy="548640"/>
          </a:xfrm>
          <a:prstGeom prst="rect">
            <a:avLst/>
          </a:prstGeom>
          <a:noFill/>
        </p:spPr>
        <p:txBody>
          <a:bodyPr wrap="square" lIns="0" rIns="0" tIns="0" bIns="0" anchor="t">
            <a:spAutoFit/>
          </a:bodyPr>
          <a:lstStyle/>
          <a:p>
            <a:pPr algn="l">
              <a:lnSpc>
                <a:spcPct val="108000"/>
              </a:lnSpc>
              <a:spcAft>
                <a:spcPts val="400"/>
              </a:spcAft>
            </a:pPr>
            <a:r>
              <a:rPr sz="3000" b="1" i="0">
                <a:solidFill>
                  <a:srgbClr val="0D9488"/>
                </a:solidFill>
                <a:latin typeface="Calibri"/>
              </a:rPr>
              <a:t>1-Click Update</a:t>
            </a:r>
          </a:p>
        </p:txBody>
      </p:sp>
      <p:sp>
        <p:nvSpPr>
          <p:cNvPr id="46" name="TextBox 45"/>
          <p:cNvSpPr txBox="1"/>
          <p:nvPr/>
        </p:nvSpPr>
        <p:spPr>
          <a:xfrm>
            <a:off x="8357616" y="4480560"/>
            <a:ext cx="3108960" cy="548640"/>
          </a:xfrm>
          <a:prstGeom prst="rect">
            <a:avLst/>
          </a:prstGeom>
          <a:noFill/>
        </p:spPr>
        <p:txBody>
          <a:bodyPr wrap="square" lIns="0" rIns="0" tIns="0" bIns="0" anchor="t">
            <a:spAutoFit/>
          </a:bodyPr>
          <a:lstStyle/>
          <a:p>
            <a:pPr algn="l">
              <a:lnSpc>
                <a:spcPct val="108000"/>
              </a:lnSpc>
              <a:spcAft>
                <a:spcPts val="400"/>
              </a:spcAft>
            </a:pPr>
            <a:r>
              <a:rPr sz="1250" b="0" i="0">
                <a:solidFill>
                  <a:srgbClr val="475569"/>
                </a:solidFill>
                <a:latin typeface="Calibri"/>
              </a:rPr>
              <a:t>build mới → sao lưu → migration → healthcheck</a:t>
            </a:r>
          </a:p>
        </p:txBody>
      </p:sp>
      <p:sp>
        <p:nvSpPr>
          <p:cNvPr id="47" name="TextBox 46"/>
          <p:cNvSpPr txBox="1"/>
          <p:nvPr/>
        </p:nvSpPr>
        <p:spPr>
          <a:xfrm>
            <a:off x="548640" y="5303520"/>
            <a:ext cx="11094415" cy="1097280"/>
          </a:xfrm>
          <a:prstGeom prst="rect">
            <a:avLst/>
          </a:prstGeom>
          <a:noFill/>
        </p:spPr>
        <p:txBody>
          <a:bodyPr wrap="square" lIns="0" rIns="0" tIns="0" bIns="0">
            <a:spAutoFit/>
          </a:bodyPr>
          <a:lstStyle/>
          <a:p>
            <a:pPr marL="256032" indent="-256032">
              <a:lnSpc>
                <a:spcPct val="105000"/>
              </a:lnSpc>
              <a:spcAft>
                <a:spcPts val="500"/>
              </a:spcAft>
              <a:buClr>
                <a:srgbClr val="0D9488"/>
              </a:buClr>
              <a:buFont typeface="Arial"/>
              <a:buChar char="•"/>
            </a:pPr>
            <a:r>
              <a:rPr sz="1350" b="1">
                <a:solidFill>
                  <a:srgbClr val="0F172A"/>
                </a:solidFill>
                <a:latin typeface="Calibri"/>
              </a:rPr>
              <a:t>Máy vận hành: </a:t>
            </a:r>
            <a:r>
              <a:rPr sz="1350" b="0">
                <a:solidFill>
                  <a:srgbClr val="0F172A"/>
                </a:solidFill>
                <a:latin typeface="Calibri"/>
              </a:rPr>
              <a:t>start_server.bat / update_project.bat; bootstrap, giữ dữ liệu khách, không nạp seed mẫu.</a:t>
            </a:r>
          </a:p>
          <a:p>
            <a:pPr marL="256032" indent="-256032">
              <a:lnSpc>
                <a:spcPct val="105000"/>
              </a:lnSpc>
              <a:spcAft>
                <a:spcPts val="500"/>
              </a:spcAft>
              <a:buClr>
                <a:srgbClr val="0D9488"/>
              </a:buClr>
              <a:buFont typeface="Arial"/>
              <a:buChar char="•"/>
            </a:pPr>
            <a:r>
              <a:rPr sz="1350" b="1">
                <a:solidFill>
                  <a:srgbClr val="0F172A"/>
                </a:solidFill>
                <a:latin typeface="Calibri"/>
              </a:rPr>
              <a:t>/health = 200 </a:t>
            </a:r>
            <a:r>
              <a:rPr sz="1350" b="0">
                <a:solidFill>
                  <a:srgbClr val="0F172A"/>
                </a:solidFill>
                <a:latin typeface="Calibri"/>
              </a:rPr>
              <a:t>chỉ khi API truy vấn được CSDL (503 nếu chưa) — trình duyệt không bao giờ mở trước khi hệ thống sẵn sàng.</a:t>
            </a:r>
          </a:p>
        </p:txBody>
      </p:sp>
      <p:sp>
        <p:nvSpPr>
          <p:cNvPr id="48" name="TextBox 47"/>
          <p:cNvSpPr txBox="1"/>
          <p:nvPr/>
        </p:nvSpPr>
        <p:spPr>
          <a:xfrm>
            <a:off x="548640" y="6446520"/>
            <a:ext cx="7315200" cy="228600"/>
          </a:xfrm>
          <a:prstGeom prst="rect">
            <a:avLst/>
          </a:prstGeom>
          <a:noFill/>
        </p:spPr>
        <p:txBody>
          <a:bodyPr wrap="square" lIns="0" rIns="0" tIns="0" bIns="0" anchor="t">
            <a:spAutoFit/>
          </a:bodyPr>
          <a:lstStyle/>
          <a:p>
            <a:pPr algn="l">
              <a:lnSpc>
                <a:spcPct val="108000"/>
              </a:lnSpc>
              <a:spcAft>
                <a:spcPts val="400"/>
              </a:spcAft>
            </a:pPr>
            <a:r>
              <a:rPr sz="1000" b="0" i="0">
                <a:solidFill>
                  <a:srgbClr val="94A3B8"/>
                </a:solidFill>
                <a:latin typeface="Calibri"/>
              </a:rPr>
              <a:t>Nhóm 3 · TTCS_T926_K2S3_N3 · Hệ thống Đặt lịch và Quản lý Vận hành Salon - Spa</a:t>
            </a:r>
          </a:p>
        </p:txBody>
      </p:sp>
      <p:sp>
        <p:nvSpPr>
          <p:cNvPr id="49" name="TextBox 48"/>
          <p:cNvSpPr txBox="1"/>
          <p:nvPr/>
        </p:nvSpPr>
        <p:spPr>
          <a:xfrm>
            <a:off x="10271455" y="6446520"/>
            <a:ext cx="1371600" cy="228600"/>
          </a:xfrm>
          <a:prstGeom prst="rect">
            <a:avLst/>
          </a:prstGeom>
          <a:noFill/>
        </p:spPr>
        <p:txBody>
          <a:bodyPr wrap="square" lIns="0" rIns="0" tIns="0" bIns="0" anchor="t">
            <a:spAutoFit/>
          </a:bodyPr>
          <a:lstStyle/>
          <a:p>
            <a:pPr algn="r">
              <a:lnSpc>
                <a:spcPct val="108000"/>
              </a:lnSpc>
              <a:spcAft>
                <a:spcPts val="400"/>
              </a:spcAft>
            </a:pPr>
            <a:r>
              <a:rPr sz="1000" b="0" i="0">
                <a:solidFill>
                  <a:srgbClr val="94A3B8"/>
                </a:solidFill>
                <a:latin typeface="Calibri"/>
              </a:rPr>
              <a:t>10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0D9488"/>
                </a:solidFill>
                <a:latin typeface="Calibri"/>
              </a:rPr>
              <a:t>11  ·  ĐẢM BẢO CHẤT LƯỢNG</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lnSpc>
                <a:spcPct val="108000"/>
              </a:lnSpc>
              <a:spcAft>
                <a:spcPts val="400"/>
              </a:spcAft>
            </a:pPr>
            <a:r>
              <a:rPr sz="3200" b="1" i="0">
                <a:solidFill>
                  <a:srgbClr val="0F172A"/>
                </a:solidFill>
                <a:latin typeface="Calibri"/>
              </a:rPr>
              <a:t>100% kiểm thử đạt · 0 cảnh báo lint · đồng bộ Backlog</a:t>
            </a:r>
          </a:p>
        </p:txBody>
      </p:sp>
      <p:sp>
        <p:nvSpPr>
          <p:cNvPr id="4" name="Rounded Rectangle 3"/>
          <p:cNvSpPr/>
          <p:nvPr/>
        </p:nvSpPr>
        <p:spPr>
          <a:xfrm>
            <a:off x="548640" y="1554480"/>
            <a:ext cx="2624328" cy="178308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04672" y="1719072"/>
            <a:ext cx="2167128" cy="731520"/>
          </a:xfrm>
          <a:prstGeom prst="rect">
            <a:avLst/>
          </a:prstGeom>
          <a:noFill/>
        </p:spPr>
        <p:txBody>
          <a:bodyPr wrap="square" lIns="0" rIns="0" tIns="0" bIns="0" anchor="t">
            <a:spAutoFit/>
          </a:bodyPr>
          <a:lstStyle/>
          <a:p>
            <a:pPr algn="l">
              <a:lnSpc>
                <a:spcPct val="108000"/>
              </a:lnSpc>
              <a:spcAft>
                <a:spcPts val="400"/>
              </a:spcAft>
            </a:pPr>
            <a:r>
              <a:rPr sz="4000" b="1" i="0">
                <a:solidFill>
                  <a:srgbClr val="0D9488"/>
                </a:solidFill>
                <a:latin typeface="Calibri"/>
              </a:rPr>
              <a:t>139/139</a:t>
            </a:r>
          </a:p>
        </p:txBody>
      </p:sp>
      <p:sp>
        <p:nvSpPr>
          <p:cNvPr id="6" name="TextBox 5"/>
          <p:cNvSpPr txBox="1"/>
          <p:nvPr/>
        </p:nvSpPr>
        <p:spPr>
          <a:xfrm>
            <a:off x="804672" y="2487168"/>
            <a:ext cx="2167128" cy="320040"/>
          </a:xfrm>
          <a:prstGeom prst="rect">
            <a:avLst/>
          </a:prstGeom>
          <a:noFill/>
        </p:spPr>
        <p:txBody>
          <a:bodyPr wrap="square" lIns="0" rIns="0" tIns="0" bIns="0" anchor="t">
            <a:spAutoFit/>
          </a:bodyPr>
          <a:lstStyle/>
          <a:p>
            <a:pPr algn="l">
              <a:lnSpc>
                <a:spcPct val="108000"/>
              </a:lnSpc>
              <a:spcAft>
                <a:spcPts val="400"/>
              </a:spcAft>
            </a:pPr>
            <a:r>
              <a:rPr sz="1500" b="1" i="0">
                <a:solidFill>
                  <a:srgbClr val="0F172A"/>
                </a:solidFill>
                <a:latin typeface="Calibri"/>
              </a:rPr>
              <a:t>Unit test đạt</a:t>
            </a:r>
          </a:p>
        </p:txBody>
      </p:sp>
      <p:sp>
        <p:nvSpPr>
          <p:cNvPr id="7" name="TextBox 6"/>
          <p:cNvSpPr txBox="1"/>
          <p:nvPr/>
        </p:nvSpPr>
        <p:spPr>
          <a:xfrm>
            <a:off x="804672" y="2834640"/>
            <a:ext cx="2167128" cy="365760"/>
          </a:xfrm>
          <a:prstGeom prst="rect">
            <a:avLst/>
          </a:prstGeom>
          <a:noFill/>
        </p:spPr>
        <p:txBody>
          <a:bodyPr wrap="square" lIns="0" rIns="0" tIns="0" bIns="0" anchor="t">
            <a:spAutoFit/>
          </a:bodyPr>
          <a:lstStyle/>
          <a:p>
            <a:pPr algn="l">
              <a:lnSpc>
                <a:spcPct val="108000"/>
              </a:lnSpc>
              <a:spcAft>
                <a:spcPts val="400"/>
              </a:spcAft>
            </a:pPr>
            <a:r>
              <a:rPr sz="1200" b="0" i="0">
                <a:solidFill>
                  <a:srgbClr val="475569"/>
                </a:solidFill>
                <a:latin typeface="Calibri"/>
              </a:rPr>
              <a:t>8 bộ kiểm thử nghiệp vụ</a:t>
            </a:r>
          </a:p>
        </p:txBody>
      </p:sp>
      <p:sp>
        <p:nvSpPr>
          <p:cNvPr id="8" name="Rounded Rectangle 7"/>
          <p:cNvSpPr/>
          <p:nvPr/>
        </p:nvSpPr>
        <p:spPr>
          <a:xfrm>
            <a:off x="3364992" y="1554480"/>
            <a:ext cx="2624328" cy="178308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621024" y="1719072"/>
            <a:ext cx="2167128" cy="731520"/>
          </a:xfrm>
          <a:prstGeom prst="rect">
            <a:avLst/>
          </a:prstGeom>
          <a:noFill/>
        </p:spPr>
        <p:txBody>
          <a:bodyPr wrap="square" lIns="0" rIns="0" tIns="0" bIns="0" anchor="t">
            <a:spAutoFit/>
          </a:bodyPr>
          <a:lstStyle/>
          <a:p>
            <a:pPr algn="l">
              <a:lnSpc>
                <a:spcPct val="108000"/>
              </a:lnSpc>
              <a:spcAft>
                <a:spcPts val="400"/>
              </a:spcAft>
            </a:pPr>
            <a:r>
              <a:rPr sz="4000" b="1" i="0">
                <a:solidFill>
                  <a:srgbClr val="0D9488"/>
                </a:solidFill>
                <a:latin typeface="Calibri"/>
              </a:rPr>
              <a:t>83/83</a:t>
            </a:r>
          </a:p>
        </p:txBody>
      </p:sp>
      <p:sp>
        <p:nvSpPr>
          <p:cNvPr id="10" name="TextBox 9"/>
          <p:cNvSpPr txBox="1"/>
          <p:nvPr/>
        </p:nvSpPr>
        <p:spPr>
          <a:xfrm>
            <a:off x="3621024" y="2487168"/>
            <a:ext cx="2167128" cy="320040"/>
          </a:xfrm>
          <a:prstGeom prst="rect">
            <a:avLst/>
          </a:prstGeom>
          <a:noFill/>
        </p:spPr>
        <p:txBody>
          <a:bodyPr wrap="square" lIns="0" rIns="0" tIns="0" bIns="0" anchor="t">
            <a:spAutoFit/>
          </a:bodyPr>
          <a:lstStyle/>
          <a:p>
            <a:pPr algn="l">
              <a:lnSpc>
                <a:spcPct val="108000"/>
              </a:lnSpc>
              <a:spcAft>
                <a:spcPts val="400"/>
              </a:spcAft>
            </a:pPr>
            <a:r>
              <a:rPr sz="1500" b="1" i="0">
                <a:solidFill>
                  <a:srgbClr val="0F172A"/>
                </a:solidFill>
                <a:latin typeface="Calibri"/>
              </a:rPr>
              <a:t>E2E test đạt</a:t>
            </a:r>
          </a:p>
        </p:txBody>
      </p:sp>
      <p:sp>
        <p:nvSpPr>
          <p:cNvPr id="11" name="TextBox 10"/>
          <p:cNvSpPr txBox="1"/>
          <p:nvPr/>
        </p:nvSpPr>
        <p:spPr>
          <a:xfrm>
            <a:off x="3621024" y="2834640"/>
            <a:ext cx="2167128" cy="365760"/>
          </a:xfrm>
          <a:prstGeom prst="rect">
            <a:avLst/>
          </a:prstGeom>
          <a:noFill/>
        </p:spPr>
        <p:txBody>
          <a:bodyPr wrap="square" lIns="0" rIns="0" tIns="0" bIns="0" anchor="t">
            <a:spAutoFit/>
          </a:bodyPr>
          <a:lstStyle/>
          <a:p>
            <a:pPr algn="l">
              <a:lnSpc>
                <a:spcPct val="108000"/>
              </a:lnSpc>
              <a:spcAft>
                <a:spcPts val="400"/>
              </a:spcAft>
            </a:pPr>
            <a:r>
              <a:rPr sz="1200" b="0" i="0">
                <a:solidFill>
                  <a:srgbClr val="475569"/>
                </a:solidFill>
                <a:latin typeface="Calibri"/>
              </a:rPr>
              <a:t>12 bộ PostgreSQL · Demo 4/4</a:t>
            </a:r>
          </a:p>
        </p:txBody>
      </p:sp>
      <p:sp>
        <p:nvSpPr>
          <p:cNvPr id="12" name="Rounded Rectangle 11"/>
          <p:cNvSpPr/>
          <p:nvPr/>
        </p:nvSpPr>
        <p:spPr>
          <a:xfrm>
            <a:off x="6181344" y="1554480"/>
            <a:ext cx="2624328" cy="178308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37376" y="1719072"/>
            <a:ext cx="2167128" cy="731520"/>
          </a:xfrm>
          <a:prstGeom prst="rect">
            <a:avLst/>
          </a:prstGeom>
          <a:noFill/>
        </p:spPr>
        <p:txBody>
          <a:bodyPr wrap="square" lIns="0" rIns="0" tIns="0" bIns="0" anchor="t">
            <a:spAutoFit/>
          </a:bodyPr>
          <a:lstStyle/>
          <a:p>
            <a:pPr algn="l">
              <a:lnSpc>
                <a:spcPct val="108000"/>
              </a:lnSpc>
              <a:spcAft>
                <a:spcPts val="400"/>
              </a:spcAft>
            </a:pPr>
            <a:r>
              <a:rPr sz="4000" b="1" i="0">
                <a:solidFill>
                  <a:srgbClr val="0D9488"/>
                </a:solidFill>
                <a:latin typeface="Calibri"/>
              </a:rPr>
              <a:t>0</a:t>
            </a:r>
          </a:p>
        </p:txBody>
      </p:sp>
      <p:sp>
        <p:nvSpPr>
          <p:cNvPr id="14" name="TextBox 13"/>
          <p:cNvSpPr txBox="1"/>
          <p:nvPr/>
        </p:nvSpPr>
        <p:spPr>
          <a:xfrm>
            <a:off x="6437376" y="2487168"/>
            <a:ext cx="2167128" cy="320040"/>
          </a:xfrm>
          <a:prstGeom prst="rect">
            <a:avLst/>
          </a:prstGeom>
          <a:noFill/>
        </p:spPr>
        <p:txBody>
          <a:bodyPr wrap="square" lIns="0" rIns="0" tIns="0" bIns="0" anchor="t">
            <a:spAutoFit/>
          </a:bodyPr>
          <a:lstStyle/>
          <a:p>
            <a:pPr algn="l">
              <a:lnSpc>
                <a:spcPct val="108000"/>
              </a:lnSpc>
              <a:spcAft>
                <a:spcPts val="400"/>
              </a:spcAft>
            </a:pPr>
            <a:r>
              <a:rPr sz="1500" b="1" i="0">
                <a:solidFill>
                  <a:srgbClr val="0F172A"/>
                </a:solidFill>
                <a:latin typeface="Calibri"/>
              </a:rPr>
              <a:t>Lỗi build · cảnh báo lint</a:t>
            </a:r>
          </a:p>
        </p:txBody>
      </p:sp>
      <p:sp>
        <p:nvSpPr>
          <p:cNvPr id="15" name="TextBox 14"/>
          <p:cNvSpPr txBox="1"/>
          <p:nvPr/>
        </p:nvSpPr>
        <p:spPr>
          <a:xfrm>
            <a:off x="6437376" y="2834640"/>
            <a:ext cx="2167128" cy="365760"/>
          </a:xfrm>
          <a:prstGeom prst="rect">
            <a:avLst/>
          </a:prstGeom>
          <a:noFill/>
        </p:spPr>
        <p:txBody>
          <a:bodyPr wrap="square" lIns="0" rIns="0" tIns="0" bIns="0" anchor="t">
            <a:spAutoFit/>
          </a:bodyPr>
          <a:lstStyle/>
          <a:p>
            <a:pPr algn="l">
              <a:lnSpc>
                <a:spcPct val="108000"/>
              </a:lnSpc>
              <a:spcAft>
                <a:spcPts val="400"/>
              </a:spcAft>
            </a:pPr>
            <a:r>
              <a:rPr sz="1200" b="0" i="0">
                <a:solidFill>
                  <a:srgbClr val="475569"/>
                </a:solidFill>
                <a:latin typeface="Calibri"/>
              </a:rPr>
              <a:t>tsc -b · ESLint --max-warnings 0</a:t>
            </a:r>
          </a:p>
        </p:txBody>
      </p:sp>
      <p:sp>
        <p:nvSpPr>
          <p:cNvPr id="16" name="Rounded Rectangle 15"/>
          <p:cNvSpPr/>
          <p:nvPr/>
        </p:nvSpPr>
        <p:spPr>
          <a:xfrm>
            <a:off x="8997696" y="1554480"/>
            <a:ext cx="2624328" cy="178308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253728" y="1719072"/>
            <a:ext cx="2167128" cy="731520"/>
          </a:xfrm>
          <a:prstGeom prst="rect">
            <a:avLst/>
          </a:prstGeom>
          <a:noFill/>
        </p:spPr>
        <p:txBody>
          <a:bodyPr wrap="square" lIns="0" rIns="0" tIns="0" bIns="0" anchor="t">
            <a:spAutoFit/>
          </a:bodyPr>
          <a:lstStyle/>
          <a:p>
            <a:pPr algn="l">
              <a:lnSpc>
                <a:spcPct val="108000"/>
              </a:lnSpc>
              <a:spcAft>
                <a:spcPts val="400"/>
              </a:spcAft>
            </a:pPr>
            <a:r>
              <a:rPr sz="4000" b="1" i="0">
                <a:solidFill>
                  <a:srgbClr val="0D9488"/>
                </a:solidFill>
                <a:latin typeface="Calibri"/>
              </a:rPr>
              <a:t>39 / 39</a:t>
            </a:r>
          </a:p>
        </p:txBody>
      </p:sp>
      <p:sp>
        <p:nvSpPr>
          <p:cNvPr id="18" name="TextBox 17"/>
          <p:cNvSpPr txBox="1"/>
          <p:nvPr/>
        </p:nvSpPr>
        <p:spPr>
          <a:xfrm>
            <a:off x="9253728" y="2487168"/>
            <a:ext cx="2167128" cy="320040"/>
          </a:xfrm>
          <a:prstGeom prst="rect">
            <a:avLst/>
          </a:prstGeom>
          <a:noFill/>
        </p:spPr>
        <p:txBody>
          <a:bodyPr wrap="square" lIns="0" rIns="0" tIns="0" bIns="0" anchor="t">
            <a:spAutoFit/>
          </a:bodyPr>
          <a:lstStyle/>
          <a:p>
            <a:pPr algn="l">
              <a:lnSpc>
                <a:spcPct val="108000"/>
              </a:lnSpc>
              <a:spcAft>
                <a:spcPts val="400"/>
              </a:spcAft>
            </a:pPr>
            <a:r>
              <a:rPr sz="1500" b="1" i="0">
                <a:solidFill>
                  <a:srgbClr val="0F172A"/>
                </a:solidFill>
                <a:latin typeface="Calibri"/>
              </a:rPr>
              <a:t>User story đối chiếu</a:t>
            </a:r>
          </a:p>
        </p:txBody>
      </p:sp>
      <p:sp>
        <p:nvSpPr>
          <p:cNvPr id="19" name="TextBox 18"/>
          <p:cNvSpPr txBox="1"/>
          <p:nvPr/>
        </p:nvSpPr>
        <p:spPr>
          <a:xfrm>
            <a:off x="9253728" y="2834640"/>
            <a:ext cx="2167128" cy="365760"/>
          </a:xfrm>
          <a:prstGeom prst="rect">
            <a:avLst/>
          </a:prstGeom>
          <a:noFill/>
        </p:spPr>
        <p:txBody>
          <a:bodyPr wrap="square" lIns="0" rIns="0" tIns="0" bIns="0" anchor="t">
            <a:spAutoFit/>
          </a:bodyPr>
          <a:lstStyle/>
          <a:p>
            <a:pPr algn="l">
              <a:lnSpc>
                <a:spcPct val="108000"/>
              </a:lnSpc>
              <a:spcAft>
                <a:spcPts val="400"/>
              </a:spcAft>
            </a:pPr>
            <a:r>
              <a:rPr sz="1200" b="0" i="0">
                <a:solidFill>
                  <a:srgbClr val="475569"/>
                </a:solidFill>
                <a:latin typeface="Calibri"/>
              </a:rPr>
              <a:t>4 Sprint · 165 Story Point</a:t>
            </a:r>
          </a:p>
        </p:txBody>
      </p:sp>
      <p:sp>
        <p:nvSpPr>
          <p:cNvPr id="20" name="TextBox 19"/>
          <p:cNvSpPr txBox="1"/>
          <p:nvPr/>
        </p:nvSpPr>
        <p:spPr>
          <a:xfrm>
            <a:off x="548640" y="3611880"/>
            <a:ext cx="7315200" cy="320040"/>
          </a:xfrm>
          <a:prstGeom prst="rect">
            <a:avLst/>
          </a:prstGeom>
          <a:noFill/>
        </p:spPr>
        <p:txBody>
          <a:bodyPr wrap="square" lIns="0" rIns="0" tIns="0" bIns="0" anchor="t">
            <a:spAutoFit/>
          </a:bodyPr>
          <a:lstStyle/>
          <a:p>
            <a:pPr algn="l">
              <a:lnSpc>
                <a:spcPct val="108000"/>
              </a:lnSpc>
              <a:spcAft>
                <a:spcPts val="400"/>
              </a:spcAft>
            </a:pPr>
            <a:r>
              <a:rPr sz="1600" b="1" i="0">
                <a:solidFill>
                  <a:srgbClr val="0F172A"/>
                </a:solidFill>
                <a:latin typeface="Calibri"/>
              </a:rPr>
              <a:t>Vòng phản hồi PO → phát hành có tag (Git Flow)</a:t>
            </a:r>
          </a:p>
        </p:txBody>
      </p:sp>
      <p:cxnSp>
        <p:nvCxnSpPr>
          <p:cNvPr id="21" name="Connector 20"/>
          <p:cNvCxnSpPr/>
          <p:nvPr/>
        </p:nvCxnSpPr>
        <p:spPr>
          <a:xfrm>
            <a:off x="1097280" y="4526280"/>
            <a:ext cx="9997135" cy="0"/>
          </a:xfrm>
          <a:prstGeom prst="line">
            <a:avLst/>
          </a:prstGeom>
          <a:ln w="38100">
            <a:solidFill>
              <a:srgbClr val="99F6E4"/>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969264" y="4398264"/>
            <a:ext cx="256032" cy="256032"/>
          </a:xfrm>
          <a:prstGeom prst="ellipse">
            <a:avLst/>
          </a:prstGeom>
          <a:solidFill>
            <a:srgbClr val="0D948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 y="3977640"/>
            <a:ext cx="2011680" cy="274320"/>
          </a:xfrm>
          <a:prstGeom prst="rect">
            <a:avLst/>
          </a:prstGeom>
          <a:noFill/>
        </p:spPr>
        <p:txBody>
          <a:bodyPr wrap="square" lIns="0" rIns="0" tIns="0" bIns="0" anchor="t">
            <a:spAutoFit/>
          </a:bodyPr>
          <a:lstStyle/>
          <a:p>
            <a:pPr algn="ctr">
              <a:lnSpc>
                <a:spcPct val="108000"/>
              </a:lnSpc>
              <a:spcAft>
                <a:spcPts val="400"/>
              </a:spcAft>
            </a:pPr>
            <a:r>
              <a:rPr sz="1200" b="0" i="0">
                <a:solidFill>
                  <a:srgbClr val="475569"/>
                </a:solidFill>
                <a:latin typeface="Calibri"/>
              </a:rPr>
              <a:t>25/09</a:t>
            </a:r>
          </a:p>
        </p:txBody>
      </p:sp>
      <p:sp>
        <p:nvSpPr>
          <p:cNvPr id="24" name="TextBox 23"/>
          <p:cNvSpPr txBox="1"/>
          <p:nvPr/>
        </p:nvSpPr>
        <p:spPr>
          <a:xfrm>
            <a:off x="91440" y="4773168"/>
            <a:ext cx="2011680" cy="320040"/>
          </a:xfrm>
          <a:prstGeom prst="rect">
            <a:avLst/>
          </a:prstGeom>
          <a:noFill/>
        </p:spPr>
        <p:txBody>
          <a:bodyPr wrap="square" lIns="0" rIns="0" tIns="0" bIns="0" anchor="t">
            <a:spAutoFit/>
          </a:bodyPr>
          <a:lstStyle/>
          <a:p>
            <a:pPr algn="ctr">
              <a:lnSpc>
                <a:spcPct val="108000"/>
              </a:lnSpc>
              <a:spcAft>
                <a:spcPts val="400"/>
              </a:spcAft>
            </a:pPr>
            <a:r>
              <a:rPr sz="1600" b="1" i="0">
                <a:solidFill>
                  <a:srgbClr val="0F172A"/>
                </a:solidFill>
                <a:latin typeface="Calibri"/>
              </a:rPr>
              <a:t>v1.1.0</a:t>
            </a:r>
          </a:p>
        </p:txBody>
      </p:sp>
      <p:sp>
        <p:nvSpPr>
          <p:cNvPr id="25" name="TextBox 24"/>
          <p:cNvSpPr txBox="1"/>
          <p:nvPr/>
        </p:nvSpPr>
        <p:spPr>
          <a:xfrm>
            <a:off x="91440" y="5093208"/>
            <a:ext cx="2011680" cy="274320"/>
          </a:xfrm>
          <a:prstGeom prst="rect">
            <a:avLst/>
          </a:prstGeom>
          <a:noFill/>
        </p:spPr>
        <p:txBody>
          <a:bodyPr wrap="square" lIns="0" rIns="0" tIns="0" bIns="0" anchor="t">
            <a:spAutoFit/>
          </a:bodyPr>
          <a:lstStyle/>
          <a:p>
            <a:pPr algn="ctr">
              <a:lnSpc>
                <a:spcPct val="108000"/>
              </a:lnSpc>
              <a:spcAft>
                <a:spcPts val="400"/>
              </a:spcAft>
            </a:pPr>
            <a:r>
              <a:rPr sz="1200" b="0" i="0">
                <a:solidFill>
                  <a:srgbClr val="475569"/>
                </a:solidFill>
                <a:latin typeface="Calibri"/>
              </a:rPr>
              <a:t>Giao diện Fresha</a:t>
            </a:r>
          </a:p>
        </p:txBody>
      </p:sp>
      <p:sp>
        <p:nvSpPr>
          <p:cNvPr id="26" name="Oval 25"/>
          <p:cNvSpPr/>
          <p:nvPr/>
        </p:nvSpPr>
        <p:spPr>
          <a:xfrm>
            <a:off x="3468547" y="4398264"/>
            <a:ext cx="256032" cy="256032"/>
          </a:xfrm>
          <a:prstGeom prst="ellipse">
            <a:avLst/>
          </a:prstGeom>
          <a:solidFill>
            <a:srgbClr val="0D948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590723" y="3977640"/>
            <a:ext cx="2011680" cy="274320"/>
          </a:xfrm>
          <a:prstGeom prst="rect">
            <a:avLst/>
          </a:prstGeom>
          <a:noFill/>
        </p:spPr>
        <p:txBody>
          <a:bodyPr wrap="square" lIns="0" rIns="0" tIns="0" bIns="0" anchor="t">
            <a:spAutoFit/>
          </a:bodyPr>
          <a:lstStyle/>
          <a:p>
            <a:pPr algn="ctr">
              <a:lnSpc>
                <a:spcPct val="108000"/>
              </a:lnSpc>
              <a:spcAft>
                <a:spcPts val="400"/>
              </a:spcAft>
            </a:pPr>
            <a:r>
              <a:rPr sz="1200" b="0" i="0">
                <a:solidFill>
                  <a:srgbClr val="475569"/>
                </a:solidFill>
                <a:latin typeface="Calibri"/>
              </a:rPr>
              <a:t>27/09</a:t>
            </a:r>
          </a:p>
        </p:txBody>
      </p:sp>
      <p:sp>
        <p:nvSpPr>
          <p:cNvPr id="28" name="TextBox 27"/>
          <p:cNvSpPr txBox="1"/>
          <p:nvPr/>
        </p:nvSpPr>
        <p:spPr>
          <a:xfrm>
            <a:off x="2590723" y="4773168"/>
            <a:ext cx="2011680" cy="320040"/>
          </a:xfrm>
          <a:prstGeom prst="rect">
            <a:avLst/>
          </a:prstGeom>
          <a:noFill/>
        </p:spPr>
        <p:txBody>
          <a:bodyPr wrap="square" lIns="0" rIns="0" tIns="0" bIns="0" anchor="t">
            <a:spAutoFit/>
          </a:bodyPr>
          <a:lstStyle/>
          <a:p>
            <a:pPr algn="ctr">
              <a:lnSpc>
                <a:spcPct val="108000"/>
              </a:lnSpc>
              <a:spcAft>
                <a:spcPts val="400"/>
              </a:spcAft>
            </a:pPr>
            <a:r>
              <a:rPr sz="1600" b="1" i="0">
                <a:solidFill>
                  <a:srgbClr val="0F172A"/>
                </a:solidFill>
                <a:latin typeface="Calibri"/>
              </a:rPr>
              <a:t>v1.2.0</a:t>
            </a:r>
          </a:p>
        </p:txBody>
      </p:sp>
      <p:sp>
        <p:nvSpPr>
          <p:cNvPr id="29" name="TextBox 28"/>
          <p:cNvSpPr txBox="1"/>
          <p:nvPr/>
        </p:nvSpPr>
        <p:spPr>
          <a:xfrm>
            <a:off x="2590723" y="5093208"/>
            <a:ext cx="2011680" cy="274320"/>
          </a:xfrm>
          <a:prstGeom prst="rect">
            <a:avLst/>
          </a:prstGeom>
          <a:noFill/>
        </p:spPr>
        <p:txBody>
          <a:bodyPr wrap="square" lIns="0" rIns="0" tIns="0" bIns="0" anchor="t">
            <a:spAutoFit/>
          </a:bodyPr>
          <a:lstStyle/>
          <a:p>
            <a:pPr algn="ctr">
              <a:lnSpc>
                <a:spcPct val="108000"/>
              </a:lnSpc>
              <a:spcAft>
                <a:spcPts val="400"/>
              </a:spcAft>
            </a:pPr>
            <a:r>
              <a:rPr sz="1200" b="0" i="0">
                <a:solidFill>
                  <a:srgbClr val="475569"/>
                </a:solidFill>
                <a:latin typeface="Calibri"/>
              </a:rPr>
              <a:t>15 + 8 lỗi Sprint 1</a:t>
            </a:r>
          </a:p>
        </p:txBody>
      </p:sp>
      <p:sp>
        <p:nvSpPr>
          <p:cNvPr id="30" name="Oval 29"/>
          <p:cNvSpPr/>
          <p:nvPr/>
        </p:nvSpPr>
        <p:spPr>
          <a:xfrm>
            <a:off x="5967831" y="4398264"/>
            <a:ext cx="256032" cy="256032"/>
          </a:xfrm>
          <a:prstGeom prst="ellipse">
            <a:avLst/>
          </a:prstGeom>
          <a:solidFill>
            <a:srgbClr val="0D948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90007" y="3977640"/>
            <a:ext cx="2011680" cy="274320"/>
          </a:xfrm>
          <a:prstGeom prst="rect">
            <a:avLst/>
          </a:prstGeom>
          <a:noFill/>
        </p:spPr>
        <p:txBody>
          <a:bodyPr wrap="square" lIns="0" rIns="0" tIns="0" bIns="0" anchor="t">
            <a:spAutoFit/>
          </a:bodyPr>
          <a:lstStyle/>
          <a:p>
            <a:pPr algn="ctr">
              <a:lnSpc>
                <a:spcPct val="108000"/>
              </a:lnSpc>
              <a:spcAft>
                <a:spcPts val="400"/>
              </a:spcAft>
            </a:pPr>
            <a:r>
              <a:rPr sz="1200" b="0" i="0">
                <a:solidFill>
                  <a:srgbClr val="475569"/>
                </a:solidFill>
                <a:latin typeface="Calibri"/>
              </a:rPr>
              <a:t>28/09</a:t>
            </a:r>
          </a:p>
        </p:txBody>
      </p:sp>
      <p:sp>
        <p:nvSpPr>
          <p:cNvPr id="32" name="TextBox 31"/>
          <p:cNvSpPr txBox="1"/>
          <p:nvPr/>
        </p:nvSpPr>
        <p:spPr>
          <a:xfrm>
            <a:off x="5090007" y="4773168"/>
            <a:ext cx="2011680" cy="320040"/>
          </a:xfrm>
          <a:prstGeom prst="rect">
            <a:avLst/>
          </a:prstGeom>
          <a:noFill/>
        </p:spPr>
        <p:txBody>
          <a:bodyPr wrap="square" lIns="0" rIns="0" tIns="0" bIns="0" anchor="t">
            <a:spAutoFit/>
          </a:bodyPr>
          <a:lstStyle/>
          <a:p>
            <a:pPr algn="ctr">
              <a:lnSpc>
                <a:spcPct val="108000"/>
              </a:lnSpc>
              <a:spcAft>
                <a:spcPts val="400"/>
              </a:spcAft>
            </a:pPr>
            <a:r>
              <a:rPr sz="1600" b="1" i="0">
                <a:solidFill>
                  <a:srgbClr val="0F172A"/>
                </a:solidFill>
                <a:latin typeface="Calibri"/>
              </a:rPr>
              <a:t>v1.2.1</a:t>
            </a:r>
          </a:p>
        </p:txBody>
      </p:sp>
      <p:sp>
        <p:nvSpPr>
          <p:cNvPr id="33" name="TextBox 32"/>
          <p:cNvSpPr txBox="1"/>
          <p:nvPr/>
        </p:nvSpPr>
        <p:spPr>
          <a:xfrm>
            <a:off x="5090007" y="5093208"/>
            <a:ext cx="2011680" cy="274320"/>
          </a:xfrm>
          <a:prstGeom prst="rect">
            <a:avLst/>
          </a:prstGeom>
          <a:noFill/>
        </p:spPr>
        <p:txBody>
          <a:bodyPr wrap="square" lIns="0" rIns="0" tIns="0" bIns="0" anchor="t">
            <a:spAutoFit/>
          </a:bodyPr>
          <a:lstStyle/>
          <a:p>
            <a:pPr algn="ctr">
              <a:lnSpc>
                <a:spcPct val="108000"/>
              </a:lnSpc>
              <a:spcAft>
                <a:spcPts val="400"/>
              </a:spcAft>
            </a:pPr>
            <a:r>
              <a:rPr sz="1200" b="0" i="0">
                <a:solidFill>
                  <a:srgbClr val="475569"/>
                </a:solidFill>
                <a:latin typeface="Calibri"/>
              </a:rPr>
              <a:t>6 lỗi tích hợp</a:t>
            </a:r>
          </a:p>
        </p:txBody>
      </p:sp>
      <p:sp>
        <p:nvSpPr>
          <p:cNvPr id="34" name="Oval 33"/>
          <p:cNvSpPr/>
          <p:nvPr/>
        </p:nvSpPr>
        <p:spPr>
          <a:xfrm>
            <a:off x="8467115" y="4398264"/>
            <a:ext cx="256032" cy="256032"/>
          </a:xfrm>
          <a:prstGeom prst="ellipse">
            <a:avLst/>
          </a:prstGeom>
          <a:solidFill>
            <a:srgbClr val="0D948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589291" y="3977640"/>
            <a:ext cx="2011680" cy="274320"/>
          </a:xfrm>
          <a:prstGeom prst="rect">
            <a:avLst/>
          </a:prstGeom>
          <a:noFill/>
        </p:spPr>
        <p:txBody>
          <a:bodyPr wrap="square" lIns="0" rIns="0" tIns="0" bIns="0" anchor="t">
            <a:spAutoFit/>
          </a:bodyPr>
          <a:lstStyle/>
          <a:p>
            <a:pPr algn="ctr">
              <a:lnSpc>
                <a:spcPct val="108000"/>
              </a:lnSpc>
              <a:spcAft>
                <a:spcPts val="400"/>
              </a:spcAft>
            </a:pPr>
            <a:r>
              <a:rPr sz="1200" b="0" i="0">
                <a:solidFill>
                  <a:srgbClr val="475569"/>
                </a:solidFill>
                <a:latin typeface="Calibri"/>
              </a:rPr>
              <a:t>28/09</a:t>
            </a:r>
          </a:p>
        </p:txBody>
      </p:sp>
      <p:sp>
        <p:nvSpPr>
          <p:cNvPr id="36" name="TextBox 35"/>
          <p:cNvSpPr txBox="1"/>
          <p:nvPr/>
        </p:nvSpPr>
        <p:spPr>
          <a:xfrm>
            <a:off x="7589291" y="4773168"/>
            <a:ext cx="2011680" cy="320040"/>
          </a:xfrm>
          <a:prstGeom prst="rect">
            <a:avLst/>
          </a:prstGeom>
          <a:noFill/>
        </p:spPr>
        <p:txBody>
          <a:bodyPr wrap="square" lIns="0" rIns="0" tIns="0" bIns="0" anchor="t">
            <a:spAutoFit/>
          </a:bodyPr>
          <a:lstStyle/>
          <a:p>
            <a:pPr algn="ctr">
              <a:lnSpc>
                <a:spcPct val="108000"/>
              </a:lnSpc>
              <a:spcAft>
                <a:spcPts val="400"/>
              </a:spcAft>
            </a:pPr>
            <a:r>
              <a:rPr sz="1600" b="1" i="0">
                <a:solidFill>
                  <a:srgbClr val="0F172A"/>
                </a:solidFill>
                <a:latin typeface="Calibri"/>
              </a:rPr>
              <a:t>v1.2.3</a:t>
            </a:r>
          </a:p>
        </p:txBody>
      </p:sp>
      <p:sp>
        <p:nvSpPr>
          <p:cNvPr id="37" name="TextBox 36"/>
          <p:cNvSpPr txBox="1"/>
          <p:nvPr/>
        </p:nvSpPr>
        <p:spPr>
          <a:xfrm>
            <a:off x="7589291" y="5093208"/>
            <a:ext cx="2011680" cy="274320"/>
          </a:xfrm>
          <a:prstGeom prst="rect">
            <a:avLst/>
          </a:prstGeom>
          <a:noFill/>
        </p:spPr>
        <p:txBody>
          <a:bodyPr wrap="square" lIns="0" rIns="0" tIns="0" bIns="0" anchor="t">
            <a:spAutoFit/>
          </a:bodyPr>
          <a:lstStyle/>
          <a:p>
            <a:pPr algn="ctr">
              <a:lnSpc>
                <a:spcPct val="108000"/>
              </a:lnSpc>
              <a:spcAft>
                <a:spcPts val="400"/>
              </a:spcAft>
            </a:pPr>
            <a:r>
              <a:rPr sz="1200" b="0" i="0">
                <a:solidFill>
                  <a:srgbClr val="475569"/>
                </a:solidFill>
                <a:latin typeface="Calibri"/>
              </a:rPr>
              <a:t>Launcher mọi máy</a:t>
            </a:r>
          </a:p>
        </p:txBody>
      </p:sp>
      <p:sp>
        <p:nvSpPr>
          <p:cNvPr id="38" name="Oval 37"/>
          <p:cNvSpPr/>
          <p:nvPr/>
        </p:nvSpPr>
        <p:spPr>
          <a:xfrm>
            <a:off x="10966399" y="4398264"/>
            <a:ext cx="256032" cy="256032"/>
          </a:xfrm>
          <a:prstGeom prst="ellipse">
            <a:avLst/>
          </a:prstGeom>
          <a:solidFill>
            <a:srgbClr val="0F172A"/>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88575" y="3977640"/>
            <a:ext cx="2011680" cy="274320"/>
          </a:xfrm>
          <a:prstGeom prst="rect">
            <a:avLst/>
          </a:prstGeom>
          <a:noFill/>
        </p:spPr>
        <p:txBody>
          <a:bodyPr wrap="square" lIns="0" rIns="0" tIns="0" bIns="0" anchor="t">
            <a:spAutoFit/>
          </a:bodyPr>
          <a:lstStyle/>
          <a:p>
            <a:pPr algn="ctr">
              <a:lnSpc>
                <a:spcPct val="108000"/>
              </a:lnSpc>
              <a:spcAft>
                <a:spcPts val="400"/>
              </a:spcAft>
            </a:pPr>
            <a:r>
              <a:rPr sz="1200" b="0" i="0">
                <a:solidFill>
                  <a:srgbClr val="475569"/>
                </a:solidFill>
                <a:latin typeface="Calibri"/>
              </a:rPr>
              <a:t>28/09</a:t>
            </a:r>
          </a:p>
        </p:txBody>
      </p:sp>
      <p:sp>
        <p:nvSpPr>
          <p:cNvPr id="40" name="TextBox 39"/>
          <p:cNvSpPr txBox="1"/>
          <p:nvPr/>
        </p:nvSpPr>
        <p:spPr>
          <a:xfrm>
            <a:off x="10088575" y="4773168"/>
            <a:ext cx="2011680" cy="320040"/>
          </a:xfrm>
          <a:prstGeom prst="rect">
            <a:avLst/>
          </a:prstGeom>
          <a:noFill/>
        </p:spPr>
        <p:txBody>
          <a:bodyPr wrap="square" lIns="0" rIns="0" tIns="0" bIns="0" anchor="t">
            <a:spAutoFit/>
          </a:bodyPr>
          <a:lstStyle/>
          <a:p>
            <a:pPr algn="ctr">
              <a:lnSpc>
                <a:spcPct val="108000"/>
              </a:lnSpc>
              <a:spcAft>
                <a:spcPts val="400"/>
              </a:spcAft>
            </a:pPr>
            <a:r>
              <a:rPr sz="1600" b="1" i="0">
                <a:solidFill>
                  <a:srgbClr val="0F172A"/>
                </a:solidFill>
                <a:latin typeface="Calibri"/>
              </a:rPr>
              <a:t>v1.2.5</a:t>
            </a:r>
          </a:p>
        </p:txBody>
      </p:sp>
      <p:sp>
        <p:nvSpPr>
          <p:cNvPr id="41" name="TextBox 40"/>
          <p:cNvSpPr txBox="1"/>
          <p:nvPr/>
        </p:nvSpPr>
        <p:spPr>
          <a:xfrm>
            <a:off x="10088575" y="5093208"/>
            <a:ext cx="2011680" cy="274320"/>
          </a:xfrm>
          <a:prstGeom prst="rect">
            <a:avLst/>
          </a:prstGeom>
          <a:noFill/>
        </p:spPr>
        <p:txBody>
          <a:bodyPr wrap="square" lIns="0" rIns="0" tIns="0" bIns="0" anchor="t">
            <a:spAutoFit/>
          </a:bodyPr>
          <a:lstStyle/>
          <a:p>
            <a:pPr algn="ctr">
              <a:lnSpc>
                <a:spcPct val="108000"/>
              </a:lnSpc>
              <a:spcAft>
                <a:spcPts val="400"/>
              </a:spcAft>
            </a:pPr>
            <a:r>
              <a:rPr sz="1200" b="0" i="0">
                <a:solidFill>
                  <a:srgbClr val="475569"/>
                </a:solidFill>
                <a:latin typeface="Calibri"/>
              </a:rPr>
              <a:t>Supervisor</a:t>
            </a:r>
          </a:p>
        </p:txBody>
      </p:sp>
      <p:sp>
        <p:nvSpPr>
          <p:cNvPr id="42" name="Rounded Rectangle 41"/>
          <p:cNvSpPr/>
          <p:nvPr/>
        </p:nvSpPr>
        <p:spPr>
          <a:xfrm>
            <a:off x="548640" y="5559552"/>
            <a:ext cx="11094415" cy="731520"/>
          </a:xfrm>
          <a:prstGeom prst="roundRect">
            <a:avLst>
              <a:gd name="adj" fmla="val 8000"/>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713232" y="5678424"/>
            <a:ext cx="493776" cy="493776"/>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check_w.png"/>
          <p:cNvPicPr>
            <a:picLocks noChangeAspect="1"/>
          </p:cNvPicPr>
          <p:nvPr/>
        </p:nvPicPr>
        <p:blipFill>
          <a:blip r:embed="rId2"/>
          <a:stretch>
            <a:fillRect/>
          </a:stretch>
        </p:blipFill>
        <p:spPr>
          <a:xfrm>
            <a:off x="831738" y="5796930"/>
            <a:ext cx="256764" cy="256764"/>
          </a:xfrm>
          <a:prstGeom prst="rect">
            <a:avLst/>
          </a:prstGeom>
        </p:spPr>
      </p:pic>
      <p:sp>
        <p:nvSpPr>
          <p:cNvPr id="45" name="TextBox 44"/>
          <p:cNvSpPr txBox="1"/>
          <p:nvPr/>
        </p:nvSpPr>
        <p:spPr>
          <a:xfrm>
            <a:off x="1371600" y="5669280"/>
            <a:ext cx="10088575" cy="548640"/>
          </a:xfrm>
          <a:prstGeom prst="rect">
            <a:avLst/>
          </a:prstGeom>
          <a:noFill/>
        </p:spPr>
        <p:txBody>
          <a:bodyPr wrap="square" lIns="0" rIns="0" tIns="0" bIns="0" anchor="ctr">
            <a:spAutoFit/>
          </a:bodyPr>
          <a:lstStyle/>
          <a:p>
            <a:pPr algn="l">
              <a:lnSpc>
                <a:spcPct val="108000"/>
              </a:lnSpc>
              <a:spcAft>
                <a:spcPts val="400"/>
              </a:spcAft>
            </a:pPr>
            <a:r>
              <a:rPr sz="1300" b="0" i="0">
                <a:solidFill>
                  <a:srgbClr val="0F766E"/>
                </a:solidFill>
                <a:latin typeface="Calibri"/>
              </a:rPr>
              <a:t>Định nghĩa Hoàn thành: review + merge vào develop · build &amp; lint sạch · test đạt · story đối chiếu trong BACKLOG-MAPPING · chạy được trên staging dựng bằng một lệnh.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0D9488"/>
                </a:solidFill>
                <a:latin typeface="Calibri"/>
              </a:rPr>
              <a:t>12  ·  DEMO TRỰC TIẾP</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lnSpc>
                <a:spcPct val="108000"/>
              </a:lnSpc>
              <a:spcAft>
                <a:spcPts val="400"/>
              </a:spcAft>
            </a:pPr>
            <a:r>
              <a:rPr sz="3200" b="1" i="0">
                <a:solidFill>
                  <a:srgbClr val="0F172A"/>
                </a:solidFill>
                <a:latin typeface="Calibri"/>
              </a:rPr>
              <a:t>Kịch bản 6 bước — mỗi bước một vai trò</a:t>
            </a:r>
          </a:p>
        </p:txBody>
      </p:sp>
      <p:sp>
        <p:nvSpPr>
          <p:cNvPr id="4" name="Rounded Rectangle 3"/>
          <p:cNvSpPr/>
          <p:nvPr/>
        </p:nvSpPr>
        <p:spPr>
          <a:xfrm>
            <a:off x="548640" y="1554480"/>
            <a:ext cx="3529584" cy="219456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04672" y="1810512"/>
            <a:ext cx="530352" cy="530352"/>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hone_w.png"/>
          <p:cNvPicPr>
            <a:picLocks noChangeAspect="1"/>
          </p:cNvPicPr>
          <p:nvPr/>
        </p:nvPicPr>
        <p:blipFill>
          <a:blip r:embed="rId2"/>
          <a:stretch>
            <a:fillRect/>
          </a:stretch>
        </p:blipFill>
        <p:spPr>
          <a:xfrm>
            <a:off x="931956" y="1937796"/>
            <a:ext cx="275784" cy="275784"/>
          </a:xfrm>
          <a:prstGeom prst="rect">
            <a:avLst/>
          </a:prstGeom>
        </p:spPr>
      </p:pic>
      <p:sp>
        <p:nvSpPr>
          <p:cNvPr id="7" name="TextBox 6"/>
          <p:cNvSpPr txBox="1"/>
          <p:nvPr/>
        </p:nvSpPr>
        <p:spPr>
          <a:xfrm>
            <a:off x="3209544" y="1737360"/>
            <a:ext cx="640080" cy="640080"/>
          </a:xfrm>
          <a:prstGeom prst="rect">
            <a:avLst/>
          </a:prstGeom>
          <a:noFill/>
        </p:spPr>
        <p:txBody>
          <a:bodyPr wrap="square" lIns="0" rIns="0" tIns="0" bIns="0" anchor="t">
            <a:spAutoFit/>
          </a:bodyPr>
          <a:lstStyle/>
          <a:p>
            <a:pPr algn="r">
              <a:lnSpc>
                <a:spcPct val="108000"/>
              </a:lnSpc>
              <a:spcAft>
                <a:spcPts val="400"/>
              </a:spcAft>
            </a:pPr>
            <a:r>
              <a:rPr sz="3600" b="1" i="0">
                <a:solidFill>
                  <a:srgbClr val="CCFBF1"/>
                </a:solidFill>
                <a:latin typeface="Calibri"/>
              </a:rPr>
              <a:t>1</a:t>
            </a:r>
          </a:p>
        </p:txBody>
      </p:sp>
      <p:sp>
        <p:nvSpPr>
          <p:cNvPr id="8" name="TextBox 7"/>
          <p:cNvSpPr txBox="1"/>
          <p:nvPr/>
        </p:nvSpPr>
        <p:spPr>
          <a:xfrm>
            <a:off x="804672" y="2468880"/>
            <a:ext cx="3072384" cy="320040"/>
          </a:xfrm>
          <a:prstGeom prst="rect">
            <a:avLst/>
          </a:prstGeom>
          <a:noFill/>
        </p:spPr>
        <p:txBody>
          <a:bodyPr wrap="square" lIns="0" rIns="0" tIns="0" bIns="0" anchor="t">
            <a:spAutoFit/>
          </a:bodyPr>
          <a:lstStyle/>
          <a:p>
            <a:pPr algn="l">
              <a:lnSpc>
                <a:spcPct val="108000"/>
              </a:lnSpc>
              <a:spcAft>
                <a:spcPts val="400"/>
              </a:spcAft>
            </a:pPr>
            <a:r>
              <a:rPr sz="1700" b="1" i="0">
                <a:solidFill>
                  <a:srgbClr val="0F172A"/>
                </a:solidFill>
                <a:latin typeface="Calibri"/>
              </a:rPr>
              <a:t>Khách đặt lịch</a:t>
            </a:r>
          </a:p>
        </p:txBody>
      </p:sp>
      <p:sp>
        <p:nvSpPr>
          <p:cNvPr id="9" name="TextBox 8"/>
          <p:cNvSpPr txBox="1"/>
          <p:nvPr/>
        </p:nvSpPr>
        <p:spPr>
          <a:xfrm>
            <a:off x="804672" y="2798064"/>
            <a:ext cx="3072384"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0F766E"/>
                </a:solidFill>
                <a:latin typeface="Calibri"/>
              </a:rPr>
              <a:t>Cửa sổ ẩn danh · /dat-lich</a:t>
            </a:r>
          </a:p>
        </p:txBody>
      </p:sp>
      <p:sp>
        <p:nvSpPr>
          <p:cNvPr id="10" name="TextBox 9"/>
          <p:cNvSpPr txBox="1"/>
          <p:nvPr/>
        </p:nvSpPr>
        <p:spPr>
          <a:xfrm>
            <a:off x="804672" y="3090672"/>
            <a:ext cx="3072384" cy="640080"/>
          </a:xfrm>
          <a:prstGeom prst="rect">
            <a:avLst/>
          </a:prstGeom>
          <a:noFill/>
        </p:spPr>
        <p:txBody>
          <a:bodyPr wrap="square" lIns="0" rIns="0" tIns="0" bIns="0" anchor="t">
            <a:spAutoFit/>
          </a:bodyPr>
          <a:lstStyle/>
          <a:p>
            <a:pPr algn="l">
              <a:lnSpc>
                <a:spcPct val="108000"/>
              </a:lnSpc>
              <a:spcAft>
                <a:spcPts val="400"/>
              </a:spcAft>
            </a:pPr>
            <a:r>
              <a:rPr sz="1250" b="0" i="0">
                <a:solidFill>
                  <a:srgbClr val="475569"/>
                </a:solidFill>
                <a:latin typeface="Calibri"/>
              </a:rPr>
              <a:t>Cắt tóc nam + Nhuộm → khung giờ 150 phút → mã 8 ký tự, email ở Maildev</a:t>
            </a:r>
          </a:p>
        </p:txBody>
      </p:sp>
      <p:sp>
        <p:nvSpPr>
          <p:cNvPr id="11" name="Rounded Rectangle 10"/>
          <p:cNvSpPr/>
          <p:nvPr/>
        </p:nvSpPr>
        <p:spPr>
          <a:xfrm>
            <a:off x="4315968" y="1554480"/>
            <a:ext cx="3529584" cy="219456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572000" y="1810512"/>
            <a:ext cx="530352" cy="530352"/>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ock_w.png"/>
          <p:cNvPicPr>
            <a:picLocks noChangeAspect="1"/>
          </p:cNvPicPr>
          <p:nvPr/>
        </p:nvPicPr>
        <p:blipFill>
          <a:blip r:embed="rId3"/>
          <a:stretch>
            <a:fillRect/>
          </a:stretch>
        </p:blipFill>
        <p:spPr>
          <a:xfrm>
            <a:off x="4699284" y="1937796"/>
            <a:ext cx="275784" cy="275784"/>
          </a:xfrm>
          <a:prstGeom prst="rect">
            <a:avLst/>
          </a:prstGeom>
        </p:spPr>
      </p:pic>
      <p:sp>
        <p:nvSpPr>
          <p:cNvPr id="14" name="TextBox 13"/>
          <p:cNvSpPr txBox="1"/>
          <p:nvPr/>
        </p:nvSpPr>
        <p:spPr>
          <a:xfrm>
            <a:off x="6976872" y="1737360"/>
            <a:ext cx="640080" cy="640080"/>
          </a:xfrm>
          <a:prstGeom prst="rect">
            <a:avLst/>
          </a:prstGeom>
          <a:noFill/>
        </p:spPr>
        <p:txBody>
          <a:bodyPr wrap="square" lIns="0" rIns="0" tIns="0" bIns="0" anchor="t">
            <a:spAutoFit/>
          </a:bodyPr>
          <a:lstStyle/>
          <a:p>
            <a:pPr algn="r">
              <a:lnSpc>
                <a:spcPct val="108000"/>
              </a:lnSpc>
              <a:spcAft>
                <a:spcPts val="400"/>
              </a:spcAft>
            </a:pPr>
            <a:r>
              <a:rPr sz="3600" b="1" i="0">
                <a:solidFill>
                  <a:srgbClr val="CCFBF1"/>
                </a:solidFill>
                <a:latin typeface="Calibri"/>
              </a:rPr>
              <a:t>2</a:t>
            </a:r>
          </a:p>
        </p:txBody>
      </p:sp>
      <p:sp>
        <p:nvSpPr>
          <p:cNvPr id="15" name="TextBox 14"/>
          <p:cNvSpPr txBox="1"/>
          <p:nvPr/>
        </p:nvSpPr>
        <p:spPr>
          <a:xfrm>
            <a:off x="4572000" y="2468880"/>
            <a:ext cx="3072384" cy="320040"/>
          </a:xfrm>
          <a:prstGeom prst="rect">
            <a:avLst/>
          </a:prstGeom>
          <a:noFill/>
        </p:spPr>
        <p:txBody>
          <a:bodyPr wrap="square" lIns="0" rIns="0" tIns="0" bIns="0" anchor="t">
            <a:spAutoFit/>
          </a:bodyPr>
          <a:lstStyle/>
          <a:p>
            <a:pPr algn="l">
              <a:lnSpc>
                <a:spcPct val="108000"/>
              </a:lnSpc>
              <a:spcAft>
                <a:spcPts val="400"/>
              </a:spcAft>
            </a:pPr>
            <a:r>
              <a:rPr sz="1700" b="1" i="0">
                <a:solidFill>
                  <a:srgbClr val="0F172A"/>
                </a:solidFill>
                <a:latin typeface="Calibri"/>
              </a:rPr>
              <a:t>Chống đặt trùng</a:t>
            </a:r>
          </a:p>
        </p:txBody>
      </p:sp>
      <p:sp>
        <p:nvSpPr>
          <p:cNvPr id="16" name="TextBox 15"/>
          <p:cNvSpPr txBox="1"/>
          <p:nvPr/>
        </p:nvSpPr>
        <p:spPr>
          <a:xfrm>
            <a:off x="4572000" y="2798064"/>
            <a:ext cx="3072384"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0F766E"/>
                </a:solidFill>
                <a:latin typeface="Calibri"/>
              </a:rPr>
              <a:t>Terminal</a:t>
            </a:r>
          </a:p>
        </p:txBody>
      </p:sp>
      <p:sp>
        <p:nvSpPr>
          <p:cNvPr id="17" name="TextBox 16"/>
          <p:cNvSpPr txBox="1"/>
          <p:nvPr/>
        </p:nvSpPr>
        <p:spPr>
          <a:xfrm>
            <a:off x="4572000" y="3090672"/>
            <a:ext cx="3072384" cy="640080"/>
          </a:xfrm>
          <a:prstGeom prst="rect">
            <a:avLst/>
          </a:prstGeom>
          <a:noFill/>
        </p:spPr>
        <p:txBody>
          <a:bodyPr wrap="square" lIns="0" rIns="0" tIns="0" bIns="0" anchor="t">
            <a:spAutoFit/>
          </a:bodyPr>
          <a:lstStyle/>
          <a:p>
            <a:pPr algn="l">
              <a:lnSpc>
                <a:spcPct val="108000"/>
              </a:lnSpc>
              <a:spcAft>
                <a:spcPts val="400"/>
              </a:spcAft>
            </a:pPr>
            <a:r>
              <a:rPr sz="1250" b="0" i="0">
                <a:solidFill>
                  <a:srgbClr val="475569"/>
                </a:solidFill>
                <a:latin typeface="Calibri"/>
              </a:rPr>
              <a:t>npm run test:e2e -- booking-concurrency → 1 thành công / 19 nhận 409</a:t>
            </a:r>
          </a:p>
        </p:txBody>
      </p:sp>
      <p:sp>
        <p:nvSpPr>
          <p:cNvPr id="18" name="Rounded Rectangle 17"/>
          <p:cNvSpPr/>
          <p:nvPr/>
        </p:nvSpPr>
        <p:spPr>
          <a:xfrm>
            <a:off x="8083296" y="1554480"/>
            <a:ext cx="3529584" cy="219456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339328" y="1810512"/>
            <a:ext cx="530352" cy="530352"/>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alendar_w.png"/>
          <p:cNvPicPr>
            <a:picLocks noChangeAspect="1"/>
          </p:cNvPicPr>
          <p:nvPr/>
        </p:nvPicPr>
        <p:blipFill>
          <a:blip r:embed="rId4"/>
          <a:stretch>
            <a:fillRect/>
          </a:stretch>
        </p:blipFill>
        <p:spPr>
          <a:xfrm>
            <a:off x="8466612" y="1937796"/>
            <a:ext cx="275784" cy="275784"/>
          </a:xfrm>
          <a:prstGeom prst="rect">
            <a:avLst/>
          </a:prstGeom>
        </p:spPr>
      </p:pic>
      <p:sp>
        <p:nvSpPr>
          <p:cNvPr id="21" name="TextBox 20"/>
          <p:cNvSpPr txBox="1"/>
          <p:nvPr/>
        </p:nvSpPr>
        <p:spPr>
          <a:xfrm>
            <a:off x="10744200" y="1737360"/>
            <a:ext cx="640080" cy="640080"/>
          </a:xfrm>
          <a:prstGeom prst="rect">
            <a:avLst/>
          </a:prstGeom>
          <a:noFill/>
        </p:spPr>
        <p:txBody>
          <a:bodyPr wrap="square" lIns="0" rIns="0" tIns="0" bIns="0" anchor="t">
            <a:spAutoFit/>
          </a:bodyPr>
          <a:lstStyle/>
          <a:p>
            <a:pPr algn="r">
              <a:lnSpc>
                <a:spcPct val="108000"/>
              </a:lnSpc>
              <a:spcAft>
                <a:spcPts val="400"/>
              </a:spcAft>
            </a:pPr>
            <a:r>
              <a:rPr sz="3600" b="1" i="0">
                <a:solidFill>
                  <a:srgbClr val="CCFBF1"/>
                </a:solidFill>
                <a:latin typeface="Calibri"/>
              </a:rPr>
              <a:t>3</a:t>
            </a:r>
          </a:p>
        </p:txBody>
      </p:sp>
      <p:sp>
        <p:nvSpPr>
          <p:cNvPr id="22" name="TextBox 21"/>
          <p:cNvSpPr txBox="1"/>
          <p:nvPr/>
        </p:nvSpPr>
        <p:spPr>
          <a:xfrm>
            <a:off x="8339328" y="2468880"/>
            <a:ext cx="3072384" cy="320040"/>
          </a:xfrm>
          <a:prstGeom prst="rect">
            <a:avLst/>
          </a:prstGeom>
          <a:noFill/>
        </p:spPr>
        <p:txBody>
          <a:bodyPr wrap="square" lIns="0" rIns="0" tIns="0" bIns="0" anchor="t">
            <a:spAutoFit/>
          </a:bodyPr>
          <a:lstStyle/>
          <a:p>
            <a:pPr algn="l">
              <a:lnSpc>
                <a:spcPct val="108000"/>
              </a:lnSpc>
              <a:spcAft>
                <a:spcPts val="400"/>
              </a:spcAft>
            </a:pPr>
            <a:r>
              <a:rPr sz="1700" b="1" i="0">
                <a:solidFill>
                  <a:srgbClr val="0F172A"/>
                </a:solidFill>
                <a:latin typeface="Calibri"/>
              </a:rPr>
              <a:t>Lễ tân điều phối</a:t>
            </a:r>
          </a:p>
        </p:txBody>
      </p:sp>
      <p:sp>
        <p:nvSpPr>
          <p:cNvPr id="23" name="TextBox 22"/>
          <p:cNvSpPr txBox="1"/>
          <p:nvPr/>
        </p:nvSpPr>
        <p:spPr>
          <a:xfrm>
            <a:off x="8339328" y="2798064"/>
            <a:ext cx="3072384"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0F766E"/>
                </a:solidFill>
                <a:latin typeface="Calibri"/>
              </a:rPr>
              <a:t>reception@salon.vn</a:t>
            </a:r>
          </a:p>
        </p:txBody>
      </p:sp>
      <p:sp>
        <p:nvSpPr>
          <p:cNvPr id="24" name="TextBox 23"/>
          <p:cNvSpPr txBox="1"/>
          <p:nvPr/>
        </p:nvSpPr>
        <p:spPr>
          <a:xfrm>
            <a:off x="8339328" y="3090672"/>
            <a:ext cx="3072384" cy="640080"/>
          </a:xfrm>
          <a:prstGeom prst="rect">
            <a:avLst/>
          </a:prstGeom>
          <a:noFill/>
        </p:spPr>
        <p:txBody>
          <a:bodyPr wrap="square" lIns="0" rIns="0" tIns="0" bIns="0" anchor="t">
            <a:spAutoFit/>
          </a:bodyPr>
          <a:lstStyle/>
          <a:p>
            <a:pPr algn="l">
              <a:lnSpc>
                <a:spcPct val="108000"/>
              </a:lnSpc>
              <a:spcAft>
                <a:spcPts val="400"/>
              </a:spcAft>
            </a:pPr>
            <a:r>
              <a:rPr sz="1250" b="0" i="0">
                <a:solidFill>
                  <a:srgbClr val="475569"/>
                </a:solidFill>
                <a:latin typeface="Calibri"/>
              </a:rPr>
              <a:t>Xác nhận lịch vừa đặt, tạo khách vãng lai, check-in trên Lịch ngày</a:t>
            </a:r>
          </a:p>
        </p:txBody>
      </p:sp>
      <p:sp>
        <p:nvSpPr>
          <p:cNvPr id="25" name="Rounded Rectangle 24"/>
          <p:cNvSpPr/>
          <p:nvPr/>
        </p:nvSpPr>
        <p:spPr>
          <a:xfrm>
            <a:off x="548640" y="3977640"/>
            <a:ext cx="3529584" cy="219456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04672" y="4233672"/>
            <a:ext cx="530352" cy="530352"/>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scissors_w.png"/>
          <p:cNvPicPr>
            <a:picLocks noChangeAspect="1"/>
          </p:cNvPicPr>
          <p:nvPr/>
        </p:nvPicPr>
        <p:blipFill>
          <a:blip r:embed="rId5"/>
          <a:stretch>
            <a:fillRect/>
          </a:stretch>
        </p:blipFill>
        <p:spPr>
          <a:xfrm>
            <a:off x="931956" y="4360956"/>
            <a:ext cx="275784" cy="275784"/>
          </a:xfrm>
          <a:prstGeom prst="rect">
            <a:avLst/>
          </a:prstGeom>
        </p:spPr>
      </p:pic>
      <p:sp>
        <p:nvSpPr>
          <p:cNvPr id="28" name="TextBox 27"/>
          <p:cNvSpPr txBox="1"/>
          <p:nvPr/>
        </p:nvSpPr>
        <p:spPr>
          <a:xfrm>
            <a:off x="3209544" y="4160520"/>
            <a:ext cx="640080" cy="640080"/>
          </a:xfrm>
          <a:prstGeom prst="rect">
            <a:avLst/>
          </a:prstGeom>
          <a:noFill/>
        </p:spPr>
        <p:txBody>
          <a:bodyPr wrap="square" lIns="0" rIns="0" tIns="0" bIns="0" anchor="t">
            <a:spAutoFit/>
          </a:bodyPr>
          <a:lstStyle/>
          <a:p>
            <a:pPr algn="r">
              <a:lnSpc>
                <a:spcPct val="108000"/>
              </a:lnSpc>
              <a:spcAft>
                <a:spcPts val="400"/>
              </a:spcAft>
            </a:pPr>
            <a:r>
              <a:rPr sz="3600" b="1" i="0">
                <a:solidFill>
                  <a:srgbClr val="CCFBF1"/>
                </a:solidFill>
                <a:latin typeface="Calibri"/>
              </a:rPr>
              <a:t>4</a:t>
            </a:r>
          </a:p>
        </p:txBody>
      </p:sp>
      <p:sp>
        <p:nvSpPr>
          <p:cNvPr id="29" name="TextBox 28"/>
          <p:cNvSpPr txBox="1"/>
          <p:nvPr/>
        </p:nvSpPr>
        <p:spPr>
          <a:xfrm>
            <a:off x="804672" y="4892040"/>
            <a:ext cx="3072384" cy="320040"/>
          </a:xfrm>
          <a:prstGeom prst="rect">
            <a:avLst/>
          </a:prstGeom>
          <a:noFill/>
        </p:spPr>
        <p:txBody>
          <a:bodyPr wrap="square" lIns="0" rIns="0" tIns="0" bIns="0" anchor="t">
            <a:spAutoFit/>
          </a:bodyPr>
          <a:lstStyle/>
          <a:p>
            <a:pPr algn="l">
              <a:lnSpc>
                <a:spcPct val="108000"/>
              </a:lnSpc>
              <a:spcAft>
                <a:spcPts val="400"/>
              </a:spcAft>
            </a:pPr>
            <a:r>
              <a:rPr sz="1700" b="1" i="0">
                <a:solidFill>
                  <a:srgbClr val="0F172A"/>
                </a:solidFill>
                <a:latin typeface="Calibri"/>
              </a:rPr>
              <a:t>Thợ phục vụ</a:t>
            </a:r>
          </a:p>
        </p:txBody>
      </p:sp>
      <p:sp>
        <p:nvSpPr>
          <p:cNvPr id="30" name="TextBox 29"/>
          <p:cNvSpPr txBox="1"/>
          <p:nvPr/>
        </p:nvSpPr>
        <p:spPr>
          <a:xfrm>
            <a:off x="804672" y="5221224"/>
            <a:ext cx="3072384"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0F766E"/>
                </a:solidFill>
                <a:latin typeface="Calibri"/>
              </a:rPr>
              <a:t>stylist1@salon.vn</a:t>
            </a:r>
          </a:p>
        </p:txBody>
      </p:sp>
      <p:sp>
        <p:nvSpPr>
          <p:cNvPr id="31" name="TextBox 30"/>
          <p:cNvSpPr txBox="1"/>
          <p:nvPr/>
        </p:nvSpPr>
        <p:spPr>
          <a:xfrm>
            <a:off x="804672" y="5513832"/>
            <a:ext cx="3072384" cy="640080"/>
          </a:xfrm>
          <a:prstGeom prst="rect">
            <a:avLst/>
          </a:prstGeom>
          <a:noFill/>
        </p:spPr>
        <p:txBody>
          <a:bodyPr wrap="square" lIns="0" rIns="0" tIns="0" bIns="0" anchor="t">
            <a:spAutoFit/>
          </a:bodyPr>
          <a:lstStyle/>
          <a:p>
            <a:pPr algn="l">
              <a:lnSpc>
                <a:spcPct val="108000"/>
              </a:lnSpc>
              <a:spcAft>
                <a:spcPts val="400"/>
              </a:spcAft>
            </a:pPr>
            <a:r>
              <a:rPr sz="1250" b="0" i="0">
                <a:solidFill>
                  <a:srgbClr val="475569"/>
                </a:solidFill>
                <a:latin typeface="Calibri"/>
              </a:rPr>
              <a:t>Bắt đầu → Hoàn tất; SĐT khách hiển thị 098***1234; ghi chú kỹ thuật</a:t>
            </a:r>
          </a:p>
        </p:txBody>
      </p:sp>
      <p:sp>
        <p:nvSpPr>
          <p:cNvPr id="32" name="Rounded Rectangle 31"/>
          <p:cNvSpPr/>
          <p:nvPr/>
        </p:nvSpPr>
        <p:spPr>
          <a:xfrm>
            <a:off x="4315968" y="3977640"/>
            <a:ext cx="3529584" cy="219456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4572000" y="4233672"/>
            <a:ext cx="530352" cy="530352"/>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receipt_w.png"/>
          <p:cNvPicPr>
            <a:picLocks noChangeAspect="1"/>
          </p:cNvPicPr>
          <p:nvPr/>
        </p:nvPicPr>
        <p:blipFill>
          <a:blip r:embed="rId6"/>
          <a:stretch>
            <a:fillRect/>
          </a:stretch>
        </p:blipFill>
        <p:spPr>
          <a:xfrm>
            <a:off x="4699284" y="4360956"/>
            <a:ext cx="275784" cy="275784"/>
          </a:xfrm>
          <a:prstGeom prst="rect">
            <a:avLst/>
          </a:prstGeom>
        </p:spPr>
      </p:pic>
      <p:sp>
        <p:nvSpPr>
          <p:cNvPr id="35" name="TextBox 34"/>
          <p:cNvSpPr txBox="1"/>
          <p:nvPr/>
        </p:nvSpPr>
        <p:spPr>
          <a:xfrm>
            <a:off x="6976872" y="4160520"/>
            <a:ext cx="640080" cy="640080"/>
          </a:xfrm>
          <a:prstGeom prst="rect">
            <a:avLst/>
          </a:prstGeom>
          <a:noFill/>
        </p:spPr>
        <p:txBody>
          <a:bodyPr wrap="square" lIns="0" rIns="0" tIns="0" bIns="0" anchor="t">
            <a:spAutoFit/>
          </a:bodyPr>
          <a:lstStyle/>
          <a:p>
            <a:pPr algn="r">
              <a:lnSpc>
                <a:spcPct val="108000"/>
              </a:lnSpc>
              <a:spcAft>
                <a:spcPts val="400"/>
              </a:spcAft>
            </a:pPr>
            <a:r>
              <a:rPr sz="3600" b="1" i="0">
                <a:solidFill>
                  <a:srgbClr val="CCFBF1"/>
                </a:solidFill>
                <a:latin typeface="Calibri"/>
              </a:rPr>
              <a:t>5</a:t>
            </a:r>
          </a:p>
        </p:txBody>
      </p:sp>
      <p:sp>
        <p:nvSpPr>
          <p:cNvPr id="36" name="TextBox 35"/>
          <p:cNvSpPr txBox="1"/>
          <p:nvPr/>
        </p:nvSpPr>
        <p:spPr>
          <a:xfrm>
            <a:off x="4572000" y="4892040"/>
            <a:ext cx="3072384" cy="320040"/>
          </a:xfrm>
          <a:prstGeom prst="rect">
            <a:avLst/>
          </a:prstGeom>
          <a:noFill/>
        </p:spPr>
        <p:txBody>
          <a:bodyPr wrap="square" lIns="0" rIns="0" tIns="0" bIns="0" anchor="t">
            <a:spAutoFit/>
          </a:bodyPr>
          <a:lstStyle/>
          <a:p>
            <a:pPr algn="l">
              <a:lnSpc>
                <a:spcPct val="108000"/>
              </a:lnSpc>
              <a:spcAft>
                <a:spcPts val="400"/>
              </a:spcAft>
            </a:pPr>
            <a:r>
              <a:rPr sz="1700" b="1" i="0">
                <a:solidFill>
                  <a:srgbClr val="0F172A"/>
                </a:solidFill>
                <a:latin typeface="Calibri"/>
              </a:rPr>
              <a:t>Thu tiền</a:t>
            </a:r>
          </a:p>
        </p:txBody>
      </p:sp>
      <p:sp>
        <p:nvSpPr>
          <p:cNvPr id="37" name="TextBox 36"/>
          <p:cNvSpPr txBox="1"/>
          <p:nvPr/>
        </p:nvSpPr>
        <p:spPr>
          <a:xfrm>
            <a:off x="4572000" y="5221224"/>
            <a:ext cx="3072384"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0F766E"/>
                </a:solidFill>
                <a:latin typeface="Calibri"/>
              </a:rPr>
              <a:t>reception@salon.vn</a:t>
            </a:r>
          </a:p>
        </p:txBody>
      </p:sp>
      <p:sp>
        <p:nvSpPr>
          <p:cNvPr id="38" name="TextBox 37"/>
          <p:cNvSpPr txBox="1"/>
          <p:nvPr/>
        </p:nvSpPr>
        <p:spPr>
          <a:xfrm>
            <a:off x="4572000" y="5513832"/>
            <a:ext cx="3072384" cy="640080"/>
          </a:xfrm>
          <a:prstGeom prst="rect">
            <a:avLst/>
          </a:prstGeom>
          <a:noFill/>
        </p:spPr>
        <p:txBody>
          <a:bodyPr wrap="square" lIns="0" rIns="0" tIns="0" bIns="0" anchor="t">
            <a:spAutoFit/>
          </a:bodyPr>
          <a:lstStyle/>
          <a:p>
            <a:pPr algn="l">
              <a:lnSpc>
                <a:spcPct val="108000"/>
              </a:lnSpc>
              <a:spcAft>
                <a:spcPts val="400"/>
              </a:spcAft>
            </a:pPr>
            <a:r>
              <a:rPr sz="1250" b="0" i="0">
                <a:solidFill>
                  <a:srgbClr val="475569"/>
                </a:solidFill>
                <a:latin typeface="Calibri"/>
              </a:rPr>
              <a:t>Lập phiếu, mã NGAYTHUONG10 → 270.000 đ, đóng phiếu → email đánh giá</a:t>
            </a:r>
          </a:p>
        </p:txBody>
      </p:sp>
      <p:sp>
        <p:nvSpPr>
          <p:cNvPr id="39" name="Rounded Rectangle 38"/>
          <p:cNvSpPr/>
          <p:nvPr/>
        </p:nvSpPr>
        <p:spPr>
          <a:xfrm>
            <a:off x="8083296" y="3977640"/>
            <a:ext cx="3529584" cy="219456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8339328" y="4233672"/>
            <a:ext cx="530352" cy="530352"/>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chart_w.png"/>
          <p:cNvPicPr>
            <a:picLocks noChangeAspect="1"/>
          </p:cNvPicPr>
          <p:nvPr/>
        </p:nvPicPr>
        <p:blipFill>
          <a:blip r:embed="rId7"/>
          <a:stretch>
            <a:fillRect/>
          </a:stretch>
        </p:blipFill>
        <p:spPr>
          <a:xfrm>
            <a:off x="8466612" y="4360956"/>
            <a:ext cx="275784" cy="275784"/>
          </a:xfrm>
          <a:prstGeom prst="rect">
            <a:avLst/>
          </a:prstGeom>
        </p:spPr>
      </p:pic>
      <p:sp>
        <p:nvSpPr>
          <p:cNvPr id="42" name="TextBox 41"/>
          <p:cNvSpPr txBox="1"/>
          <p:nvPr/>
        </p:nvSpPr>
        <p:spPr>
          <a:xfrm>
            <a:off x="10744200" y="4160520"/>
            <a:ext cx="640080" cy="640080"/>
          </a:xfrm>
          <a:prstGeom prst="rect">
            <a:avLst/>
          </a:prstGeom>
          <a:noFill/>
        </p:spPr>
        <p:txBody>
          <a:bodyPr wrap="square" lIns="0" rIns="0" tIns="0" bIns="0" anchor="t">
            <a:spAutoFit/>
          </a:bodyPr>
          <a:lstStyle/>
          <a:p>
            <a:pPr algn="r">
              <a:lnSpc>
                <a:spcPct val="108000"/>
              </a:lnSpc>
              <a:spcAft>
                <a:spcPts val="400"/>
              </a:spcAft>
            </a:pPr>
            <a:r>
              <a:rPr sz="3600" b="1" i="0">
                <a:solidFill>
                  <a:srgbClr val="CCFBF1"/>
                </a:solidFill>
                <a:latin typeface="Calibri"/>
              </a:rPr>
              <a:t>6</a:t>
            </a:r>
          </a:p>
        </p:txBody>
      </p:sp>
      <p:sp>
        <p:nvSpPr>
          <p:cNvPr id="43" name="TextBox 42"/>
          <p:cNvSpPr txBox="1"/>
          <p:nvPr/>
        </p:nvSpPr>
        <p:spPr>
          <a:xfrm>
            <a:off x="8339328" y="4892040"/>
            <a:ext cx="3072384" cy="320040"/>
          </a:xfrm>
          <a:prstGeom prst="rect">
            <a:avLst/>
          </a:prstGeom>
          <a:noFill/>
        </p:spPr>
        <p:txBody>
          <a:bodyPr wrap="square" lIns="0" rIns="0" tIns="0" bIns="0" anchor="t">
            <a:spAutoFit/>
          </a:bodyPr>
          <a:lstStyle/>
          <a:p>
            <a:pPr algn="l">
              <a:lnSpc>
                <a:spcPct val="108000"/>
              </a:lnSpc>
              <a:spcAft>
                <a:spcPts val="400"/>
              </a:spcAft>
            </a:pPr>
            <a:r>
              <a:rPr sz="1700" b="1" i="0">
                <a:solidFill>
                  <a:srgbClr val="0F172A"/>
                </a:solidFill>
                <a:latin typeface="Calibri"/>
              </a:rPr>
              <a:t>Báo cáo &amp; kiểm soát</a:t>
            </a:r>
          </a:p>
        </p:txBody>
      </p:sp>
      <p:sp>
        <p:nvSpPr>
          <p:cNvPr id="44" name="TextBox 43"/>
          <p:cNvSpPr txBox="1"/>
          <p:nvPr/>
        </p:nvSpPr>
        <p:spPr>
          <a:xfrm>
            <a:off x="8339328" y="5221224"/>
            <a:ext cx="3072384"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0F766E"/>
                </a:solidFill>
                <a:latin typeface="Calibri"/>
              </a:rPr>
              <a:t>owner@ · admin@</a:t>
            </a:r>
          </a:p>
        </p:txBody>
      </p:sp>
      <p:sp>
        <p:nvSpPr>
          <p:cNvPr id="45" name="TextBox 44"/>
          <p:cNvSpPr txBox="1"/>
          <p:nvPr/>
        </p:nvSpPr>
        <p:spPr>
          <a:xfrm>
            <a:off x="8339328" y="5513832"/>
            <a:ext cx="3072384" cy="640080"/>
          </a:xfrm>
          <a:prstGeom prst="rect">
            <a:avLst/>
          </a:prstGeom>
          <a:noFill/>
        </p:spPr>
        <p:txBody>
          <a:bodyPr wrap="square" lIns="0" rIns="0" tIns="0" bIns="0" anchor="t">
            <a:spAutoFit/>
          </a:bodyPr>
          <a:lstStyle/>
          <a:p>
            <a:pPr algn="l">
              <a:lnSpc>
                <a:spcPct val="108000"/>
              </a:lnSpc>
              <a:spcAft>
                <a:spcPts val="400"/>
              </a:spcAft>
            </a:pPr>
            <a:r>
              <a:rPr sz="1250" b="0" i="0">
                <a:solidFill>
                  <a:srgbClr val="475569"/>
                </a:solidFill>
                <a:latin typeface="Calibri"/>
              </a:rPr>
              <a:t>Doanh thu cộng đúng thợ, xuất CSV; Nhật ký ghi mọi thao tác</a:t>
            </a:r>
          </a:p>
        </p:txBody>
      </p:sp>
      <p:sp>
        <p:nvSpPr>
          <p:cNvPr id="46" name="TextBox 45"/>
          <p:cNvSpPr txBox="1"/>
          <p:nvPr/>
        </p:nvSpPr>
        <p:spPr>
          <a:xfrm>
            <a:off x="548640" y="6446520"/>
            <a:ext cx="7315200" cy="228600"/>
          </a:xfrm>
          <a:prstGeom prst="rect">
            <a:avLst/>
          </a:prstGeom>
          <a:noFill/>
        </p:spPr>
        <p:txBody>
          <a:bodyPr wrap="square" lIns="0" rIns="0" tIns="0" bIns="0" anchor="t">
            <a:spAutoFit/>
          </a:bodyPr>
          <a:lstStyle/>
          <a:p>
            <a:pPr algn="l">
              <a:lnSpc>
                <a:spcPct val="108000"/>
              </a:lnSpc>
              <a:spcAft>
                <a:spcPts val="400"/>
              </a:spcAft>
            </a:pPr>
            <a:r>
              <a:rPr sz="1000" b="0" i="0">
                <a:solidFill>
                  <a:srgbClr val="94A3B8"/>
                </a:solidFill>
                <a:latin typeface="Calibri"/>
              </a:rPr>
              <a:t>Nhóm 3 · TTCS_T926_K2S3_N3 · Hệ thống Đặt lịch và Quản lý Vận hành Salon - Spa</a:t>
            </a:r>
          </a:p>
        </p:txBody>
      </p:sp>
      <p:sp>
        <p:nvSpPr>
          <p:cNvPr id="47" name="TextBox 46"/>
          <p:cNvSpPr txBox="1"/>
          <p:nvPr/>
        </p:nvSpPr>
        <p:spPr>
          <a:xfrm>
            <a:off x="10271455" y="6446520"/>
            <a:ext cx="1371600" cy="228600"/>
          </a:xfrm>
          <a:prstGeom prst="rect">
            <a:avLst/>
          </a:prstGeom>
          <a:noFill/>
        </p:spPr>
        <p:txBody>
          <a:bodyPr wrap="square" lIns="0" rIns="0" tIns="0" bIns="0" anchor="t">
            <a:spAutoFit/>
          </a:bodyPr>
          <a:lstStyle/>
          <a:p>
            <a:pPr algn="r">
              <a:lnSpc>
                <a:spcPct val="108000"/>
              </a:lnSpc>
              <a:spcAft>
                <a:spcPts val="400"/>
              </a:spcAft>
            </a:pPr>
            <a:r>
              <a:rPr sz="1000" b="0" i="0">
                <a:solidFill>
                  <a:srgbClr val="94A3B8"/>
                </a:solidFill>
                <a:latin typeface="Calibri"/>
              </a:rPr>
              <a:t>12 /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548640"/>
            <a:ext cx="7315200"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5EEAD4"/>
                </a:solidFill>
                <a:latin typeface="Calibri"/>
              </a:rPr>
              <a:t>13  ·  KẾT LUẬN</a:t>
            </a:r>
          </a:p>
        </p:txBody>
      </p:sp>
      <p:sp>
        <p:nvSpPr>
          <p:cNvPr id="3" name="TextBox 2"/>
          <p:cNvSpPr txBox="1"/>
          <p:nvPr/>
        </p:nvSpPr>
        <p:spPr>
          <a:xfrm>
            <a:off x="548640" y="868680"/>
            <a:ext cx="6766560" cy="1280160"/>
          </a:xfrm>
          <a:prstGeom prst="rect">
            <a:avLst/>
          </a:prstGeom>
          <a:noFill/>
        </p:spPr>
        <p:txBody>
          <a:bodyPr wrap="square" lIns="0" rIns="0" tIns="0" bIns="0" anchor="t">
            <a:spAutoFit/>
          </a:bodyPr>
          <a:lstStyle/>
          <a:p>
            <a:pPr algn="l">
              <a:lnSpc>
                <a:spcPct val="100000"/>
              </a:lnSpc>
              <a:spcAft>
                <a:spcPts val="400"/>
              </a:spcAft>
            </a:pPr>
            <a:r>
              <a:rPr sz="3600" b="1" i="0">
                <a:solidFill>
                  <a:srgbClr val="FFFFFF"/>
                </a:solidFill>
                <a:latin typeface="Calibri"/>
              </a:rPr>
              <a:t>Từ sổ tay đến một hệ thống vận hành trọn vẹn</a:t>
            </a:r>
          </a:p>
        </p:txBody>
      </p:sp>
      <p:sp>
        <p:nvSpPr>
          <p:cNvPr id="4" name="Oval 3"/>
          <p:cNvSpPr/>
          <p:nvPr/>
        </p:nvSpPr>
        <p:spPr>
          <a:xfrm>
            <a:off x="548640" y="2468880"/>
            <a:ext cx="384048" cy="38404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eck_w.png"/>
          <p:cNvPicPr>
            <a:picLocks noChangeAspect="1"/>
          </p:cNvPicPr>
          <p:nvPr/>
        </p:nvPicPr>
        <p:blipFill>
          <a:blip r:embed="rId2"/>
          <a:stretch>
            <a:fillRect/>
          </a:stretch>
        </p:blipFill>
        <p:spPr>
          <a:xfrm>
            <a:off x="630936" y="2551176"/>
            <a:ext cx="219456" cy="219456"/>
          </a:xfrm>
          <a:prstGeom prst="rect">
            <a:avLst/>
          </a:prstGeom>
        </p:spPr>
      </p:pic>
      <p:sp>
        <p:nvSpPr>
          <p:cNvPr id="6" name="TextBox 5"/>
          <p:cNvSpPr txBox="1"/>
          <p:nvPr/>
        </p:nvSpPr>
        <p:spPr>
          <a:xfrm>
            <a:off x="1143000" y="2423160"/>
            <a:ext cx="6035040" cy="320040"/>
          </a:xfrm>
          <a:prstGeom prst="rect">
            <a:avLst/>
          </a:prstGeom>
          <a:noFill/>
        </p:spPr>
        <p:txBody>
          <a:bodyPr wrap="square" lIns="0" rIns="0" tIns="0" bIns="0" anchor="t">
            <a:spAutoFit/>
          </a:bodyPr>
          <a:lstStyle/>
          <a:p>
            <a:pPr algn="l">
              <a:lnSpc>
                <a:spcPct val="108000"/>
              </a:lnSpc>
              <a:spcAft>
                <a:spcPts val="400"/>
              </a:spcAft>
            </a:pPr>
            <a:r>
              <a:rPr sz="1800" b="1" i="0">
                <a:solidFill>
                  <a:srgbClr val="FFFFFF"/>
                </a:solidFill>
                <a:latin typeface="Calibri"/>
              </a:rPr>
              <a:t>39 / 39 story · 165 point</a:t>
            </a:r>
          </a:p>
        </p:txBody>
      </p:sp>
      <p:sp>
        <p:nvSpPr>
          <p:cNvPr id="7" name="TextBox 6"/>
          <p:cNvSpPr txBox="1"/>
          <p:nvPr/>
        </p:nvSpPr>
        <p:spPr>
          <a:xfrm>
            <a:off x="1143000" y="2770632"/>
            <a:ext cx="6035040" cy="320040"/>
          </a:xfrm>
          <a:prstGeom prst="rect">
            <a:avLst/>
          </a:prstGeom>
          <a:noFill/>
        </p:spPr>
        <p:txBody>
          <a:bodyPr wrap="square" lIns="0" rIns="0" tIns="0" bIns="0" anchor="t">
            <a:spAutoFit/>
          </a:bodyPr>
          <a:lstStyle/>
          <a:p>
            <a:pPr algn="l">
              <a:lnSpc>
                <a:spcPct val="108000"/>
              </a:lnSpc>
              <a:spcAft>
                <a:spcPts val="400"/>
              </a:spcAft>
            </a:pPr>
            <a:r>
              <a:rPr sz="1350" b="0" i="0">
                <a:solidFill>
                  <a:srgbClr val="CBD5E1"/>
                </a:solidFill>
                <a:latin typeface="Calibri"/>
              </a:rPr>
              <a:t>Hoàn thành toàn bộ Product Backlog trong 4 Sprint</a:t>
            </a:r>
          </a:p>
        </p:txBody>
      </p:sp>
      <p:sp>
        <p:nvSpPr>
          <p:cNvPr id="8" name="Oval 7"/>
          <p:cNvSpPr/>
          <p:nvPr/>
        </p:nvSpPr>
        <p:spPr>
          <a:xfrm>
            <a:off x="548640" y="3337560"/>
            <a:ext cx="384048" cy="38404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heck_w.png"/>
          <p:cNvPicPr>
            <a:picLocks noChangeAspect="1"/>
          </p:cNvPicPr>
          <p:nvPr/>
        </p:nvPicPr>
        <p:blipFill>
          <a:blip r:embed="rId2"/>
          <a:stretch>
            <a:fillRect/>
          </a:stretch>
        </p:blipFill>
        <p:spPr>
          <a:xfrm>
            <a:off x="630936" y="3419856"/>
            <a:ext cx="219456" cy="219456"/>
          </a:xfrm>
          <a:prstGeom prst="rect">
            <a:avLst/>
          </a:prstGeom>
        </p:spPr>
      </p:pic>
      <p:sp>
        <p:nvSpPr>
          <p:cNvPr id="10" name="TextBox 9"/>
          <p:cNvSpPr txBox="1"/>
          <p:nvPr/>
        </p:nvSpPr>
        <p:spPr>
          <a:xfrm>
            <a:off x="1143000" y="3291840"/>
            <a:ext cx="6035040" cy="320040"/>
          </a:xfrm>
          <a:prstGeom prst="rect">
            <a:avLst/>
          </a:prstGeom>
          <a:noFill/>
        </p:spPr>
        <p:txBody>
          <a:bodyPr wrap="square" lIns="0" rIns="0" tIns="0" bIns="0" anchor="t">
            <a:spAutoFit/>
          </a:bodyPr>
          <a:lstStyle/>
          <a:p>
            <a:pPr algn="l">
              <a:lnSpc>
                <a:spcPct val="108000"/>
              </a:lnSpc>
              <a:spcAft>
                <a:spcPts val="400"/>
              </a:spcAft>
            </a:pPr>
            <a:r>
              <a:rPr sz="1800" b="1" i="0">
                <a:solidFill>
                  <a:srgbClr val="FFFFFF"/>
                </a:solidFill>
                <a:latin typeface="Calibri"/>
              </a:rPr>
              <a:t>Không chồng lịch</a:t>
            </a:r>
          </a:p>
        </p:txBody>
      </p:sp>
      <p:sp>
        <p:nvSpPr>
          <p:cNvPr id="11" name="TextBox 10"/>
          <p:cNvSpPr txBox="1"/>
          <p:nvPr/>
        </p:nvSpPr>
        <p:spPr>
          <a:xfrm>
            <a:off x="1143000" y="3639312"/>
            <a:ext cx="6035040" cy="320040"/>
          </a:xfrm>
          <a:prstGeom prst="rect">
            <a:avLst/>
          </a:prstGeom>
          <a:noFill/>
        </p:spPr>
        <p:txBody>
          <a:bodyPr wrap="square" lIns="0" rIns="0" tIns="0" bIns="0" anchor="t">
            <a:spAutoFit/>
          </a:bodyPr>
          <a:lstStyle/>
          <a:p>
            <a:pPr algn="l">
              <a:lnSpc>
                <a:spcPct val="108000"/>
              </a:lnSpc>
              <a:spcAft>
                <a:spcPts val="400"/>
              </a:spcAft>
            </a:pPr>
            <a:r>
              <a:rPr sz="1350" b="0" i="0">
                <a:solidFill>
                  <a:srgbClr val="CBD5E1"/>
                </a:solidFill>
                <a:latin typeface="Calibri"/>
              </a:rPr>
              <a:t>Ba lớp bảo vệ, chứng minh bằng 20 yêu cầu đồng thời</a:t>
            </a:r>
          </a:p>
        </p:txBody>
      </p:sp>
      <p:sp>
        <p:nvSpPr>
          <p:cNvPr id="12" name="Oval 11"/>
          <p:cNvSpPr/>
          <p:nvPr/>
        </p:nvSpPr>
        <p:spPr>
          <a:xfrm>
            <a:off x="548640" y="4206240"/>
            <a:ext cx="384048" cy="38404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w.png"/>
          <p:cNvPicPr>
            <a:picLocks noChangeAspect="1"/>
          </p:cNvPicPr>
          <p:nvPr/>
        </p:nvPicPr>
        <p:blipFill>
          <a:blip r:embed="rId2"/>
          <a:stretch>
            <a:fillRect/>
          </a:stretch>
        </p:blipFill>
        <p:spPr>
          <a:xfrm>
            <a:off x="630936" y="4288536"/>
            <a:ext cx="219456" cy="219456"/>
          </a:xfrm>
          <a:prstGeom prst="rect">
            <a:avLst/>
          </a:prstGeom>
        </p:spPr>
      </p:pic>
      <p:sp>
        <p:nvSpPr>
          <p:cNvPr id="14" name="TextBox 13"/>
          <p:cNvSpPr txBox="1"/>
          <p:nvPr/>
        </p:nvSpPr>
        <p:spPr>
          <a:xfrm>
            <a:off x="1143000" y="4160520"/>
            <a:ext cx="6035040" cy="320040"/>
          </a:xfrm>
          <a:prstGeom prst="rect">
            <a:avLst/>
          </a:prstGeom>
          <a:noFill/>
        </p:spPr>
        <p:txBody>
          <a:bodyPr wrap="square" lIns="0" rIns="0" tIns="0" bIns="0" anchor="t">
            <a:spAutoFit/>
          </a:bodyPr>
          <a:lstStyle/>
          <a:p>
            <a:pPr algn="l">
              <a:lnSpc>
                <a:spcPct val="108000"/>
              </a:lnSpc>
              <a:spcAft>
                <a:spcPts val="400"/>
              </a:spcAft>
            </a:pPr>
            <a:r>
              <a:rPr sz="1800" b="1" i="0">
                <a:solidFill>
                  <a:srgbClr val="FFFFFF"/>
                </a:solidFill>
                <a:latin typeface="Calibri"/>
              </a:rPr>
              <a:t>Minh bạch doanh thu</a:t>
            </a:r>
          </a:p>
        </p:txBody>
      </p:sp>
      <p:sp>
        <p:nvSpPr>
          <p:cNvPr id="15" name="TextBox 14"/>
          <p:cNvSpPr txBox="1"/>
          <p:nvPr/>
        </p:nvSpPr>
        <p:spPr>
          <a:xfrm>
            <a:off x="1143000" y="4507992"/>
            <a:ext cx="6035040" cy="320040"/>
          </a:xfrm>
          <a:prstGeom prst="rect">
            <a:avLst/>
          </a:prstGeom>
          <a:noFill/>
        </p:spPr>
        <p:txBody>
          <a:bodyPr wrap="square" lIns="0" rIns="0" tIns="0" bIns="0" anchor="t">
            <a:spAutoFit/>
          </a:bodyPr>
          <a:lstStyle/>
          <a:p>
            <a:pPr algn="l">
              <a:lnSpc>
                <a:spcPct val="108000"/>
              </a:lnSpc>
              <a:spcAft>
                <a:spcPts val="400"/>
              </a:spcAft>
            </a:pPr>
            <a:r>
              <a:rPr sz="1350" b="0" i="0">
                <a:solidFill>
                  <a:srgbClr val="CBD5E1"/>
                </a:solidFill>
                <a:latin typeface="Calibri"/>
              </a:rPr>
              <a:t>Phiếu khoá, nhật ký chỉ đọc, RBAC 5 vai trò</a:t>
            </a:r>
          </a:p>
        </p:txBody>
      </p:sp>
      <p:sp>
        <p:nvSpPr>
          <p:cNvPr id="16" name="Oval 15"/>
          <p:cNvSpPr/>
          <p:nvPr/>
        </p:nvSpPr>
        <p:spPr>
          <a:xfrm>
            <a:off x="548640" y="5074920"/>
            <a:ext cx="384048" cy="38404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w.png"/>
          <p:cNvPicPr>
            <a:picLocks noChangeAspect="1"/>
          </p:cNvPicPr>
          <p:nvPr/>
        </p:nvPicPr>
        <p:blipFill>
          <a:blip r:embed="rId2"/>
          <a:stretch>
            <a:fillRect/>
          </a:stretch>
        </p:blipFill>
        <p:spPr>
          <a:xfrm>
            <a:off x="630936" y="5157216"/>
            <a:ext cx="219456" cy="219456"/>
          </a:xfrm>
          <a:prstGeom prst="rect">
            <a:avLst/>
          </a:prstGeom>
        </p:spPr>
      </p:pic>
      <p:sp>
        <p:nvSpPr>
          <p:cNvPr id="18" name="TextBox 17"/>
          <p:cNvSpPr txBox="1"/>
          <p:nvPr/>
        </p:nvSpPr>
        <p:spPr>
          <a:xfrm>
            <a:off x="1143000" y="5029200"/>
            <a:ext cx="6035040" cy="320040"/>
          </a:xfrm>
          <a:prstGeom prst="rect">
            <a:avLst/>
          </a:prstGeom>
          <a:noFill/>
        </p:spPr>
        <p:txBody>
          <a:bodyPr wrap="square" lIns="0" rIns="0" tIns="0" bIns="0" anchor="t">
            <a:spAutoFit/>
          </a:bodyPr>
          <a:lstStyle/>
          <a:p>
            <a:pPr algn="l">
              <a:lnSpc>
                <a:spcPct val="108000"/>
              </a:lnSpc>
              <a:spcAft>
                <a:spcPts val="400"/>
              </a:spcAft>
            </a:pPr>
            <a:r>
              <a:rPr sz="1800" b="1" i="0">
                <a:solidFill>
                  <a:srgbClr val="FFFFFF"/>
                </a:solidFill>
                <a:latin typeface="Calibri"/>
              </a:rPr>
              <a:t>Triển khai 1 chạm</a:t>
            </a:r>
          </a:p>
        </p:txBody>
      </p:sp>
      <p:sp>
        <p:nvSpPr>
          <p:cNvPr id="19" name="TextBox 18"/>
          <p:cNvSpPr txBox="1"/>
          <p:nvPr/>
        </p:nvSpPr>
        <p:spPr>
          <a:xfrm>
            <a:off x="1143000" y="5376672"/>
            <a:ext cx="6035040" cy="320040"/>
          </a:xfrm>
          <a:prstGeom prst="rect">
            <a:avLst/>
          </a:prstGeom>
          <a:noFill/>
        </p:spPr>
        <p:txBody>
          <a:bodyPr wrap="square" lIns="0" rIns="0" tIns="0" bIns="0" anchor="t">
            <a:spAutoFit/>
          </a:bodyPr>
          <a:lstStyle/>
          <a:p>
            <a:pPr algn="l">
              <a:lnSpc>
                <a:spcPct val="108000"/>
              </a:lnSpc>
              <a:spcAft>
                <a:spcPts val="400"/>
              </a:spcAft>
            </a:pPr>
            <a:r>
              <a:rPr sz="1350" b="0" i="0">
                <a:solidFill>
                  <a:srgbClr val="CBD5E1"/>
                </a:solidFill>
                <a:latin typeface="Calibri"/>
              </a:rPr>
              <a:t>Tự phục hồi trên Windows, macOS, Linux</a:t>
            </a:r>
          </a:p>
        </p:txBody>
      </p:sp>
      <p:sp>
        <p:nvSpPr>
          <p:cNvPr id="20" name="TextBox 19"/>
          <p:cNvSpPr txBox="1"/>
          <p:nvPr/>
        </p:nvSpPr>
        <p:spPr>
          <a:xfrm>
            <a:off x="548640" y="5989320"/>
            <a:ext cx="6858000" cy="274320"/>
          </a:xfrm>
          <a:prstGeom prst="rect">
            <a:avLst/>
          </a:prstGeom>
          <a:noFill/>
        </p:spPr>
        <p:txBody>
          <a:bodyPr wrap="square" lIns="0" rIns="0" tIns="0" bIns="0" anchor="t">
            <a:spAutoFit/>
          </a:bodyPr>
          <a:lstStyle/>
          <a:p>
            <a:pPr algn="l">
              <a:lnSpc>
                <a:spcPct val="108000"/>
              </a:lnSpc>
              <a:spcAft>
                <a:spcPts val="400"/>
              </a:spcAft>
            </a:pPr>
            <a:r>
              <a:rPr sz="1250" b="0" i="0">
                <a:solidFill>
                  <a:srgbClr val="94A3B8"/>
                </a:solidFill>
                <a:latin typeface="Calibri"/>
              </a:rPr>
              <a:t>Hướng phát triển: thanh toán &amp; đặt cọc online · nhắc lịch Zalo/SMS · đa chi nhánh · CI/CD</a:t>
            </a:r>
          </a:p>
        </p:txBody>
      </p:sp>
      <p:sp>
        <p:nvSpPr>
          <p:cNvPr id="21" name="Rounded Rectangle 20"/>
          <p:cNvSpPr/>
          <p:nvPr/>
        </p:nvSpPr>
        <p:spPr>
          <a:xfrm>
            <a:off x="7635240" y="548640"/>
            <a:ext cx="4005072" cy="576072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9134856" y="1280160"/>
            <a:ext cx="1005840" cy="100584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help_w.png"/>
          <p:cNvPicPr>
            <a:picLocks noChangeAspect="1"/>
          </p:cNvPicPr>
          <p:nvPr/>
        </p:nvPicPr>
        <p:blipFill>
          <a:blip r:embed="rId3"/>
          <a:stretch>
            <a:fillRect/>
          </a:stretch>
        </p:blipFill>
        <p:spPr>
          <a:xfrm>
            <a:off x="9376257" y="1521561"/>
            <a:ext cx="523038" cy="523038"/>
          </a:xfrm>
          <a:prstGeom prst="rect">
            <a:avLst/>
          </a:prstGeom>
        </p:spPr>
      </p:pic>
      <p:sp>
        <p:nvSpPr>
          <p:cNvPr id="24" name="TextBox 23"/>
          <p:cNvSpPr txBox="1"/>
          <p:nvPr/>
        </p:nvSpPr>
        <p:spPr>
          <a:xfrm>
            <a:off x="7635240" y="2514600"/>
            <a:ext cx="4005072" cy="914400"/>
          </a:xfrm>
          <a:prstGeom prst="rect">
            <a:avLst/>
          </a:prstGeom>
          <a:noFill/>
        </p:spPr>
        <p:txBody>
          <a:bodyPr wrap="square" lIns="0" rIns="0" tIns="0" bIns="0" anchor="t">
            <a:spAutoFit/>
          </a:bodyPr>
          <a:lstStyle/>
          <a:p>
            <a:pPr algn="ctr">
              <a:lnSpc>
                <a:spcPct val="108000"/>
              </a:lnSpc>
              <a:spcAft>
                <a:spcPts val="400"/>
              </a:spcAft>
            </a:pPr>
            <a:r>
              <a:rPr sz="5400" b="1" i="0">
                <a:solidFill>
                  <a:srgbClr val="FFFFFF"/>
                </a:solidFill>
                <a:latin typeface="Calibri"/>
              </a:rPr>
              <a:t>Q &amp; A</a:t>
            </a:r>
          </a:p>
        </p:txBody>
      </p:sp>
      <p:sp>
        <p:nvSpPr>
          <p:cNvPr id="25" name="TextBox 24"/>
          <p:cNvSpPr txBox="1"/>
          <p:nvPr/>
        </p:nvSpPr>
        <p:spPr>
          <a:xfrm>
            <a:off x="8001000" y="3566160"/>
            <a:ext cx="3273552" cy="731520"/>
          </a:xfrm>
          <a:prstGeom prst="rect">
            <a:avLst/>
          </a:prstGeom>
          <a:noFill/>
        </p:spPr>
        <p:txBody>
          <a:bodyPr wrap="square" lIns="0" rIns="0" tIns="0" bIns="0" anchor="t">
            <a:spAutoFit/>
          </a:bodyPr>
          <a:lstStyle/>
          <a:p>
            <a:pPr algn="ctr">
              <a:lnSpc>
                <a:spcPct val="108000"/>
              </a:lnSpc>
              <a:spcAft>
                <a:spcPts val="400"/>
              </a:spcAft>
            </a:pPr>
            <a:r>
              <a:rPr sz="1600" b="0" i="0">
                <a:solidFill>
                  <a:srgbClr val="CBD5E1"/>
                </a:solidFill>
                <a:latin typeface="Calibri"/>
              </a:rPr>
              <a:t>Cảm ơn thầy và các bạn đã lắng nghe!</a:t>
            </a:r>
          </a:p>
        </p:txBody>
      </p:sp>
      <p:sp>
        <p:nvSpPr>
          <p:cNvPr id="26" name="TextBox 25"/>
          <p:cNvSpPr txBox="1"/>
          <p:nvPr/>
        </p:nvSpPr>
        <p:spPr>
          <a:xfrm>
            <a:off x="8001000" y="4754880"/>
            <a:ext cx="3273552" cy="1280160"/>
          </a:xfrm>
          <a:prstGeom prst="rect">
            <a:avLst/>
          </a:prstGeom>
          <a:noFill/>
        </p:spPr>
        <p:txBody>
          <a:bodyPr wrap="square" lIns="0" rIns="0" tIns="0" bIns="0" anchor="t">
            <a:spAutoFit/>
          </a:bodyPr>
          <a:lstStyle/>
          <a:p>
            <a:pPr algn="ctr">
              <a:lnSpc>
                <a:spcPct val="108000"/>
              </a:lnSpc>
              <a:spcAft>
                <a:spcPts val="300"/>
              </a:spcAft>
            </a:pPr>
            <a:r>
              <a:rPr sz="1300" b="1" i="0">
                <a:solidFill>
                  <a:srgbClr val="5EEAD4"/>
                </a:solidFill>
                <a:latin typeface="Calibri"/>
              </a:rPr>
              <a:t>Nhóm 3 · TTCS_T926_K2S3_N3</a:t>
            </a:r>
          </a:p>
          <a:p>
            <a:pPr algn="ctr">
              <a:lnSpc>
                <a:spcPct val="108000"/>
              </a:lnSpc>
              <a:spcAft>
                <a:spcPts val="300"/>
              </a:spcAft>
            </a:pPr>
            <a:r>
              <a:rPr sz="1300" b="0" i="0">
                <a:solidFill>
                  <a:srgbClr val="94A3B8"/>
                </a:solidFill>
                <a:latin typeface="Calibri"/>
              </a:rPr>
              <a:t>GVHD / PO: ThS. Cấn Tuấn Anh</a:t>
            </a:r>
          </a:p>
          <a:p>
            <a:pPr algn="ctr">
              <a:lnSpc>
                <a:spcPct val="108000"/>
              </a:lnSpc>
              <a:spcAft>
                <a:spcPts val="300"/>
              </a:spcAft>
            </a:pPr>
            <a:r>
              <a:rPr sz="1100" b="0" i="0">
                <a:solidFill>
                  <a:srgbClr val="94A3B8"/>
                </a:solidFill>
                <a:latin typeface="Calibri"/>
              </a:rPr>
              <a:t>github.com/steveprovip/thucTap_HeThongDatLichSPA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Hệ thống Đặt lịch và Quản lý Vận hành Salon - Spa</dc:title>
  <dc:subject/>
  <dc:creator>Nhóm 3 – TTCS_T926_K2S3_N3</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