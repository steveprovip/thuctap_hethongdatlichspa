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226939960"/>
        <c:axId val="2180972856"/>
      </c:barChart>
      <c:catAx>
        <c:axId val="2226939960"/>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80972856"/>
        <c:crosses val="autoZero"/>
        <c:auto val="1"/>
        <c:lblAlgn val="ctr"/>
        <c:lblOffset val="100"/>
        <c:noMultiLvlLbl val="0"/>
      </c:catAx>
      <c:valAx>
        <c:axId val="2180972856"/>
        <c:scaling>
          <c:max val="46.0"/>
        </c:scaling>
        <c:delete/>
        <c:axPos val="b"/>
        <c:majorTickMark val="out"/>
        <c:minorTickMark val="none"/>
        <c:tickLblPos val="nextTo"/>
        <c:crossAx val="2226939960"/>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10 story 42 point; Sprint 4: 10 story 41 point, theo Excel gốc.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4 vai trò nhân sự và phạm vi khách công khai, cùng nguồn quyền cho giao diện và guard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HoYoSalon.bat và bấm BẮT ĐẦU.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 SSE phát sau commit; TypeORM migration có phiên bản và rollback bước lỗi. Nút CẬP NHẬT build bản mới, sao lưu trước migration, healthcheck; lỗi bật lại bản build cũ, giữ migration đã hoàn tất tương thích. Máy vận hành không seed dữ liệu mẫu.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v1.4.0 mọi thao tác vận hành gom về một cửa sổ. Người không biết lập trình chỉ cần nhấp đúp HoYoSalon.bat và bấm BẮT ĐẦU. Khi có phiên bản mới trên GitHub, nút đổi thành CẬP NHẬT. Bảng Thông tin &amp; Chẩn đoán giúp xem log, xuất gói nhật ký và sao chép cấu hình máy để gửi hỗ trợ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góp ý của Mentor được làm trên một nhánh feature/fix/docs riêng, có kiểm thử tự động và hợp nhất vào develop. Điểm nhấn: giữ chỗ 10 phút (10 khách tranh một khung chỉ 1 người giữ được), thợ tự đăng ký ca và quản lý duyệt, cảnh báo khung giờ thiếu thợ, trợ lý xếp lịch và trợ lý sinh ngày lễ bằng âm lịch thiên văn.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16/10/2026: 385 unit test, 155 E2E trong 13 bộ, 4 test Demo đạt. Build và lint sạch. 39 story / 165 point đối chiếu Excel gốc và BACKLOG-MAPPING; test tự động không thay thế biên bản nghiệm thu thủ công của 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đối chiếu 39/39 story với phạm vi đề tài, giải quyết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29.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4.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tầng: React Vite ⇄ API ⇄ Nghiệp vụ ⇄ TypeORM / PostgreSQL</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755648"/>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1847088"/>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1. Trình bày (Cloud/Local)</a:t>
            </a:r>
          </a:p>
        </p:txBody>
      </p:sp>
      <p:sp>
        <p:nvSpPr>
          <p:cNvPr id="7" name="TextBox 6"/>
          <p:cNvSpPr txBox="1"/>
          <p:nvPr/>
        </p:nvSpPr>
        <p:spPr>
          <a:xfrm>
            <a:off x="3108960" y="1828800"/>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React 18 + Vite (Cloudflare Pages CDN)</a:t>
            </a:r>
          </a:p>
        </p:txBody>
      </p:sp>
      <p:sp>
        <p:nvSpPr>
          <p:cNvPr id="8" name="TextBox 7"/>
          <p:cNvSpPr txBox="1"/>
          <p:nvPr/>
        </p:nvSpPr>
        <p:spPr>
          <a:xfrm>
            <a:off x="960120" y="2194560"/>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Trang công khai và quản lý; nhận SSE; triển khai đám mây toàn cầu https://huongsen-salon.pages.dev</a:t>
            </a:r>
          </a:p>
        </p:txBody>
      </p:sp>
      <p:sp>
        <p:nvSpPr>
          <p:cNvPr id="9" name="Rounded Rectangle 8"/>
          <p:cNvSpPr/>
          <p:nvPr/>
        </p:nvSpPr>
        <p:spPr>
          <a:xfrm>
            <a:off x="777240" y="2788920"/>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0120" y="2880360"/>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2. Giao tiếp API</a:t>
            </a:r>
          </a:p>
        </p:txBody>
      </p:sp>
      <p:sp>
        <p:nvSpPr>
          <p:cNvPr id="11" name="TextBox 10"/>
          <p:cNvSpPr txBox="1"/>
          <p:nvPr/>
        </p:nvSpPr>
        <p:spPr>
          <a:xfrm>
            <a:off x="3108960" y="2862072"/>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10 (Render Cloud Service)</a:t>
            </a:r>
          </a:p>
        </p:txBody>
      </p:sp>
      <p:sp>
        <p:nvSpPr>
          <p:cNvPr id="12" name="TextBox 11"/>
          <p:cNvSpPr txBox="1"/>
          <p:nvPr/>
        </p:nvSpPr>
        <p:spPr>
          <a:xfrm>
            <a:off x="960120" y="3227832"/>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REST/JSON, JWT, CORS; triển khai backend 24/7 https://salon-spa-api-93d7.onrender.com</a:t>
            </a:r>
          </a:p>
        </p:txBody>
      </p:sp>
      <p:sp>
        <p:nvSpPr>
          <p:cNvPr id="13" name="Rounded Rectangle 12"/>
          <p:cNvSpPr/>
          <p:nvPr/>
        </p:nvSpPr>
        <p:spPr>
          <a:xfrm>
            <a:off x="777240" y="3822191"/>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 y="3913631"/>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3. Nghiệp vụ &amp; Vận hành</a:t>
            </a:r>
          </a:p>
        </p:txBody>
      </p:sp>
      <p:sp>
        <p:nvSpPr>
          <p:cNvPr id="15" name="TextBox 14"/>
          <p:cNvSpPr txBox="1"/>
          <p:nvPr/>
        </p:nvSpPr>
        <p:spPr>
          <a:xfrm>
            <a:off x="3108960" y="3895343"/>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Service + Cloudflare Worker</a:t>
            </a:r>
          </a:p>
        </p:txBody>
      </p:sp>
      <p:sp>
        <p:nvSpPr>
          <p:cNvPr id="16" name="TextBox 15"/>
          <p:cNvSpPr txBox="1"/>
          <p:nvPr/>
        </p:nvSpPr>
        <p:spPr>
          <a:xfrm>
            <a:off x="960120" y="4261103"/>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Tính khung giờ, ca làm, giữ chỗ; Worker cron 10 phút giữ thức API 24/7</a:t>
            </a:r>
          </a:p>
        </p:txBody>
      </p:sp>
      <p:sp>
        <p:nvSpPr>
          <p:cNvPr id="17" name="Rounded Rectangle 16"/>
          <p:cNvSpPr/>
          <p:nvPr/>
        </p:nvSpPr>
        <p:spPr>
          <a:xfrm>
            <a:off x="777240" y="4855464"/>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4946904"/>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4. Lưu trữ</a:t>
            </a:r>
          </a:p>
        </p:txBody>
      </p:sp>
      <p:sp>
        <p:nvSpPr>
          <p:cNvPr id="19" name="TextBox 18"/>
          <p:cNvSpPr txBox="1"/>
          <p:nvPr/>
        </p:nvSpPr>
        <p:spPr>
          <a:xfrm>
            <a:off x="3108960" y="4928616"/>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TypeORM + Supabase PostgreSQL 17</a:t>
            </a:r>
          </a:p>
        </p:txBody>
      </p:sp>
      <p:sp>
        <p:nvSpPr>
          <p:cNvPr id="20" name="TextBox 19"/>
          <p:cNvSpPr txBox="1"/>
          <p:nvPr/>
        </p:nvSpPr>
        <p:spPr>
          <a:xfrm>
            <a:off x="960120" y="5294376"/>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Migration 32 bảng, Session Pooler cổng 5432, sao lưu tự động pg_dump</a:t>
            </a:r>
          </a:p>
        </p:txBody>
      </p:sp>
      <p:sp>
        <p:nvSpPr>
          <p:cNvPr id="21" name="TextBox 20"/>
          <p:cNvSpPr txBox="1"/>
          <p:nvPr/>
        </p:nvSpPr>
        <p:spPr>
          <a:xfrm>
            <a:off x="960120" y="5897880"/>
            <a:ext cx="6400800" cy="274320"/>
          </a:xfrm>
          <a:prstGeom prst="rect">
            <a:avLst/>
          </a:prstGeom>
          <a:noFill/>
        </p:spPr>
        <p:txBody>
          <a:bodyPr wrap="square" lIns="0" rIns="0" tIns="0" bIns="0" anchor="t">
            <a:spAutoFit/>
          </a:bodyPr>
          <a:lstStyle/>
          <a:p>
            <a:pPr algn="l">
              <a:lnSpc>
                <a:spcPct val="108000"/>
              </a:lnSpc>
              <a:spcAft>
                <a:spcPts val="400"/>
              </a:spcAft>
            </a:pPr>
            <a:r>
              <a:rPr sz="1300" b="0" i="0">
                <a:solidFill>
                  <a:srgbClr val="0F766E"/>
                </a:solidFill>
                <a:latin typeface="Calibri"/>
              </a:rPr>
              <a:t>SSE sau commit · Migration có phiên bản · cập nhật một chạm</a:t>
            </a:r>
          </a:p>
        </p:txBody>
      </p:sp>
      <p:sp>
        <p:nvSpPr>
          <p:cNvPr id="22" name="Oval 21"/>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w.png"/>
          <p:cNvPicPr>
            <a:picLocks noChangeAspect="1"/>
          </p:cNvPicPr>
          <p:nvPr/>
        </p:nvPicPr>
        <p:blipFill>
          <a:blip r:embed="rId2"/>
          <a:stretch>
            <a:fillRect/>
          </a:stretch>
        </p:blipFill>
        <p:spPr>
          <a:xfrm>
            <a:off x="8215335" y="1723095"/>
            <a:ext cx="266274" cy="266274"/>
          </a:xfrm>
          <a:prstGeom prst="rect">
            <a:avLst/>
          </a:prstGeom>
        </p:spPr>
      </p:pic>
      <p:sp>
        <p:nvSpPr>
          <p:cNvPr id="24" name="TextBox 23"/>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25" name="TextBox 24"/>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API và nghiệp vụ NestJS 10; TypeORM Migration; Swagger /api/docs</a:t>
            </a:r>
          </a:p>
        </p:txBody>
      </p:sp>
      <p:sp>
        <p:nvSpPr>
          <p:cNvPr id="26" name="Oval 25"/>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_w.png"/>
          <p:cNvPicPr>
            <a:picLocks noChangeAspect="1"/>
          </p:cNvPicPr>
          <p:nvPr/>
        </p:nvPicPr>
        <p:blipFill>
          <a:blip r:embed="rId3"/>
          <a:stretch>
            <a:fillRect/>
          </a:stretch>
        </p:blipFill>
        <p:spPr>
          <a:xfrm>
            <a:off x="8215335" y="2884383"/>
            <a:ext cx="266274" cy="266274"/>
          </a:xfrm>
          <a:prstGeom prst="rect">
            <a:avLst/>
          </a:prstGeom>
        </p:spPr>
      </p:pic>
      <p:sp>
        <p:nvSpPr>
          <p:cNvPr id="28" name="TextBox 27"/>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29" name="TextBox 28"/>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4 vai trò nhân sự; khách dùng API công khai</a:t>
            </a:r>
          </a:p>
        </p:txBody>
      </p:sp>
      <p:sp>
        <p:nvSpPr>
          <p:cNvPr id="30" name="Oval 29"/>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rver_w.png"/>
          <p:cNvPicPr>
            <a:picLocks noChangeAspect="1"/>
          </p:cNvPicPr>
          <p:nvPr/>
        </p:nvPicPr>
        <p:blipFill>
          <a:blip r:embed="rId4"/>
          <a:stretch>
            <a:fillRect/>
          </a:stretch>
        </p:blipFill>
        <p:spPr>
          <a:xfrm>
            <a:off x="8215335" y="4045671"/>
            <a:ext cx="266274" cy="266274"/>
          </a:xfrm>
          <a:prstGeom prst="rect">
            <a:avLst/>
          </a:prstGeom>
        </p:spPr>
      </p:pic>
      <p:sp>
        <p:nvSpPr>
          <p:cNvPr id="32" name="TextBox 31"/>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33" name="TextBox 32"/>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34" name="Oval 33"/>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alendar_w.png"/>
          <p:cNvPicPr>
            <a:picLocks noChangeAspect="1"/>
          </p:cNvPicPr>
          <p:nvPr/>
        </p:nvPicPr>
        <p:blipFill>
          <a:blip r:embed="rId5"/>
          <a:stretch>
            <a:fillRect/>
          </a:stretch>
        </p:blipFill>
        <p:spPr>
          <a:xfrm>
            <a:off x="8215335" y="5206959"/>
            <a:ext cx="266274" cy="266274"/>
          </a:xfrm>
          <a:prstGeom prst="rect">
            <a:avLst/>
          </a:prstGeom>
        </p:spPr>
      </p:pic>
      <p:sp>
        <p:nvSpPr>
          <p:cNvPr id="36" name="TextBox 35"/>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37" name="TextBox 36"/>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38" name="TextBox 3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9" name="TextBox 3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4</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Sprint</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41 pt</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4 vai trò nhân sự + khách</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SSE · TypeORM Migration · cập nhật một chạm</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Migration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Lược đồ có phiên bản; seed chỉ ở máy phát triển / QA</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SSE</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phát sự kiện sau commit, giao diện tải lại dữ liệu</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Migration</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khoá nâng cấp; rollback bước lỗi; synchronize: false</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1-Click Update</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build mới → sao lưu → migration → healthcheck</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Máy vận hành: </a:t>
            </a:r>
            <a:r>
              <a:rPr sz="1350" b="0">
                <a:solidFill>
                  <a:srgbClr val="0F172A"/>
                </a:solidFill>
                <a:latin typeface="Calibri"/>
              </a:rPr>
              <a:t>HoYoSalon.bat → chế độ Máy chủ cửa hàng → BẮT ĐẦU / CẬP NHẬT; giữ dữ liệu khách, không nạp seed mẫu.</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VẬN HÀNH 1 CÚ NHẤP (V1.4.0)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HoYoSalon Launcher: BẮT ĐẦU · CẬP NHẬT · Chẩn đoán</a:t>
            </a:r>
          </a:p>
        </p:txBody>
      </p:sp>
      <p:pic>
        <p:nvPicPr>
          <p:cNvPr id="4" name="Picture 3" descr="22_launcher.jpg"/>
          <p:cNvPicPr>
            <a:picLocks noChangeAspect="1"/>
          </p:cNvPicPr>
          <p:nvPr/>
        </p:nvPicPr>
        <p:blipFill>
          <a:blip r:embed="rId2"/>
          <a:srcRect b="277"/>
          <a:stretch>
            <a:fillRect/>
          </a:stretch>
        </p:blipFill>
        <p:spPr>
          <a:xfrm>
            <a:off x="548640" y="1463040"/>
            <a:ext cx="6949440" cy="41148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7772400" y="1508760"/>
            <a:ext cx="3870655" cy="4206240"/>
          </a:xfrm>
          <a:prstGeom prst="rect">
            <a:avLst/>
          </a:prstGeom>
          <a:noFill/>
        </p:spPr>
        <p:txBody>
          <a:bodyPr wrap="square" lIns="0" rIns="0" tIns="0" bIns="0">
            <a:spAutoFit/>
          </a:bodyPr>
          <a:lstStyle/>
          <a:p>
            <a:pPr marL="256032" indent="-256032">
              <a:lnSpc>
                <a:spcPct val="105000"/>
              </a:lnSpc>
              <a:spcAft>
                <a:spcPts val="700"/>
              </a:spcAft>
              <a:buClr>
                <a:srgbClr val="0D9488"/>
              </a:buClr>
              <a:buFont typeface="Arial"/>
              <a:buChar char="•"/>
            </a:pPr>
            <a:r>
              <a:rPr sz="1350" b="1">
                <a:solidFill>
                  <a:srgbClr val="0F172A"/>
                </a:solidFill>
                <a:latin typeface="Calibri"/>
              </a:rPr>
              <a:t>BẮT ĐẦU: </a:t>
            </a:r>
            <a:r>
              <a:rPr sz="1350" b="0">
                <a:solidFill>
                  <a:srgbClr val="0F172A"/>
                </a:solidFill>
                <a:latin typeface="Calibri"/>
              </a:rPr>
              <a:t>Docker → CSDL → gói npm → API + giao diện, thanh % theo từng bước, tự mở ứng dụng.</a:t>
            </a:r>
          </a:p>
          <a:p>
            <a:pPr marL="256032" indent="-256032">
              <a:lnSpc>
                <a:spcPct val="105000"/>
              </a:lnSpc>
              <a:spcAft>
                <a:spcPts val="700"/>
              </a:spcAft>
              <a:buClr>
                <a:srgbClr val="0D9488"/>
              </a:buClr>
              <a:buFont typeface="Arial"/>
              <a:buChar char="•"/>
            </a:pPr>
            <a:r>
              <a:rPr sz="1350" b="1">
                <a:solidFill>
                  <a:srgbClr val="0F172A"/>
                </a:solidFill>
                <a:latin typeface="Calibri"/>
              </a:rPr>
              <a:t>CẬP NHẬT vX.Y.Z: </a:t>
            </a:r>
            <a:r>
              <a:rPr sz="1350" b="0">
                <a:solidFill>
                  <a:srgbClr val="0F172A"/>
                </a:solidFill>
                <a:latin typeface="Calibri"/>
              </a:rPr>
              <a:t>thấy thẻ mới trên GitHub là đổi nút; sao lưu CSDL trước migration, lỗi tự quay về bản cũ.</a:t>
            </a:r>
          </a:p>
          <a:p>
            <a:pPr marL="256032" indent="-256032">
              <a:lnSpc>
                <a:spcPct val="105000"/>
              </a:lnSpc>
              <a:spcAft>
                <a:spcPts val="700"/>
              </a:spcAft>
              <a:buClr>
                <a:srgbClr val="0D9488"/>
              </a:buClr>
              <a:buFont typeface="Arial"/>
              <a:buChar char="•"/>
            </a:pPr>
            <a:r>
              <a:rPr sz="1350" b="1">
                <a:solidFill>
                  <a:srgbClr val="0F172A"/>
                </a:solidFill>
                <a:latin typeface="Calibri"/>
              </a:rPr>
              <a:t>Chẩn đoán: </a:t>
            </a:r>
            <a:r>
              <a:rPr sz="1350" b="0">
                <a:solidFill>
                  <a:srgbClr val="0F172A"/>
                </a:solidFill>
                <a:latin typeface="Calibri"/>
              </a:rPr>
              <a:t>log Client / Server / CSDL trực tiếp, xuất system_logs.zip (đã ẩn mật khẩu), sao chép thông tin thiết bị.</a:t>
            </a:r>
          </a:p>
          <a:p>
            <a:pPr marL="256032" indent="-256032">
              <a:lnSpc>
                <a:spcPct val="105000"/>
              </a:lnSpc>
              <a:spcAft>
                <a:spcPts val="700"/>
              </a:spcAft>
              <a:buClr>
                <a:srgbClr val="0D9488"/>
              </a:buClr>
              <a:buFont typeface="Arial"/>
              <a:buChar char="•"/>
            </a:pPr>
            <a:r>
              <a:rPr sz="1350" b="1">
                <a:solidFill>
                  <a:srgbClr val="0F172A"/>
                </a:solidFill>
                <a:latin typeface="Calibri"/>
              </a:rPr>
              <a:t>An toàn: </a:t>
            </a:r>
            <a:r>
              <a:rPr sz="1350" b="0">
                <a:solidFill>
                  <a:srgbClr val="0F172A"/>
                </a:solidFill>
                <a:latin typeface="Calibri"/>
              </a:rPr>
              <a:t>chỉ nghe 127.0.0.1, mã phiên ngẫu nhiên; đóng Launcher không tắt hệ thống.</a:t>
            </a:r>
          </a:p>
          <a:p>
            <a:pPr marL="256032" indent="-256032">
              <a:lnSpc>
                <a:spcPct val="105000"/>
              </a:lnSpc>
              <a:spcAft>
                <a:spcPts val="700"/>
              </a:spcAft>
              <a:buClr>
                <a:srgbClr val="0D9488"/>
              </a:buClr>
              <a:buFont typeface="Arial"/>
              <a:buChar char="•"/>
            </a:pPr>
            <a:r>
              <a:rPr sz="1350" b="1">
                <a:solidFill>
                  <a:srgbClr val="0F172A"/>
                </a:solidFill>
                <a:latin typeface="Calibri"/>
              </a:rPr>
              <a:t>Monorepo gọn: </a:t>
            </a:r>
            <a:r>
              <a:rPr sz="1350" b="0">
                <a:solidFill>
                  <a:srgbClr val="0F172A"/>
                </a:solidFill>
                <a:latin typeface="Calibri"/>
              </a:rPr>
              <a:t>deploy/, docs/{reports,presentations,…}, scripts/{hoyo,lib,windows,unix}.</a:t>
            </a:r>
          </a:p>
        </p:txBody>
      </p:sp>
      <p:sp>
        <p:nvSpPr>
          <p:cNvPr id="6" name="TextBox 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7" name="TextBox 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PHẢN HỒI MENTOR SPRINT 2 · 06/10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11 góp ý → 11 nhánh → v1.4.0, có kiểm thử từng mục</a:t>
            </a:r>
          </a:p>
        </p:txBody>
      </p:sp>
      <p:sp>
        <p:nvSpPr>
          <p:cNvPr id="4" name="Rounded Rectangle 3"/>
          <p:cNvSpPr/>
          <p:nvPr/>
        </p:nvSpPr>
        <p:spPr>
          <a:xfrm>
            <a:off x="54864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a:t>
            </a:r>
          </a:p>
        </p:txBody>
      </p:sp>
      <p:sp>
        <p:nvSpPr>
          <p:cNvPr id="6" name="TextBox 5"/>
          <p:cNvSpPr txBox="1"/>
          <p:nvPr/>
        </p:nvSpPr>
        <p:spPr>
          <a:xfrm>
            <a:off x="117043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Phân chia lại nhánh GitHub</a:t>
            </a:r>
          </a:p>
        </p:txBody>
      </p:sp>
      <p:sp>
        <p:nvSpPr>
          <p:cNvPr id="7" name="TextBox 6"/>
          <p:cNvSpPr txBox="1"/>
          <p:nvPr/>
        </p:nvSpPr>
        <p:spPr>
          <a:xfrm>
            <a:off x="117043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main (Production) · develop (Staging) · feature/… · fix/… · docs/…; nhánh cũ lưu thành thẻ archive/…</a:t>
            </a:r>
          </a:p>
        </p:txBody>
      </p:sp>
      <p:sp>
        <p:nvSpPr>
          <p:cNvPr id="8" name="Rounded Rectangle 7"/>
          <p:cNvSpPr/>
          <p:nvPr/>
        </p:nvSpPr>
        <p:spPr>
          <a:xfrm>
            <a:off x="431993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452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2</a:t>
            </a:r>
          </a:p>
        </p:txBody>
      </p:sp>
      <p:sp>
        <p:nvSpPr>
          <p:cNvPr id="10" name="TextBox 9"/>
          <p:cNvSpPr txBox="1"/>
          <p:nvPr/>
        </p:nvSpPr>
        <p:spPr>
          <a:xfrm>
            <a:off x="494172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Bảng ca làm rối mắt</a:t>
            </a:r>
          </a:p>
        </p:txBody>
      </p:sp>
      <p:sp>
        <p:nvSpPr>
          <p:cNvPr id="11" name="TextBox 10"/>
          <p:cNvSpPr txBox="1"/>
          <p:nvPr/>
        </p:nvSpPr>
        <p:spPr>
          <a:xfrm>
            <a:off x="494172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thợ × ngày, ca tô màu theo buổi, nút ẩn tới khi rê chuột, đếm thợ trực</a:t>
            </a:r>
          </a:p>
        </p:txBody>
      </p:sp>
      <p:sp>
        <p:nvSpPr>
          <p:cNvPr id="12" name="Rounded Rectangle 11"/>
          <p:cNvSpPr/>
          <p:nvPr/>
        </p:nvSpPr>
        <p:spPr>
          <a:xfrm>
            <a:off x="809122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5581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3</a:t>
            </a:r>
          </a:p>
        </p:txBody>
      </p:sp>
      <p:sp>
        <p:nvSpPr>
          <p:cNvPr id="14" name="TextBox 13"/>
          <p:cNvSpPr txBox="1"/>
          <p:nvPr/>
        </p:nvSpPr>
        <p:spPr>
          <a:xfrm>
            <a:off x="871301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Chọn giờ 24 giờ</a:t>
            </a:r>
          </a:p>
        </p:txBody>
      </p:sp>
      <p:sp>
        <p:nvSpPr>
          <p:cNvPr id="15" name="TextBox 14"/>
          <p:cNvSpPr txBox="1"/>
          <p:nvPr/>
        </p:nvSpPr>
        <p:spPr>
          <a:xfrm>
            <a:off x="871301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TimeSelect24: 00:00 → 23:45, bước 15 phút, không phụ thuộc SA/CH</a:t>
            </a:r>
          </a:p>
        </p:txBody>
      </p:sp>
      <p:sp>
        <p:nvSpPr>
          <p:cNvPr id="16" name="Rounded Rectangle 15"/>
          <p:cNvSpPr/>
          <p:nvPr/>
        </p:nvSpPr>
        <p:spPr>
          <a:xfrm>
            <a:off x="54864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323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4</a:t>
            </a:r>
          </a:p>
        </p:txBody>
      </p:sp>
      <p:sp>
        <p:nvSpPr>
          <p:cNvPr id="18" name="TextBox 17"/>
          <p:cNvSpPr txBox="1"/>
          <p:nvPr/>
        </p:nvSpPr>
        <p:spPr>
          <a:xfrm>
            <a:off x="117043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phân tích khung giờ đặt lịch</a:t>
            </a:r>
          </a:p>
        </p:txBody>
      </p:sp>
      <p:sp>
        <p:nvSpPr>
          <p:cNvPr id="19" name="TextBox 18"/>
          <p:cNvSpPr txBox="1"/>
          <p:nvPr/>
        </p:nvSpPr>
        <p:spPr>
          <a:xfrm>
            <a:off x="117043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Trợ lý xếp lịch chấm điểm sớm · vừa khít · cân bằng thợ, có lý do, 1 cú nhấp điền sẵn</a:t>
            </a:r>
          </a:p>
        </p:txBody>
      </p:sp>
      <p:sp>
        <p:nvSpPr>
          <p:cNvPr id="20" name="Rounded Rectangle 19"/>
          <p:cNvSpPr/>
          <p:nvPr/>
        </p:nvSpPr>
        <p:spPr>
          <a:xfrm>
            <a:off x="431993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8452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5</a:t>
            </a:r>
          </a:p>
        </p:txBody>
      </p:sp>
      <p:sp>
        <p:nvSpPr>
          <p:cNvPr id="22" name="TextBox 21"/>
          <p:cNvSpPr txBox="1"/>
          <p:nvPr/>
        </p:nvSpPr>
        <p:spPr>
          <a:xfrm>
            <a:off x="494172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sinh ngày lễ cả năm</a:t>
            </a:r>
          </a:p>
        </p:txBody>
      </p:sp>
      <p:sp>
        <p:nvSpPr>
          <p:cNvPr id="23" name="TextBox 22"/>
          <p:cNvSpPr txBox="1"/>
          <p:nvPr/>
        </p:nvSpPr>
        <p:spPr>
          <a:xfrm>
            <a:off x="494172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Âm lịch thiên văn + Bộ luật Lao động; không chèn lên lịch khách</a:t>
            </a:r>
          </a:p>
        </p:txBody>
      </p:sp>
      <p:sp>
        <p:nvSpPr>
          <p:cNvPr id="24" name="Rounded Rectangle 23"/>
          <p:cNvSpPr/>
          <p:nvPr/>
        </p:nvSpPr>
        <p:spPr>
          <a:xfrm>
            <a:off x="809122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5581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6</a:t>
            </a:r>
          </a:p>
        </p:txBody>
      </p:sp>
      <p:sp>
        <p:nvSpPr>
          <p:cNvPr id="26" name="TextBox 25"/>
          <p:cNvSpPr txBox="1"/>
          <p:nvPr/>
        </p:nvSpPr>
        <p:spPr>
          <a:xfrm>
            <a:off x="871301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Thợ tự đăng ký lịch, quản lý duyệt</a:t>
            </a:r>
          </a:p>
        </p:txBody>
      </p:sp>
      <p:sp>
        <p:nvSpPr>
          <p:cNvPr id="27" name="TextBox 26"/>
          <p:cNvSpPr txBox="1"/>
          <p:nvPr/>
        </p:nvSpPr>
        <p:spPr>
          <a:xfrm>
            <a:off x="871301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Đăng ký cả tuần; duyệt / sửa giờ / từ chối / duyệt tất cả</a:t>
            </a:r>
          </a:p>
        </p:txBody>
      </p:sp>
      <p:sp>
        <p:nvSpPr>
          <p:cNvPr id="28" name="Rounded Rectangle 27"/>
          <p:cNvSpPr/>
          <p:nvPr/>
        </p:nvSpPr>
        <p:spPr>
          <a:xfrm>
            <a:off x="54864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7</a:t>
            </a:r>
          </a:p>
        </p:txBody>
      </p:sp>
      <p:sp>
        <p:nvSpPr>
          <p:cNvPr id="30" name="TextBox 29"/>
          <p:cNvSpPr txBox="1"/>
          <p:nvPr/>
        </p:nvSpPr>
        <p:spPr>
          <a:xfrm>
            <a:off x="117043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Chân trang đủ thông tin</a:t>
            </a:r>
          </a:p>
        </p:txBody>
      </p:sp>
      <p:sp>
        <p:nvSpPr>
          <p:cNvPr id="31" name="TextBox 30"/>
          <p:cNvSpPr txBox="1"/>
          <p:nvPr/>
        </p:nvSpPr>
        <p:spPr>
          <a:xfrm>
            <a:off x="117043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Nền tối; Facebook, Zalo, chỉ đường, hotline, email, giờ mở cửa, đội ngũ chuyên viên</a:t>
            </a:r>
          </a:p>
        </p:txBody>
      </p:sp>
      <p:sp>
        <p:nvSpPr>
          <p:cNvPr id="32" name="Rounded Rectangle 31"/>
          <p:cNvSpPr/>
          <p:nvPr/>
        </p:nvSpPr>
        <p:spPr>
          <a:xfrm>
            <a:off x="431993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8452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8</a:t>
            </a:r>
          </a:p>
        </p:txBody>
      </p:sp>
      <p:sp>
        <p:nvSpPr>
          <p:cNvPr id="34" name="TextBox 33"/>
          <p:cNvSpPr txBox="1"/>
          <p:nvPr/>
        </p:nvSpPr>
        <p:spPr>
          <a:xfrm>
            <a:off x="494172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Hiển thị dày hơn</a:t>
            </a:r>
          </a:p>
        </p:txBody>
      </p:sp>
      <p:sp>
        <p:nvSpPr>
          <p:cNvPr id="35" name="TextBox 34"/>
          <p:cNvSpPr txBox="1"/>
          <p:nvPr/>
        </p:nvSpPr>
        <p:spPr>
          <a:xfrm>
            <a:off x="494172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4 cột liền mạch, 2 hàng + Xem thêm, khung rộng 7xl</a:t>
            </a:r>
          </a:p>
        </p:txBody>
      </p:sp>
      <p:sp>
        <p:nvSpPr>
          <p:cNvPr id="36" name="Rounded Rectangle 35"/>
          <p:cNvSpPr/>
          <p:nvPr/>
        </p:nvSpPr>
        <p:spPr>
          <a:xfrm>
            <a:off x="809122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5581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9</a:t>
            </a:r>
          </a:p>
        </p:txBody>
      </p:sp>
      <p:sp>
        <p:nvSpPr>
          <p:cNvPr id="38" name="TextBox 37"/>
          <p:cNvSpPr txBox="1"/>
          <p:nvPr/>
        </p:nvSpPr>
        <p:spPr>
          <a:xfrm>
            <a:off x="871301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Khung giờ nào cũng có thợ</a:t>
            </a:r>
          </a:p>
        </p:txBody>
      </p:sp>
      <p:sp>
        <p:nvSpPr>
          <p:cNvPr id="39" name="TextBox 38"/>
          <p:cNvSpPr txBox="1"/>
          <p:nvPr/>
        </p:nvSpPr>
        <p:spPr>
          <a:xfrm>
            <a:off x="871301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Cảnh báo khoảng trống + gợi ý thợ ít giờ làm, xếp 1 cú nhấp</a:t>
            </a:r>
          </a:p>
        </p:txBody>
      </p:sp>
      <p:sp>
        <p:nvSpPr>
          <p:cNvPr id="40" name="Rounded Rectangle 39"/>
          <p:cNvSpPr/>
          <p:nvPr/>
        </p:nvSpPr>
        <p:spPr>
          <a:xfrm>
            <a:off x="54864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1323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10</a:t>
            </a:r>
          </a:p>
        </p:txBody>
      </p:sp>
      <p:sp>
        <p:nvSpPr>
          <p:cNvPr id="42" name="TextBox 41"/>
          <p:cNvSpPr txBox="1"/>
          <p:nvPr/>
        </p:nvSpPr>
        <p:spPr>
          <a:xfrm>
            <a:off x="117043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Email đặt lịch thành công</a:t>
            </a:r>
          </a:p>
        </p:txBody>
      </p:sp>
      <p:sp>
        <p:nvSpPr>
          <p:cNvPr id="43" name="TextBox 42"/>
          <p:cNvSpPr txBox="1"/>
          <p:nvPr/>
        </p:nvSpPr>
        <p:spPr>
          <a:xfrm>
            <a:off x="117043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Email đầy đủ, gửi ngay; gửi bổ sung từ màn hình thành công</a:t>
            </a:r>
          </a:p>
        </p:txBody>
      </p:sp>
      <p:sp>
        <p:nvSpPr>
          <p:cNvPr id="44" name="Rounded Rectangle 43"/>
          <p:cNvSpPr/>
          <p:nvPr/>
        </p:nvSpPr>
        <p:spPr>
          <a:xfrm>
            <a:off x="431993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8452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11</a:t>
            </a:r>
          </a:p>
        </p:txBody>
      </p:sp>
      <p:sp>
        <p:nvSpPr>
          <p:cNvPr id="46" name="TextBox 45"/>
          <p:cNvSpPr txBox="1"/>
          <p:nvPr/>
        </p:nvSpPr>
        <p:spPr>
          <a:xfrm>
            <a:off x="494172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Giữ chỗ 10–15 phút</a:t>
            </a:r>
          </a:p>
        </p:txBody>
      </p:sp>
      <p:sp>
        <p:nvSpPr>
          <p:cNvPr id="47" name="TextBox 46"/>
          <p:cNvSpPr txBox="1"/>
          <p:nvPr/>
        </p:nvSpPr>
        <p:spPr>
          <a:xfrm>
            <a:off x="494172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Khoá khung giờ khi khách điền form; đếm ngược; 10 khách tranh 1 khung → 1</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13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385/385</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11 bộ + Launcher 4/4</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155/155</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13 bộ PostgreSQL · Demo 4/4</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đối chiếu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4 Sprint · 165 Story Point</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Fresha Luxury</a:t>
            </a:r>
          </a:p>
        </p:txBody>
      </p:sp>
      <p:sp>
        <p:nvSpPr>
          <p:cNvPr id="26" name="Oval 25"/>
          <p:cNvSpPr/>
          <p:nvPr/>
        </p:nvSpPr>
        <p:spPr>
          <a:xfrm>
            <a:off x="296869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9086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02/10</a:t>
            </a:r>
          </a:p>
        </p:txBody>
      </p:sp>
      <p:sp>
        <p:nvSpPr>
          <p:cNvPr id="28" name="TextBox 27"/>
          <p:cNvSpPr txBox="1"/>
          <p:nvPr/>
        </p:nvSpPr>
        <p:spPr>
          <a:xfrm>
            <a:off x="209086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v1.3.0</a:t>
            </a:r>
          </a:p>
        </p:txBody>
      </p:sp>
      <p:sp>
        <p:nvSpPr>
          <p:cNvPr id="29" name="TextBox 28"/>
          <p:cNvSpPr txBox="1"/>
          <p:nvPr/>
        </p:nvSpPr>
        <p:spPr>
          <a:xfrm>
            <a:off x="209086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23 lỗi QA</a:t>
            </a:r>
          </a:p>
        </p:txBody>
      </p:sp>
      <p:sp>
        <p:nvSpPr>
          <p:cNvPr id="30" name="Oval 29"/>
          <p:cNvSpPr/>
          <p:nvPr/>
        </p:nvSpPr>
        <p:spPr>
          <a:xfrm>
            <a:off x="4968118"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0294"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06/10</a:t>
            </a:r>
          </a:p>
        </p:txBody>
      </p:sp>
      <p:sp>
        <p:nvSpPr>
          <p:cNvPr id="32" name="TextBox 31"/>
          <p:cNvSpPr txBox="1"/>
          <p:nvPr/>
        </p:nvSpPr>
        <p:spPr>
          <a:xfrm>
            <a:off x="4090294"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v1.4.0</a:t>
            </a:r>
          </a:p>
        </p:txBody>
      </p:sp>
      <p:sp>
        <p:nvSpPr>
          <p:cNvPr id="33" name="TextBox 32"/>
          <p:cNvSpPr txBox="1"/>
          <p:nvPr/>
        </p:nvSpPr>
        <p:spPr>
          <a:xfrm>
            <a:off x="4090294"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 góp ý Mentor</a:t>
            </a:r>
          </a:p>
        </p:txBody>
      </p:sp>
      <p:sp>
        <p:nvSpPr>
          <p:cNvPr id="34" name="Oval 33"/>
          <p:cNvSpPr/>
          <p:nvPr/>
        </p:nvSpPr>
        <p:spPr>
          <a:xfrm>
            <a:off x="696754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8972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11/10</a:t>
            </a:r>
          </a:p>
        </p:txBody>
      </p:sp>
      <p:sp>
        <p:nvSpPr>
          <p:cNvPr id="36" name="TextBox 35"/>
          <p:cNvSpPr txBox="1"/>
          <p:nvPr/>
        </p:nvSpPr>
        <p:spPr>
          <a:xfrm>
            <a:off x="608972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v2.0.0</a:t>
            </a:r>
          </a:p>
        </p:txBody>
      </p:sp>
      <p:sp>
        <p:nvSpPr>
          <p:cNvPr id="37" name="TextBox 36"/>
          <p:cNvSpPr txBox="1"/>
          <p:nvPr/>
        </p:nvSpPr>
        <p:spPr>
          <a:xfrm>
            <a:off x="608972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AI Local</a:t>
            </a:r>
          </a:p>
        </p:txBody>
      </p:sp>
      <p:sp>
        <p:nvSpPr>
          <p:cNvPr id="38" name="Oval 37"/>
          <p:cNvSpPr/>
          <p:nvPr/>
        </p:nvSpPr>
        <p:spPr>
          <a:xfrm>
            <a:off x="8966972"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89148"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15/10</a:t>
            </a:r>
          </a:p>
        </p:txBody>
      </p:sp>
      <p:sp>
        <p:nvSpPr>
          <p:cNvPr id="40" name="TextBox 39"/>
          <p:cNvSpPr txBox="1"/>
          <p:nvPr/>
        </p:nvSpPr>
        <p:spPr>
          <a:xfrm>
            <a:off x="8089148"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v2.2.1</a:t>
            </a:r>
          </a:p>
        </p:txBody>
      </p:sp>
      <p:sp>
        <p:nvSpPr>
          <p:cNvPr id="41" name="TextBox 40"/>
          <p:cNvSpPr txBox="1"/>
          <p:nvPr/>
        </p:nvSpPr>
        <p:spPr>
          <a:xfrm>
            <a:off x="8089148"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Cloud 24/7</a:t>
            </a:r>
          </a:p>
        </p:txBody>
      </p:sp>
      <p:sp>
        <p:nvSpPr>
          <p:cNvPr id="42" name="Oval 41"/>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16/10</a:t>
            </a:r>
          </a:p>
        </p:txBody>
      </p:sp>
      <p:sp>
        <p:nvSpPr>
          <p:cNvPr id="44" name="TextBox 43"/>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v3.0.0</a:t>
            </a:r>
          </a:p>
        </p:txBody>
      </p:sp>
      <p:sp>
        <p:nvSpPr>
          <p:cNvPr id="45" name="TextBox 44"/>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Lotus Ivory $10k</a:t>
            </a:r>
          </a:p>
        </p:txBody>
      </p:sp>
      <p:sp>
        <p:nvSpPr>
          <p:cNvPr id="46" name="Rounded Rectangle 45"/>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heck_w.png"/>
          <p:cNvPicPr>
            <a:picLocks noChangeAspect="1"/>
          </p:cNvPicPr>
          <p:nvPr/>
        </p:nvPicPr>
        <p:blipFill>
          <a:blip r:embed="rId2"/>
          <a:stretch>
            <a:fillRect/>
          </a:stretch>
        </p:blipFill>
        <p:spPr>
          <a:xfrm>
            <a:off x="831738" y="5796930"/>
            <a:ext cx="256764" cy="256764"/>
          </a:xfrm>
          <a:prstGeom prst="rect">
            <a:avLst/>
          </a:prstGeom>
        </p:spPr>
      </p:pic>
      <p:sp>
        <p:nvSpPr>
          <p:cNvPr id="49" name="TextBox 48"/>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14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963.000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14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Đối chiếu đủ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4 vai trò nhân sự + khách</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